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4480560"/>
            <a:ext cx="9144000" cy="667512"/>
          </a:xfrm>
          <a:prstGeom prst="rect">
            <a:avLst/>
          </a:prstGeom>
          <a:solidFill>
            <a:srgbClr val="16241C"/>
          </a:solidFill>
          <a:ln w="12700">
            <a:solidFill>
              <a:srgbClr val="16241C"/>
            </a:solidFill>
            <a:prstDash val="solid"/>
          </a:ln>
        </p:spPr>
      </p:sp>
      <p:sp>
        <p:nvSpPr>
          <p:cNvPr id="4" name="Text 2"/>
          <p:cNvSpPr/>
          <p:nvPr/>
        </p:nvSpPr>
        <p:spPr>
          <a:xfrm>
            <a:off x="502920" y="1371600"/>
            <a:ext cx="8138160" cy="640080"/>
          </a:xfrm>
          <a:prstGeom prst="rect">
            <a:avLst/>
          </a:prstGeom>
          <a:noFill/>
          <a:ln/>
        </p:spPr>
        <p:txBody>
          <a:bodyPr wrap="square" rtlCol="0" anchor="ctr"/>
          <a:lstStyle/>
          <a:p>
            <a:pPr indent="0" marL="0">
              <a:buNone/>
            </a:pPr>
            <a:r>
              <a:rPr lang="en-US" sz="4000" spc="300" kern="0" dirty="0">
                <a:solidFill>
                  <a:srgbClr val="EDE6DA"/>
                </a:solidFill>
                <a:latin typeface="Century Gothic" pitchFamily="34" charset="0"/>
                <a:ea typeface="Century Gothic" pitchFamily="34" charset="-122"/>
                <a:cs typeface="Century Gothic" pitchFamily="34" charset="-120"/>
              </a:rPr>
              <a:t>L&amp;K WELLNESS</a:t>
            </a:r>
            <a:endParaRPr lang="en-US" sz="4000" dirty="0"/>
          </a:p>
        </p:txBody>
      </p:sp>
      <p:sp>
        <p:nvSpPr>
          <p:cNvPr id="5" name="Shape 3"/>
          <p:cNvSpPr/>
          <p:nvPr/>
        </p:nvSpPr>
        <p:spPr>
          <a:xfrm>
            <a:off x="502920" y="2121408"/>
            <a:ext cx="822960" cy="41148"/>
          </a:xfrm>
          <a:prstGeom prst="rect">
            <a:avLst/>
          </a:prstGeom>
          <a:solidFill>
            <a:srgbClr val="C08D7C"/>
          </a:solidFill>
          <a:ln w="12700">
            <a:solidFill>
              <a:srgbClr val="C08D7C"/>
            </a:solidFill>
            <a:prstDash val="solid"/>
          </a:ln>
        </p:spPr>
      </p:sp>
      <p:sp>
        <p:nvSpPr>
          <p:cNvPr id="6" name="Text 4"/>
          <p:cNvSpPr/>
          <p:nvPr/>
        </p:nvSpPr>
        <p:spPr>
          <a:xfrm>
            <a:off x="502920" y="2331720"/>
            <a:ext cx="8138160" cy="411480"/>
          </a:xfrm>
          <a:prstGeom prst="rect">
            <a:avLst/>
          </a:prstGeom>
          <a:noFill/>
          <a:ln/>
        </p:spPr>
        <p:txBody>
          <a:bodyPr wrap="square" rtlCol="0" anchor="ctr"/>
          <a:lstStyle/>
          <a:p>
            <a:pPr indent="0" marL="0">
              <a:buNone/>
            </a:pPr>
            <a:r>
              <a:rPr lang="en-US" sz="2000" dirty="0">
                <a:solidFill>
                  <a:srgbClr val="EDE6DA"/>
                </a:solidFill>
                <a:latin typeface="Century Gothic" pitchFamily="34" charset="0"/>
                <a:ea typeface="Century Gothic" pitchFamily="34" charset="-122"/>
                <a:cs typeface="Century Gothic" pitchFamily="34" charset="-120"/>
              </a:rPr>
              <a:t>A licensed clinic inside a private club.</a:t>
            </a:r>
            <a:endParaRPr lang="en-US" sz="2000" dirty="0"/>
          </a:p>
        </p:txBody>
      </p:sp>
      <p:sp>
        <p:nvSpPr>
          <p:cNvPr id="7" name="Text 5"/>
          <p:cNvSpPr/>
          <p:nvPr/>
        </p:nvSpPr>
        <p:spPr>
          <a:xfrm>
            <a:off x="502920" y="2788920"/>
            <a:ext cx="6510528" cy="457200"/>
          </a:xfrm>
          <a:prstGeom prst="rect">
            <a:avLst/>
          </a:prstGeom>
          <a:noFill/>
          <a:ln/>
        </p:spPr>
        <p:txBody>
          <a:bodyPr wrap="square" rtlCol="0" anchor="ctr"/>
          <a:lstStyle/>
          <a:p>
            <a:pPr indent="0" marL="0">
              <a:buNone/>
            </a:pPr>
            <a:r>
              <a:rPr lang="en-US" sz="1250" dirty="0">
                <a:solidFill>
                  <a:srgbClr val="C08D7C"/>
                </a:solidFill>
                <a:latin typeface="Calibri" pitchFamily="34" charset="0"/>
                <a:ea typeface="Calibri" pitchFamily="34" charset="-122"/>
                <a:cs typeface="Calibri" pitchFamily="34" charset="-120"/>
              </a:rPr>
              <a:t>The medicine is open to everyone. The room you want to stay in is members only.</a:t>
            </a:r>
            <a:endParaRPr lang="en-US" sz="1250" dirty="0"/>
          </a:p>
        </p:txBody>
      </p:sp>
      <p:sp>
        <p:nvSpPr>
          <p:cNvPr id="8" name="Text 6"/>
          <p:cNvSpPr/>
          <p:nvPr/>
        </p:nvSpPr>
        <p:spPr>
          <a:xfrm>
            <a:off x="502920" y="3429000"/>
            <a:ext cx="8138160" cy="274320"/>
          </a:xfrm>
          <a:prstGeom prst="rect">
            <a:avLst/>
          </a:prstGeom>
          <a:noFill/>
          <a:ln/>
        </p:spPr>
        <p:txBody>
          <a:bodyPr wrap="square" rtlCol="0" anchor="ctr"/>
          <a:lstStyle/>
          <a:p>
            <a:pPr indent="0" marL="0">
              <a:buNone/>
            </a:pPr>
            <a:r>
              <a:rPr lang="en-US" sz="1050" dirty="0">
                <a:solidFill>
                  <a:srgbClr val="A8A296"/>
                </a:solidFill>
                <a:latin typeface="Calibri" pitchFamily="34" charset="0"/>
                <a:ea typeface="Calibri" pitchFamily="34" charset="-122"/>
                <a:cs typeface="Calibri" pitchFamily="34" charset="-120"/>
              </a:rPr>
              <a:t>Playa Vista, California   ·   4,925 SF   ·   Est. 2026   ·   Ample · $2.0M private case, $4.75M project</a:t>
            </a:r>
            <a:endParaRPr lang="en-US" sz="1050" dirty="0"/>
          </a:p>
        </p:txBody>
      </p:sp>
      <p:sp>
        <p:nvSpPr>
          <p:cNvPr id="9" name="Text 7"/>
          <p:cNvSpPr/>
          <p:nvPr/>
        </p:nvSpPr>
        <p:spPr>
          <a:xfrm>
            <a:off x="502920" y="4645152"/>
            <a:ext cx="8138160" cy="274320"/>
          </a:xfrm>
          <a:prstGeom prst="rect">
            <a:avLst/>
          </a:prstGeom>
          <a:noFill/>
          <a:ln/>
        </p:spPr>
        <p:txBody>
          <a:bodyPr wrap="square" rtlCol="0" anchor="ctr"/>
          <a:lstStyle/>
          <a:p>
            <a:pPr indent="0" marL="0">
              <a:buNone/>
            </a:pPr>
            <a:r>
              <a:rPr lang="en-US" sz="800" spc="200" kern="0" dirty="0">
                <a:solidFill>
                  <a:srgbClr val="A8A296"/>
                </a:solidFill>
                <a:latin typeface="Century Gothic" pitchFamily="34" charset="0"/>
                <a:ea typeface="Century Gothic" pitchFamily="34" charset="-122"/>
                <a:cs typeface="Century Gothic" pitchFamily="34" charset="-120"/>
              </a:rPr>
              <a:t>CONFIDENTIAL  ·  INVESTOR AND SBA BRIEF  ·  FOR QUALIFIED RECIPIENTS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PROBLEM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Wellness on the Westside is fragmented.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patient optimizing their health today visits a medspa for injectables, a recovery studio for cold plunge, a longevity clinic for labs, and a concierge doctor for hormones. Four intakes, four records, four bills. Not one of them is somewhere you would choose to spend a Saturday morning.</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4+</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Separate providers a patient coordinates for care that belongs in one building.</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24 of 30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Services on the L&amp;K menu that require a physician, nurse practitioner or nurse. A recovery studio without a physician can offer 6.</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10,488</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US medical spas as of 2023, up from 8,899 the year before. The category is commoditizing on treatment alone.</a:t>
            </a:r>
            <a:endParaRPr lang="en-US" sz="9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INSIGHT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Others proved the format. Only a licensed facility can deliver it.</a:t>
            </a:r>
            <a:endParaRPr lang="en-US" sz="2600" dirty="0"/>
          </a:p>
        </p:txBody>
      </p:sp>
      <p:sp>
        <p:nvSpPr>
          <p:cNvPr id="4" name="Shape 2"/>
          <p:cNvSpPr/>
          <p:nvPr/>
        </p:nvSpPr>
        <p:spPr>
          <a:xfrm>
            <a:off x="502920" y="1463040"/>
            <a:ext cx="3986784" cy="1371600"/>
          </a:xfrm>
          <a:prstGeom prst="roundRect">
            <a:avLst>
              <a:gd name="adj" fmla="val 4000"/>
            </a:avLst>
          </a:prstGeom>
          <a:solidFill>
            <a:srgbClr val="16241C"/>
          </a:solidFill>
          <a:ln w="12700">
            <a:solidFill>
              <a:srgbClr val="2E4237"/>
            </a:solidFill>
            <a:prstDash val="solid"/>
          </a:ln>
        </p:spPr>
      </p:sp>
      <p:sp>
        <p:nvSpPr>
          <p:cNvPr id="5" name="Text 3"/>
          <p:cNvSpPr/>
          <p:nvPr/>
        </p:nvSpPr>
        <p:spPr>
          <a:xfrm>
            <a:off x="649224"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Remedy Place</a:t>
            </a:r>
            <a:endParaRPr lang="en-US" sz="2000" dirty="0"/>
          </a:p>
        </p:txBody>
      </p:sp>
      <p:sp>
        <p:nvSpPr>
          <p:cNvPr id="6" name="Text 4"/>
          <p:cNvSpPr/>
          <p:nvPr/>
        </p:nvSpPr>
        <p:spPr>
          <a:xfrm>
            <a:off x="649224"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a non-medical operator stops. No physician on site means no PRP, no IV therapy, no neuromodulators, no filler, no laser. Not features they skipped: the other side of a licensing threshold.</a:t>
            </a:r>
            <a:endParaRPr lang="en-US" sz="900" dirty="0"/>
          </a:p>
        </p:txBody>
      </p:sp>
      <p:sp>
        <p:nvSpPr>
          <p:cNvPr id="7" name="Shape 5"/>
          <p:cNvSpPr/>
          <p:nvPr/>
        </p:nvSpPr>
        <p:spPr>
          <a:xfrm>
            <a:off x="4654296" y="1463040"/>
            <a:ext cx="3986784" cy="1371600"/>
          </a:xfrm>
          <a:prstGeom prst="roundRect">
            <a:avLst>
              <a:gd name="adj" fmla="val 4000"/>
            </a:avLst>
          </a:prstGeom>
          <a:solidFill>
            <a:srgbClr val="16241C"/>
          </a:solidFill>
          <a:ln w="12700">
            <a:solidFill>
              <a:srgbClr val="2E4237"/>
            </a:solidFill>
            <a:prstDash val="solid"/>
          </a:ln>
        </p:spPr>
      </p:sp>
      <p:sp>
        <p:nvSpPr>
          <p:cNvPr id="8" name="Text 6"/>
          <p:cNvSpPr/>
          <p:nvPr/>
        </p:nvSpPr>
        <p:spPr>
          <a:xfrm>
            <a:off x="4800600"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Soho House</a:t>
            </a:r>
            <a:endParaRPr lang="en-US" sz="2000" dirty="0"/>
          </a:p>
        </p:txBody>
      </p:sp>
      <p:sp>
        <p:nvSpPr>
          <p:cNvPr id="9" name="Text 7"/>
          <p:cNvSpPr/>
          <p:nvPr/>
        </p:nvSpPr>
        <p:spPr>
          <a:xfrm>
            <a:off x="4800600"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the ladder was proven. Soho Friends is a published annual tier buying discounts and event invitations but no club access. What they lack is medicine.</a:t>
            </a:r>
            <a:endParaRPr lang="en-US" sz="900" dirty="0"/>
          </a:p>
        </p:txBody>
      </p:sp>
      <p:sp>
        <p:nvSpPr>
          <p:cNvPr id="10" name="Shape 8"/>
          <p:cNvSpPr/>
          <p:nvPr/>
        </p:nvSpPr>
        <p:spPr>
          <a:xfrm>
            <a:off x="502920" y="3017520"/>
            <a:ext cx="8138160" cy="1417320"/>
          </a:xfrm>
          <a:prstGeom prst="roundRect">
            <a:avLst>
              <a:gd name="adj" fmla="val 3871"/>
            </a:avLst>
          </a:prstGeom>
          <a:solidFill>
            <a:srgbClr val="241C1A"/>
          </a:solidFill>
          <a:ln w="12700">
            <a:solidFill>
              <a:srgbClr val="C08D7C"/>
            </a:solidFill>
            <a:prstDash val="solid"/>
          </a:ln>
        </p:spPr>
      </p:sp>
      <p:sp>
        <p:nvSpPr>
          <p:cNvPr id="11" name="Text 9"/>
          <p:cNvSpPr/>
          <p:nvPr/>
        </p:nvSpPr>
        <p:spPr>
          <a:xfrm>
            <a:off x="704088" y="3154680"/>
            <a:ext cx="7735824"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THE DIFFERENCE</a:t>
            </a:r>
            <a:endParaRPr lang="en-US" sz="850" dirty="0"/>
          </a:p>
        </p:txBody>
      </p:sp>
      <p:sp>
        <p:nvSpPr>
          <p:cNvPr id="12" name="Text 10"/>
          <p:cNvSpPr/>
          <p:nvPr/>
        </p:nvSpPr>
        <p:spPr>
          <a:xfrm>
            <a:off x="704088" y="3383280"/>
            <a:ext cx="7735824" cy="411480"/>
          </a:xfrm>
          <a:prstGeom prst="rect">
            <a:avLst/>
          </a:prstGeom>
          <a:noFill/>
          <a:ln/>
        </p:spPr>
        <p:txBody>
          <a:bodyPr wrap="square" rtlCol="0" anchor="ctr"/>
          <a:lstStyle/>
          <a:p>
            <a:pPr indent="0" marL="0">
              <a:buNone/>
            </a:pPr>
            <a:r>
              <a:rPr lang="en-US" sz="1450" dirty="0">
                <a:solidFill>
                  <a:srgbClr val="EDE6DA"/>
                </a:solidFill>
                <a:latin typeface="Century Gothic" pitchFamily="34" charset="0"/>
                <a:ea typeface="Century Gothic" pitchFamily="34" charset="-122"/>
                <a:cs typeface="Century Gothic" pitchFamily="34" charset="-120"/>
              </a:rPr>
              <a:t>L&amp;K is not a practice built around a doctor. It is the facility a doctor needs.</a:t>
            </a:r>
            <a:endParaRPr lang="en-US" sz="1450" dirty="0"/>
          </a:p>
        </p:txBody>
      </p:sp>
      <p:sp>
        <p:nvSpPr>
          <p:cNvPr id="13" name="Text 11"/>
          <p:cNvSpPr/>
          <p:nvPr/>
        </p:nvSpPr>
        <p:spPr>
          <a:xfrm>
            <a:off x="704088" y="3803904"/>
            <a:ext cx="7735824" cy="548640"/>
          </a:xfrm>
          <a:prstGeom prst="rect">
            <a:avLst/>
          </a:prstGeom>
          <a:noFill/>
          <a:ln/>
        </p:spPr>
        <p:txBody>
          <a:bodyPr wrap="square" rtlCol="0" anchor="ctr"/>
          <a:lstStyle/>
          <a:p>
            <a:pPr indent="0" marL="0">
              <a:lnSpc>
                <a:spcPct val="120000"/>
              </a:lnSpc>
              <a:buNone/>
            </a:pPr>
            <a:r>
              <a:rPr lang="en-US" sz="1050" dirty="0">
                <a:solidFill>
                  <a:srgbClr val="A8A296"/>
                </a:solidFill>
                <a:latin typeface="Calibri" pitchFamily="34" charset="0"/>
                <a:ea typeface="Calibri" pitchFamily="34" charset="-122"/>
                <a:cs typeface="Calibri" pitchFamily="34" charset="-120"/>
              </a:rPr>
              <a:t>The rooms, the diagnostics, the infusion suite, the operating suite, the staff and the accreditation, already standing. Physicians practice here. Investors own the building they practice in, which is why the surgical lines bill a facility fee while the surgeon bills their own patients directly.</a:t>
            </a:r>
            <a:endParaRPr lang="en-US" sz="105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building. Two layers. Different doors.</a:t>
            </a:r>
            <a:endParaRPr lang="en-US" sz="2600" dirty="0"/>
          </a:p>
        </p:txBody>
      </p:sp>
      <p:sp>
        <p:nvSpPr>
          <p:cNvPr id="4" name="Shape 2"/>
          <p:cNvSpPr/>
          <p:nvPr/>
        </p:nvSpPr>
        <p:spPr>
          <a:xfrm>
            <a:off x="1508760" y="1325880"/>
            <a:ext cx="6126480" cy="1325880"/>
          </a:xfrm>
          <a:prstGeom prst="roundRect">
            <a:avLst>
              <a:gd name="adj" fmla="val 4138"/>
            </a:avLst>
          </a:prstGeom>
          <a:solidFill>
            <a:srgbClr val="241C1A"/>
          </a:solidFill>
          <a:ln w="15875">
            <a:solidFill>
              <a:srgbClr val="C08D7C"/>
            </a:solidFill>
            <a:prstDash val="solid"/>
          </a:ln>
        </p:spPr>
      </p:sp>
      <p:sp>
        <p:nvSpPr>
          <p:cNvPr id="5" name="Text 3"/>
          <p:cNvSpPr/>
          <p:nvPr/>
        </p:nvSpPr>
        <p:spPr>
          <a:xfrm>
            <a:off x="1691640" y="1444752"/>
            <a:ext cx="5760720" cy="182880"/>
          </a:xfrm>
          <a:prstGeom prst="rect">
            <a:avLst/>
          </a:prstGeom>
          <a:noFill/>
          <a:ln/>
        </p:spPr>
        <p:txBody>
          <a:bodyPr wrap="square" rtlCol="0" anchor="ctr"/>
          <a:lstStyle/>
          <a:p>
            <a:pPr indent="0" marL="0">
              <a:buNone/>
            </a:pPr>
            <a:r>
              <a:rPr lang="en-US" sz="800" spc="240" kern="0" dirty="0">
                <a:solidFill>
                  <a:srgbClr val="C08D7C"/>
                </a:solidFill>
                <a:latin typeface="Century Gothic" pitchFamily="34" charset="0"/>
                <a:ea typeface="Century Gothic" pitchFamily="34" charset="-122"/>
                <a:cs typeface="Century Gothic" pitchFamily="34" charset="-120"/>
              </a:rPr>
              <a:t>MEMBERS ONLY  ·  CAPPED</a:t>
            </a:r>
            <a:endParaRPr lang="en-US" sz="800" dirty="0"/>
          </a:p>
        </p:txBody>
      </p:sp>
      <p:sp>
        <p:nvSpPr>
          <p:cNvPr id="6" name="Text 4"/>
          <p:cNvSpPr/>
          <p:nvPr/>
        </p:nvSpPr>
        <p:spPr>
          <a:xfrm>
            <a:off x="1691640" y="1627632"/>
            <a:ext cx="5760720"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Club</a:t>
            </a:r>
            <a:endParaRPr lang="en-US" sz="1600" dirty="0"/>
          </a:p>
        </p:txBody>
      </p:sp>
      <p:sp>
        <p:nvSpPr>
          <p:cNvPr id="7" name="Text 5"/>
          <p:cNvSpPr/>
          <p:nvPr/>
        </p:nvSpPr>
        <p:spPr>
          <a:xfrm>
            <a:off x="1691640" y="1956816"/>
            <a:ext cx="5760720" cy="548640"/>
          </a:xfrm>
          <a:prstGeom prst="rect">
            <a:avLst/>
          </a:prstGeom>
          <a:noFill/>
          <a:ln/>
        </p:spPr>
        <p:txBody>
          <a:bodyPr wrap="square" rtlCol="0" anchor="ctr"/>
          <a:lstStyle/>
          <a:p>
            <a:pPr indent="0" marL="0">
              <a:lnSpc>
                <a:spcPct val="120000"/>
              </a:lnSpc>
              <a:buNone/>
            </a:pPr>
            <a:r>
              <a:rPr lang="en-US" sz="1000" dirty="0">
                <a:solidFill>
                  <a:srgbClr val="A8A296"/>
                </a:solidFill>
                <a:latin typeface="Calibri" pitchFamily="34" charset="0"/>
                <a:ea typeface="Calibri" pitchFamily="34" charset="-122"/>
                <a:cs typeface="Calibri" pitchFamily="34" charset="-120"/>
              </a:rPr>
              <a:t>Contrast suite  ·  Sauna and cold plunge ritual  ·  The Lounge  ·  Member events  ·  Guest passes  ·  Priority booking  ·  Private buyouts</a:t>
            </a:r>
            <a:endParaRPr lang="en-US" sz="1000" dirty="0"/>
          </a:p>
        </p:txBody>
      </p:sp>
      <p:sp>
        <p:nvSpPr>
          <p:cNvPr id="8" name="Text 6"/>
          <p:cNvSpPr/>
          <p:nvPr/>
        </p:nvSpPr>
        <p:spPr>
          <a:xfrm>
            <a:off x="502920" y="2697480"/>
            <a:ext cx="8138160" cy="237744"/>
          </a:xfrm>
          <a:prstGeom prst="rect">
            <a:avLst/>
          </a:prstGeom>
          <a:noFill/>
          <a:ln/>
        </p:spPr>
        <p:txBody>
          <a:bodyPr wrap="square" rtlCol="0" anchor="ctr"/>
          <a:lstStyle/>
          <a:p>
            <a:pPr algn="ctr" indent="0" marL="0">
              <a:buNone/>
            </a:pPr>
            <a:r>
              <a:rPr lang="en-US" sz="900" spc="200" kern="0" dirty="0">
                <a:solidFill>
                  <a:srgbClr val="6E6A62"/>
                </a:solidFill>
                <a:latin typeface="Century Gothic" pitchFamily="34" charset="0"/>
                <a:ea typeface="Century Gothic" pitchFamily="34" charset="-122"/>
                <a:cs typeface="Century Gothic" pitchFamily="34" charset="-120"/>
              </a:rPr>
              <a:t>Membership sits on top. It never sits in front.</a:t>
            </a:r>
            <a:endParaRPr lang="en-US" sz="900" dirty="0"/>
          </a:p>
        </p:txBody>
      </p:sp>
      <p:sp>
        <p:nvSpPr>
          <p:cNvPr id="9" name="Shape 7"/>
          <p:cNvSpPr/>
          <p:nvPr/>
        </p:nvSpPr>
        <p:spPr>
          <a:xfrm>
            <a:off x="502920" y="2999232"/>
            <a:ext cx="8138160" cy="1463040"/>
          </a:xfrm>
          <a:prstGeom prst="roundRect">
            <a:avLst>
              <a:gd name="adj" fmla="val 3750"/>
            </a:avLst>
          </a:prstGeom>
          <a:solidFill>
            <a:srgbClr val="16241C"/>
          </a:solidFill>
          <a:ln w="12700">
            <a:solidFill>
              <a:srgbClr val="2E4237"/>
            </a:solidFill>
            <a:prstDash val="solid"/>
          </a:ln>
        </p:spPr>
      </p:sp>
      <p:sp>
        <p:nvSpPr>
          <p:cNvPr id="10" name="Text 8"/>
          <p:cNvSpPr/>
          <p:nvPr/>
        </p:nvSpPr>
        <p:spPr>
          <a:xfrm>
            <a:off x="704088" y="3127248"/>
            <a:ext cx="7735824" cy="182880"/>
          </a:xfrm>
          <a:prstGeom prst="rect">
            <a:avLst/>
          </a:prstGeom>
          <a:noFill/>
          <a:ln/>
        </p:spPr>
        <p:txBody>
          <a:bodyPr wrap="square" rtlCol="0" anchor="ctr"/>
          <a:lstStyle/>
          <a:p>
            <a:pPr indent="0" marL="0">
              <a:buNone/>
            </a:pPr>
            <a:r>
              <a:rPr lang="en-US" sz="800" spc="240" kern="0" dirty="0">
                <a:solidFill>
                  <a:srgbClr val="6E6A62"/>
                </a:solidFill>
                <a:latin typeface="Century Gothic" pitchFamily="34" charset="0"/>
                <a:ea typeface="Century Gothic" pitchFamily="34" charset="-122"/>
                <a:cs typeface="Century Gothic" pitchFamily="34" charset="-120"/>
              </a:rPr>
              <a:t>OPEN TO EVERYONE  ·  NO MEMBERSHIP REQUIRED</a:t>
            </a:r>
            <a:endParaRPr lang="en-US" sz="800" dirty="0"/>
          </a:p>
        </p:txBody>
      </p:sp>
      <p:sp>
        <p:nvSpPr>
          <p:cNvPr id="11" name="Text 9"/>
          <p:cNvSpPr/>
          <p:nvPr/>
        </p:nvSpPr>
        <p:spPr>
          <a:xfrm>
            <a:off x="704088" y="3310128"/>
            <a:ext cx="7735824"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Clinic</a:t>
            </a:r>
            <a:endParaRPr lang="en-US" sz="1600" dirty="0"/>
          </a:p>
        </p:txBody>
      </p:sp>
      <p:sp>
        <p:nvSpPr>
          <p:cNvPr id="12" name="Text 10"/>
          <p:cNvSpPr/>
          <p:nvPr/>
        </p:nvSpPr>
        <p:spPr>
          <a:xfrm>
            <a:off x="704088" y="3639312"/>
            <a:ext cx="7735824" cy="731520"/>
          </a:xfrm>
          <a:prstGeom prst="rect">
            <a:avLst/>
          </a:prstGeom>
          <a:noFill/>
          <a:ln/>
        </p:spPr>
        <p:txBody>
          <a:bodyPr wrap="square" rtlCol="0" anchor="ctr"/>
          <a:lstStyle/>
          <a:p>
            <a:pPr indent="0" marL="0">
              <a:lnSpc>
                <a:spcPct val="120000"/>
              </a:lnSpc>
              <a:buNone/>
            </a:pPr>
            <a:r>
              <a:rPr lang="en-US" sz="950" dirty="0">
                <a:solidFill>
                  <a:srgbClr val="A8A296"/>
                </a:solidFill>
                <a:latin typeface="Calibri" pitchFamily="34" charset="0"/>
                <a:ea typeface="Calibri" pitchFamily="34" charset="-122"/>
                <a:cs typeface="Calibri" pitchFamily="34" charset="-120"/>
              </a:rPr>
              <a:t>Aescape Robotic Massage  ·  Ammortal Chamber  ·  Red Light Therapy  ·  Hyperbaric Oxygen  ·  Compression Therapy  ·  PRP: Hair &amp; Scalp  ·  PRP: Face &amp; Aesthetic  ·  PRP: Scar &amp; Skin Repair  ·  PRP: Soft Tissue  ·  PRP: Joint &amp; Cartilage  ·  PRP: Post-procedure  ·  Basic Hydration  ·  Myers Cocktail  ·  Recovery / Hangover  ·  Immunity / High-Dose C  ·  Beauty / Glutathione  ·  Athletic Performance  ·  NAD+ 100mg  ·  NAD+ 250mg  ·  NAD+ 500mg  ·  IM Shot: B12 / Lipo  ·  Therapeutic medications  ·  Botox (15-unit minimum)  ·  Filler (0.5 ml)  ·  RF Microneedling  ·  Laser Platform  ·  Advanced Biometrics  ·  DNA Analysis  ·  DUTCH Plus Test  ·  DEXA Scan</a:t>
            </a:r>
            <a:endParaRPr lang="en-US" sz="95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MEMBERSHIP ARCHITECTURE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ladder, not a gate.</a:t>
            </a:r>
            <a:endParaRPr lang="en-US" sz="2600" dirty="0"/>
          </a:p>
        </p:txBody>
      </p:sp>
      <p:sp>
        <p:nvSpPr>
          <p:cNvPr id="4" name="Shape 2"/>
          <p:cNvSpPr/>
          <p:nvPr/>
        </p:nvSpPr>
        <p:spPr>
          <a:xfrm>
            <a:off x="502920" y="1371600"/>
            <a:ext cx="1924812" cy="3063240"/>
          </a:xfrm>
          <a:prstGeom prst="roundRect">
            <a:avLst>
              <a:gd name="adj" fmla="val 2850"/>
            </a:avLst>
          </a:prstGeom>
          <a:solidFill>
            <a:srgbClr val="16241C"/>
          </a:solidFill>
          <a:ln w="12700">
            <a:solidFill>
              <a:srgbClr val="2E4237"/>
            </a:solidFill>
            <a:prstDash val="solid"/>
          </a:ln>
        </p:spPr>
      </p:sp>
      <p:sp>
        <p:nvSpPr>
          <p:cNvPr id="5" name="Text 3"/>
          <p:cNvSpPr/>
          <p:nvPr/>
        </p:nvSpPr>
        <p:spPr>
          <a:xfrm>
            <a:off x="630936"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Day Pass</a:t>
            </a:r>
            <a:endParaRPr lang="en-US" sz="1150" dirty="0"/>
          </a:p>
        </p:txBody>
      </p:sp>
      <p:sp>
        <p:nvSpPr>
          <p:cNvPr id="6" name="Text 4"/>
          <p:cNvSpPr/>
          <p:nvPr/>
        </p:nvSpPr>
        <p:spPr>
          <a:xfrm>
            <a:off x="630936"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$75</a:t>
            </a:r>
            <a:endParaRPr lang="en-US" sz="1900" dirty="0"/>
          </a:p>
        </p:txBody>
      </p:sp>
      <p:sp>
        <p:nvSpPr>
          <p:cNvPr id="7" name="Text 5"/>
          <p:cNvSpPr/>
          <p:nvPr/>
        </p:nvSpPr>
        <p:spPr>
          <a:xfrm>
            <a:off x="630936"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VISIT</a:t>
            </a:r>
            <a:endParaRPr lang="en-US" sz="750" dirty="0"/>
          </a:p>
        </p:txBody>
      </p:sp>
      <p:sp>
        <p:nvSpPr>
          <p:cNvPr id="8" name="Text 6"/>
          <p:cNvSpPr/>
          <p:nvPr/>
        </p:nvSpPr>
        <p:spPr>
          <a:xfrm>
            <a:off x="630936"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Single circuit visit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Procedures at list price</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events or lounge privileges</a:t>
            </a:r>
            <a:endParaRPr lang="en-US" sz="800" dirty="0"/>
          </a:p>
        </p:txBody>
      </p:sp>
      <p:sp>
        <p:nvSpPr>
          <p:cNvPr id="9" name="Text 7"/>
          <p:cNvSpPr/>
          <p:nvPr/>
        </p:nvSpPr>
        <p:spPr>
          <a:xfrm>
            <a:off x="630936"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275 visits/mo</a:t>
            </a:r>
            <a:endParaRPr lang="en-US" sz="800" dirty="0"/>
          </a:p>
        </p:txBody>
      </p:sp>
      <p:sp>
        <p:nvSpPr>
          <p:cNvPr id="10" name="Shape 8"/>
          <p:cNvSpPr/>
          <p:nvPr/>
        </p:nvSpPr>
        <p:spPr>
          <a:xfrm>
            <a:off x="2574036" y="1371600"/>
            <a:ext cx="1924812" cy="3063240"/>
          </a:xfrm>
          <a:prstGeom prst="roundRect">
            <a:avLst>
              <a:gd name="adj" fmla="val 2850"/>
            </a:avLst>
          </a:prstGeom>
          <a:solidFill>
            <a:srgbClr val="16241C"/>
          </a:solidFill>
          <a:ln w="12700">
            <a:solidFill>
              <a:srgbClr val="2E4237"/>
            </a:solidFill>
            <a:prstDash val="solid"/>
          </a:ln>
        </p:spPr>
      </p:sp>
      <p:sp>
        <p:nvSpPr>
          <p:cNvPr id="11" name="Text 9"/>
          <p:cNvSpPr/>
          <p:nvPr/>
        </p:nvSpPr>
        <p:spPr>
          <a:xfrm>
            <a:off x="2702052"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Friends of L&amp;K</a:t>
            </a:r>
            <a:endParaRPr lang="en-US" sz="1150" dirty="0"/>
          </a:p>
        </p:txBody>
      </p:sp>
      <p:sp>
        <p:nvSpPr>
          <p:cNvPr id="12" name="Text 10"/>
          <p:cNvSpPr/>
          <p:nvPr/>
        </p:nvSpPr>
        <p:spPr>
          <a:xfrm>
            <a:off x="2702052"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$300</a:t>
            </a:r>
            <a:endParaRPr lang="en-US" sz="1900" dirty="0"/>
          </a:p>
        </p:txBody>
      </p:sp>
      <p:sp>
        <p:nvSpPr>
          <p:cNvPr id="13" name="Text 11"/>
          <p:cNvSpPr/>
          <p:nvPr/>
        </p:nvSpPr>
        <p:spPr>
          <a:xfrm>
            <a:off x="2702052"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YEAR</a:t>
            </a:r>
            <a:endParaRPr lang="en-US" sz="750" dirty="0"/>
          </a:p>
        </p:txBody>
      </p:sp>
      <p:sp>
        <p:nvSpPr>
          <p:cNvPr id="14" name="Text 12"/>
          <p:cNvSpPr/>
          <p:nvPr/>
        </p:nvSpPr>
        <p:spPr>
          <a:xfrm>
            <a:off x="2702052"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Priority booking window</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Invitations to open events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club or circuit access</a:t>
            </a:r>
            <a:endParaRPr lang="en-US" sz="800" dirty="0"/>
          </a:p>
        </p:txBody>
      </p:sp>
      <p:sp>
        <p:nvSpPr>
          <p:cNvPr id="15" name="Text 13"/>
          <p:cNvSpPr/>
          <p:nvPr/>
        </p:nvSpPr>
        <p:spPr>
          <a:xfrm>
            <a:off x="2702052"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900 members</a:t>
            </a:r>
            <a:endParaRPr lang="en-US" sz="800" dirty="0"/>
          </a:p>
        </p:txBody>
      </p:sp>
      <p:sp>
        <p:nvSpPr>
          <p:cNvPr id="16" name="Shape 14"/>
          <p:cNvSpPr/>
          <p:nvPr/>
        </p:nvSpPr>
        <p:spPr>
          <a:xfrm>
            <a:off x="4645152" y="1371600"/>
            <a:ext cx="1924812" cy="3063240"/>
          </a:xfrm>
          <a:prstGeom prst="roundRect">
            <a:avLst>
              <a:gd name="adj" fmla="val 2850"/>
            </a:avLst>
          </a:prstGeom>
          <a:solidFill>
            <a:srgbClr val="16241C"/>
          </a:solidFill>
          <a:ln w="12700">
            <a:solidFill>
              <a:srgbClr val="2E4237"/>
            </a:solidFill>
            <a:prstDash val="solid"/>
          </a:ln>
        </p:spPr>
      </p:sp>
      <p:sp>
        <p:nvSpPr>
          <p:cNvPr id="17" name="Text 15"/>
          <p:cNvSpPr/>
          <p:nvPr/>
        </p:nvSpPr>
        <p:spPr>
          <a:xfrm>
            <a:off x="4773168"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Resident</a:t>
            </a:r>
            <a:endParaRPr lang="en-US" sz="1150" dirty="0"/>
          </a:p>
        </p:txBody>
      </p:sp>
      <p:sp>
        <p:nvSpPr>
          <p:cNvPr id="18" name="Text 16"/>
          <p:cNvSpPr/>
          <p:nvPr/>
        </p:nvSpPr>
        <p:spPr>
          <a:xfrm>
            <a:off x="4773168"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$450</a:t>
            </a:r>
            <a:endParaRPr lang="en-US" sz="1900" dirty="0"/>
          </a:p>
        </p:txBody>
      </p:sp>
      <p:sp>
        <p:nvSpPr>
          <p:cNvPr id="19" name="Text 17"/>
          <p:cNvSpPr/>
          <p:nvPr/>
        </p:nvSpPr>
        <p:spPr>
          <a:xfrm>
            <a:off x="4773168"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0" name="Text 18"/>
          <p:cNvSpPr/>
          <p:nvPr/>
        </p:nvSpPr>
        <p:spPr>
          <a:xfrm>
            <a:off x="4773168"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Rolling monthly credit bank</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Unlimited recovery circuit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1 guest pass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events</a:t>
            </a:r>
            <a:endParaRPr lang="en-US" sz="800" dirty="0"/>
          </a:p>
        </p:txBody>
      </p:sp>
      <p:sp>
        <p:nvSpPr>
          <p:cNvPr id="21" name="Text 19"/>
          <p:cNvSpPr/>
          <p:nvPr/>
        </p:nvSpPr>
        <p:spPr>
          <a:xfrm>
            <a:off x="4773168"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350 members · capped</a:t>
            </a:r>
            <a:endParaRPr lang="en-US" sz="800" dirty="0"/>
          </a:p>
        </p:txBody>
      </p:sp>
      <p:sp>
        <p:nvSpPr>
          <p:cNvPr id="22" name="Shape 20"/>
          <p:cNvSpPr/>
          <p:nvPr/>
        </p:nvSpPr>
        <p:spPr>
          <a:xfrm>
            <a:off x="6716268" y="1371600"/>
            <a:ext cx="1924812" cy="3063240"/>
          </a:xfrm>
          <a:prstGeom prst="roundRect">
            <a:avLst>
              <a:gd name="adj" fmla="val 2850"/>
            </a:avLst>
          </a:prstGeom>
          <a:solidFill>
            <a:srgbClr val="241C1A"/>
          </a:solidFill>
          <a:ln w="12700">
            <a:solidFill>
              <a:srgbClr val="C08D7C"/>
            </a:solidFill>
            <a:prstDash val="solid"/>
          </a:ln>
        </p:spPr>
      </p:sp>
      <p:sp>
        <p:nvSpPr>
          <p:cNvPr id="23" name="Text 21"/>
          <p:cNvSpPr/>
          <p:nvPr/>
        </p:nvSpPr>
        <p:spPr>
          <a:xfrm>
            <a:off x="6844284"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Longevity</a:t>
            </a:r>
            <a:endParaRPr lang="en-US" sz="1150" dirty="0"/>
          </a:p>
        </p:txBody>
      </p:sp>
      <p:sp>
        <p:nvSpPr>
          <p:cNvPr id="24" name="Text 22"/>
          <p:cNvSpPr/>
          <p:nvPr/>
        </p:nvSpPr>
        <p:spPr>
          <a:xfrm>
            <a:off x="6844284"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$1,250</a:t>
            </a:r>
            <a:endParaRPr lang="en-US" sz="1900" dirty="0"/>
          </a:p>
        </p:txBody>
      </p:sp>
      <p:sp>
        <p:nvSpPr>
          <p:cNvPr id="25" name="Text 23"/>
          <p:cNvSpPr/>
          <p:nvPr/>
        </p:nvSpPr>
        <p:spPr>
          <a:xfrm>
            <a:off x="6844284"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6" name="Text 24"/>
          <p:cNvSpPr/>
          <p:nvPr/>
        </p:nvSpPr>
        <p:spPr>
          <a:xfrm>
            <a:off x="6844284"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Everything in Resident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Quarterly physician consult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Annual biomarker panel, DEXA and DUTCH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Therapeutic medications included</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4 guest passes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Private buyout privileges</a:t>
            </a:r>
            <a:endParaRPr lang="en-US" sz="800" dirty="0"/>
          </a:p>
        </p:txBody>
      </p:sp>
      <p:sp>
        <p:nvSpPr>
          <p:cNvPr id="27" name="Text 25"/>
          <p:cNvSpPr/>
          <p:nvPr/>
        </p:nvSpPr>
        <p:spPr>
          <a:xfrm>
            <a:off x="6844284"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40 members · capped</a:t>
            </a:r>
            <a:endParaRPr lang="en-US" sz="800" dirty="0"/>
          </a:p>
        </p:txBody>
      </p:sp>
      <p:sp>
        <p:nvSpPr>
          <p:cNvPr id="28" name="Text 26"/>
          <p:cNvSpPr/>
          <p:nvPr/>
        </p:nvSpPr>
        <p:spPr>
          <a:xfrm>
            <a:off x="502920" y="4498848"/>
            <a:ext cx="8138160" cy="237744"/>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Three-month minimum then month-to-month. Credits roll over while active and expire on cancellation. Freezes on seven days notice. Tier changes after the initial commitment.</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BEFORE DOORS OPEN</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Founding Members de-risk the ramp.</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single strongest item in this brief for both an investor and a credit committee: revenue contracted before the business opens.</a:t>
            </a:r>
            <a:endParaRPr lang="en-US" sz="1150" dirty="0"/>
          </a:p>
        </p:txBody>
      </p:sp>
      <p:sp>
        <p:nvSpPr>
          <p:cNvPr id="5" name="Shape 3"/>
          <p:cNvSpPr/>
          <p:nvPr/>
        </p:nvSpPr>
        <p:spPr>
          <a:xfrm>
            <a:off x="502920" y="2194560"/>
            <a:ext cx="2602992" cy="1463040"/>
          </a:xfrm>
          <a:prstGeom prst="roundRect">
            <a:avLst>
              <a:gd name="adj" fmla="val 3750"/>
            </a:avLst>
          </a:prstGeom>
          <a:solidFill>
            <a:srgbClr val="16241C"/>
          </a:solidFill>
          <a:ln w="12700">
            <a:solidFill>
              <a:srgbClr val="2E4237"/>
            </a:solidFill>
            <a:prstDash val="solid"/>
          </a:ln>
        </p:spPr>
      </p:sp>
      <p:sp>
        <p:nvSpPr>
          <p:cNvPr id="6" name="Text 4"/>
          <p:cNvSpPr/>
          <p:nvPr/>
        </p:nvSpPr>
        <p:spPr>
          <a:xfrm>
            <a:off x="649224"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150</a:t>
            </a:r>
            <a:endParaRPr lang="en-US" sz="2000" dirty="0"/>
          </a:p>
        </p:txBody>
      </p:sp>
      <p:sp>
        <p:nvSpPr>
          <p:cNvPr id="7" name="Text 5"/>
          <p:cNvSpPr/>
          <p:nvPr/>
        </p:nvSpPr>
        <p:spPr>
          <a:xfrm>
            <a:off x="649224"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Founding memberships, hard capped and sold during construction.</a:t>
            </a:r>
            <a:endParaRPr lang="en-US" sz="900" dirty="0"/>
          </a:p>
        </p:txBody>
      </p:sp>
      <p:sp>
        <p:nvSpPr>
          <p:cNvPr id="8" name="Shape 6"/>
          <p:cNvSpPr/>
          <p:nvPr/>
        </p:nvSpPr>
        <p:spPr>
          <a:xfrm>
            <a:off x="3270504" y="2194560"/>
            <a:ext cx="2602992" cy="1463040"/>
          </a:xfrm>
          <a:prstGeom prst="roundRect">
            <a:avLst>
              <a:gd name="adj" fmla="val 3750"/>
            </a:avLst>
          </a:prstGeom>
          <a:solidFill>
            <a:srgbClr val="241C1A"/>
          </a:solidFill>
          <a:ln w="12700">
            <a:solidFill>
              <a:srgbClr val="C08D7C"/>
            </a:solidFill>
            <a:prstDash val="solid"/>
          </a:ln>
        </p:spPr>
      </p:sp>
      <p:sp>
        <p:nvSpPr>
          <p:cNvPr id="9" name="Text 7"/>
          <p:cNvSpPr/>
          <p:nvPr/>
        </p:nvSpPr>
        <p:spPr>
          <a:xfrm>
            <a:off x="3416808"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$3,600</a:t>
            </a:r>
            <a:endParaRPr lang="en-US" sz="2000" dirty="0"/>
          </a:p>
        </p:txBody>
      </p:sp>
      <p:sp>
        <p:nvSpPr>
          <p:cNvPr id="10" name="Text 8"/>
          <p:cNvSpPr/>
          <p:nvPr/>
        </p:nvSpPr>
        <p:spPr>
          <a:xfrm>
            <a:off x="3416808"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Prepaid for the first year, a 33% discount against list.</a:t>
            </a:r>
            <a:endParaRPr lang="en-US" sz="900" dirty="0"/>
          </a:p>
        </p:txBody>
      </p:sp>
      <p:sp>
        <p:nvSpPr>
          <p:cNvPr id="11" name="Shape 9"/>
          <p:cNvSpPr/>
          <p:nvPr/>
        </p:nvSpPr>
        <p:spPr>
          <a:xfrm>
            <a:off x="6038088" y="2194560"/>
            <a:ext cx="2602992" cy="1463040"/>
          </a:xfrm>
          <a:prstGeom prst="roundRect">
            <a:avLst>
              <a:gd name="adj" fmla="val 3750"/>
            </a:avLst>
          </a:prstGeom>
          <a:solidFill>
            <a:srgbClr val="241C1A"/>
          </a:solidFill>
          <a:ln w="12700">
            <a:solidFill>
              <a:srgbClr val="C08D7C"/>
            </a:solidFill>
            <a:prstDash val="solid"/>
          </a:ln>
        </p:spPr>
      </p:sp>
      <p:sp>
        <p:nvSpPr>
          <p:cNvPr id="12" name="Text 10"/>
          <p:cNvSpPr/>
          <p:nvPr/>
        </p:nvSpPr>
        <p:spPr>
          <a:xfrm>
            <a:off x="6184392"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$540,000</a:t>
            </a:r>
            <a:endParaRPr lang="en-US" sz="2000" dirty="0"/>
          </a:p>
        </p:txBody>
      </p:sp>
      <p:sp>
        <p:nvSpPr>
          <p:cNvPr id="13" name="Text 11"/>
          <p:cNvSpPr/>
          <p:nvPr/>
        </p:nvSpPr>
        <p:spPr>
          <a:xfrm>
            <a:off x="6184392"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Collected before opening, offsetting the construction-period burn.</a:t>
            </a:r>
            <a:endParaRPr lang="en-US" sz="900" dirty="0"/>
          </a:p>
        </p:txBody>
      </p:sp>
      <p:sp>
        <p:nvSpPr>
          <p:cNvPr id="14" name="Text 12"/>
          <p:cNvSpPr/>
          <p:nvPr/>
        </p:nvSpPr>
        <p:spPr>
          <a:xfrm>
            <a:off x="502920" y="3840480"/>
            <a:ext cx="8138160" cy="548640"/>
          </a:xfrm>
          <a:prstGeom prst="rect">
            <a:avLst/>
          </a:prstGeom>
          <a:noFill/>
          <a:ln/>
        </p:spPr>
        <p:txBody>
          <a:bodyPr wrap="square" rtlCol="0" anchor="ctr"/>
          <a:lstStyle/>
          <a:p>
            <a:pPr indent="0" marL="0">
              <a:lnSpc>
                <a:spcPct val="125000"/>
              </a:lnSpc>
              <a:buNone/>
            </a:pPr>
            <a:r>
              <a:rPr lang="en-US" sz="1050" dirty="0">
                <a:solidFill>
                  <a:srgbClr val="A8A296"/>
                </a:solidFill>
                <a:latin typeface="Calibri" pitchFamily="34" charset="0"/>
                <a:ea typeface="Calibri" pitchFamily="34" charset="-122"/>
                <a:cs typeface="Calibri" pitchFamily="34" charset="-120"/>
              </a:rPr>
              <a:t>This converts the opening ramp from a projection into a partially pre-sold book. It is also the cheapest possible market test: if the founding cohort does not sell, that is a signal worth having before the buildout is committed rather than after.</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4,925 SF in Playa Vista.</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Full contrast suite, owned equipment, the facility the brand deserves.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3931920" cy="914400"/>
        </p:xfrm>
        <a:graphic>
          <a:graphicData uri="http://schemas.openxmlformats.org/drawingml/2006/table">
            <a:tbl>
              <a:tblPr/>
              <a:tblGrid>
                <a:gridCol w="3017520"/>
                <a:gridCol w="91440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Arrival, concierge, retail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 Lounge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Contrast suite (2 saunas, 2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room (seated)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 light beds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and regenerative lounge (8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Diagnostics and consult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754880" y="1481328"/>
          <a:ext cx="3520440" cy="914400"/>
        </p:xfrm>
        <a:graphic>
          <a:graphicData uri="http://schemas.openxmlformats.org/drawingml/2006/table">
            <a:tbl>
              <a:tblPr/>
              <a:tblGrid>
                <a:gridCol w="2651760"/>
                <a:gridCol w="86868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imaging (GE iDXA densitometer)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Locker, shower, changing, bathrooms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Admin offices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Kitchen and breakroom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Storage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Biohazard and linen closets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Circulation and grossing factor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4,925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8"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Stations and equipment.</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What sits in the 4,925 square feet, and how it is paid for.</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931920" cy="914400"/>
        </p:xfrm>
        <a:graphic>
          <a:graphicData uri="http://schemas.openxmlformats.org/drawingml/2006/table">
            <a:tbl>
              <a:tblPr/>
              <a:tblGrid>
                <a:gridCol w="301752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 regenerative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Saunas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Cold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 robotic massage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754880" y="1645920"/>
          <a:ext cx="3520440" cy="914400"/>
        </p:xfrm>
        <a:graphic>
          <a:graphicData uri="http://schemas.openxmlformats.org/drawingml/2006/table">
            <a:tbl>
              <a:tblPr/>
              <a:tblGrid>
                <a:gridCol w="260604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Redlight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 consult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DEXA scan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Recovery stations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7" name="Shape 3"/>
          <p:cNvSpPr/>
          <p:nvPr/>
        </p:nvSpPr>
        <p:spPr>
          <a:xfrm>
            <a:off x="502920" y="3456432"/>
            <a:ext cx="8138160" cy="1024128"/>
          </a:xfrm>
          <a:prstGeom prst="roundRect">
            <a:avLst>
              <a:gd name="adj" fmla="val 5357"/>
            </a:avLst>
          </a:prstGeom>
          <a:solidFill>
            <a:srgbClr val="16241C"/>
          </a:solidFill>
          <a:ln w="12700">
            <a:solidFill>
              <a:srgbClr val="2E4237"/>
            </a:solidFill>
            <a:prstDash val="solid"/>
          </a:ln>
        </p:spPr>
      </p:sp>
      <p:sp>
        <p:nvSpPr>
          <p:cNvPr id="8" name="Text 4"/>
          <p:cNvSpPr/>
          <p:nvPr/>
        </p:nvSpPr>
        <p:spPr>
          <a:xfrm>
            <a:off x="649224" y="3566160"/>
            <a:ext cx="7845552" cy="182880"/>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EQUIPMENT STRATEGY</a:t>
            </a:r>
            <a:endParaRPr lang="en-US" sz="750" dirty="0"/>
          </a:p>
        </p:txBody>
      </p:sp>
      <p:sp>
        <p:nvSpPr>
          <p:cNvPr id="9" name="Text 5"/>
          <p:cNvSpPr/>
          <p:nvPr/>
        </p:nvSpPr>
        <p:spPr>
          <a:xfrm>
            <a:off x="649224" y="3767328"/>
            <a:ext cx="7845552" cy="640080"/>
          </a:xfrm>
          <a:prstGeom prst="rect">
            <a:avLst/>
          </a:prstGeom>
          <a:noFill/>
          <a:ln/>
        </p:spPr>
        <p:txBody>
          <a:bodyPr wrap="square" rtlCol="0" anchor="t"/>
          <a:lstStyle/>
          <a:p>
            <a:pPr indent="0" marL="0">
              <a:lnSpc>
                <a:spcPct val="120000"/>
              </a:lnSpc>
              <a:buNone/>
            </a:pPr>
            <a:r>
              <a:rPr lang="en-US" sz="900" dirty="0">
                <a:solidFill>
                  <a:srgbClr val="A8A296"/>
                </a:solidFill>
                <a:latin typeface="Calibri" pitchFamily="34" charset="0"/>
                <a:ea typeface="Calibri" pitchFamily="34" charset="-122"/>
                <a:cs typeface="Calibri" pitchFamily="34" charset="-120"/>
              </a:rPr>
              <a:t>Purchased where payback justifies it. Wet areas drive cost, plunges, saunas and steam carry a materially higher per-SF buildout than a dry medspa, which is why the lean case trims the contrast suite before it trims treatment rooms.</a:t>
            </a:r>
            <a:endParaRPr lang="en-US" sz="90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CAPACITY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building can serve the memberships being sold.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Built bottom-up from station hours, not assumed. The circuit bottleneck is the cold plunge, not the sauna; the clinical bottleneck is treatment rooms.</a:t>
            </a:r>
            <a:endParaRPr lang="en-US" sz="1150" dirty="0"/>
          </a:p>
        </p:txBody>
      </p:sp>
      <p:sp>
        <p:nvSpPr>
          <p:cNvPr id="5" name="Shape 3"/>
          <p:cNvSpPr/>
          <p:nvPr/>
        </p:nvSpPr>
        <p:spPr>
          <a:xfrm>
            <a:off x="502920" y="2240280"/>
            <a:ext cx="3986784" cy="1554480"/>
          </a:xfrm>
          <a:prstGeom prst="roundRect">
            <a:avLst>
              <a:gd name="adj" fmla="val 3529"/>
            </a:avLst>
          </a:prstGeom>
          <a:solidFill>
            <a:srgbClr val="241C1A"/>
          </a:solidFill>
          <a:ln w="12700">
            <a:solidFill>
              <a:srgbClr val="C08D7C"/>
            </a:solidFill>
            <a:prstDash val="solid"/>
          </a:ln>
        </p:spPr>
      </p:sp>
      <p:sp>
        <p:nvSpPr>
          <p:cNvPr id="6" name="Text 4"/>
          <p:cNvSpPr/>
          <p:nvPr/>
        </p:nvSpPr>
        <p:spPr>
          <a:xfrm>
            <a:off x="649224" y="236829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73%</a:t>
            </a:r>
            <a:endParaRPr lang="en-US" sz="2000" dirty="0"/>
          </a:p>
        </p:txBody>
      </p:sp>
      <p:sp>
        <p:nvSpPr>
          <p:cNvPr id="7" name="Text 5"/>
          <p:cNvSpPr/>
          <p:nvPr/>
        </p:nvSpPr>
        <p:spPr>
          <a:xfrm>
            <a:off x="649224" y="2807208"/>
            <a:ext cx="3694176"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Recovery circuit utilization. 2,345 modeled visits against 3,192 practical capacity, leaving 847 visits of headroom.</a:t>
            </a:r>
            <a:endParaRPr lang="en-US" sz="900" dirty="0"/>
          </a:p>
        </p:txBody>
      </p:sp>
      <p:sp>
        <p:nvSpPr>
          <p:cNvPr id="8" name="Shape 6"/>
          <p:cNvSpPr/>
          <p:nvPr/>
        </p:nvSpPr>
        <p:spPr>
          <a:xfrm>
            <a:off x="4654296" y="2240280"/>
            <a:ext cx="3986784" cy="1554480"/>
          </a:xfrm>
          <a:prstGeom prst="roundRect">
            <a:avLst>
              <a:gd name="adj" fmla="val 3529"/>
            </a:avLst>
          </a:prstGeom>
          <a:solidFill>
            <a:srgbClr val="241C1A"/>
          </a:solidFill>
          <a:ln w="12700">
            <a:solidFill>
              <a:srgbClr val="C08D7C"/>
            </a:solidFill>
            <a:prstDash val="solid"/>
          </a:ln>
        </p:spPr>
      </p:sp>
      <p:sp>
        <p:nvSpPr>
          <p:cNvPr id="9" name="Text 7"/>
          <p:cNvSpPr/>
          <p:nvPr/>
        </p:nvSpPr>
        <p:spPr>
          <a:xfrm>
            <a:off x="4800600" y="236829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83%</a:t>
            </a:r>
            <a:endParaRPr lang="en-US" sz="2000" dirty="0"/>
          </a:p>
        </p:txBody>
      </p:sp>
      <p:sp>
        <p:nvSpPr>
          <p:cNvPr id="10" name="Text 8"/>
          <p:cNvSpPr/>
          <p:nvPr/>
        </p:nvSpPr>
        <p:spPr>
          <a:xfrm>
            <a:off x="4800600" y="2807208"/>
            <a:ext cx="3694176"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Treatment room utilization. 419 procedures against 507 practical capacity, leaving 88 slots of headroom.</a:t>
            </a:r>
            <a:endParaRPr lang="en-US" sz="900" dirty="0"/>
          </a:p>
        </p:txBody>
      </p:sp>
      <p:sp>
        <p:nvSpPr>
          <p:cNvPr id="11" name="Text 9"/>
          <p:cNvSpPr/>
          <p:nvPr/>
        </p:nvSpPr>
        <p:spPr>
          <a:xfrm>
            <a:off x="502920" y="3977640"/>
            <a:ext cx="8138160" cy="457200"/>
          </a:xfrm>
          <a:prstGeom prst="rect">
            <a:avLst/>
          </a:prstGeom>
          <a:noFill/>
          <a:ln/>
        </p:spPr>
        <p:txBody>
          <a:bodyPr wrap="square" rtlCol="0" anchor="ctr"/>
          <a:lstStyle/>
          <a:p>
            <a:pPr indent="0" marL="0">
              <a:lnSpc>
                <a:spcPct val="120000"/>
              </a:lnSpc>
              <a:buNone/>
            </a:pPr>
            <a:r>
              <a:rPr lang="en-US" sz="1000" dirty="0">
                <a:solidFill>
                  <a:srgbClr val="6E6A62"/>
                </a:solidFill>
                <a:latin typeface="Calibri" pitchFamily="34" charset="0"/>
                <a:ea typeface="Calibri" pitchFamily="34" charset="-122"/>
                <a:cs typeface="Calibri" pitchFamily="34" charset="-120"/>
              </a:rPr>
              <a:t>Practical capacity applies a utilization ceiling to theoretical station hours, because demand concentrates at peak times and nothing runs flat out. Headroom is the growth the facility can absorb without further capital.</a:t>
            </a:r>
            <a:endParaRPr lang="en-US" sz="1000" dirty="0"/>
          </a:p>
        </p:txBody>
      </p:sp>
      <p:sp>
        <p:nvSpPr>
          <p:cNvPr id="12" name="Text 1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3" name="Text 1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large, fast, cash-pay category.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 figure carries its source. Anything we could not source was cut rather than estimated.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Figure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Source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economy, 2024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Institute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medical spa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$27.8B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medical spas, 2023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10,488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consumers calling wellness a top or important priority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McKinsey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concierge medicine market by 2034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$19.4B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Cited in Patientfy longevity market map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adults currently taking a GLP-1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 in 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KFF</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retreats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Research and Markets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Silicon Beach, at its densest.</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Playa Vista is a master-planned innovation district on the old Hughes Aircraft site, and it has become the centre of gravity for the Westside’s technology, media, advertising and creator economy. Google, YouTube and Meta campuses sit within a walk of one another. LAX is four miles south, the studios fifteen minutes north, and the district was designed to be walked rather than driven.</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$129,942</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Playa Vista median household income. Against a Los Angeles County median well below it. This is a cash-pay market.  (US Census Bureau, via Point2Homes)</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500+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Technology companies in Silicon Beach. The Westside tech corridor that Playa Vista sits at the center of.  (Wikipedia, Silicon Beach)</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~5,100</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Employed at The Campus at Playa Vista. Up from roughly 2,000 in 2015, a 150% increase. A dense, high-income daytime population inside walking distance.  (Los Angeles Business Journal)</a:t>
            </a:r>
            <a:endParaRPr lang="en-US" sz="900" dirty="0"/>
          </a:p>
        </p:txBody>
      </p:sp>
      <p:sp>
        <p:nvSpPr>
          <p:cNvPr id="14" name="Text 12"/>
          <p:cNvSpPr/>
          <p:nvPr/>
        </p:nvSpPr>
        <p:spPr>
          <a:xfrm>
            <a:off x="502920" y="3520440"/>
            <a:ext cx="8138160"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INSIDE A REALISTIC DRIVE TIME</a:t>
            </a:r>
            <a:endParaRPr lang="en-US" sz="850" dirty="0"/>
          </a:p>
        </p:txBody>
      </p:sp>
      <p:sp>
        <p:nvSpPr>
          <p:cNvPr id="15" name="Text 13"/>
          <p:cNvSpPr/>
          <p:nvPr/>
        </p:nvSpPr>
        <p:spPr>
          <a:xfrm>
            <a:off x="502920" y="3749040"/>
            <a:ext cx="8138160" cy="457200"/>
          </a:xfrm>
          <a:prstGeom prst="rect">
            <a:avLst/>
          </a:prstGeom>
          <a:noFill/>
          <a:ln/>
        </p:spPr>
        <p:txBody>
          <a:bodyPr wrap="square" rtlCol="0" anchor="ctr"/>
          <a:lstStyle/>
          <a:p>
            <a:pPr indent="0" marL="0">
              <a:lnSpc>
                <a:spcPct val="120000"/>
              </a:lnSpc>
              <a:buNone/>
            </a:pPr>
            <a:r>
              <a:rPr lang="en-US" sz="1100" dirty="0">
                <a:solidFill>
                  <a:srgbClr val="A8A296"/>
                </a:solidFill>
                <a:latin typeface="Calibri" pitchFamily="34" charset="0"/>
                <a:ea typeface="Calibri" pitchFamily="34" charset="-122"/>
                <a:cs typeface="Calibri" pitchFamily="34" charset="-120"/>
              </a:rPr>
              <a:t>Playa Vista   ·   Marina del Rey   ·   Culver City   ·   Venice   ·   Santa Monica   ·   Playa del Rey   ·   El Segundo   ·   Westchester   ·   Mar Vista   ·   Manhattan Beach</a:t>
            </a:r>
            <a:endParaRPr lang="en-US" sz="11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(1 of 2).</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No insurance contracts, no payer mix, no receivables aging. Prices are exact, not banded.</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$11,480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$13,776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Red Light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$31,980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Compression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$10,125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$8,303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Hair &amp; Scalp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$32,835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$23,641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Face &amp; Aesthetic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$16,660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Scar &amp; Skin Repair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Soft Tissue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Joint &amp; Cartilage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Post-procedure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Basic Hydration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$7,029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Myers Cocktail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 Hangover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$8,466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Immunity / High-Dose 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$4,407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Subtotal, continued overleaf</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1,552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$247,496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$176,665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(2 of 2).</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Beauty / Glutathione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$9,405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Athletic Performance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$6,474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NAD+ 100mg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$5,347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NAD+ 250mg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$8,778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NAD+ 500mg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$14,157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 Shot: B12 / Lipo</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Therapeutic medications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Botox (15-unit minimum)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$13,440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Filler (0.5 ml)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$30,940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RF Microneedling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Laser Platform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Advanced Biometrics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DNA Analysis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DUTCH Plus Test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DEXA Scan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$6,949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Wellness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672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$259,625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$183,654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REVENUE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Membership revenue is not additive.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easy mistake is to stack membership fees on top of full a la carte revenue. Members draw down a credit bank against services that would otherwise be paid at list price, so redemption is netted out first.</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Build</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Service delivery at list value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$507,121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credit redemption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-$129,500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and Friends discount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-$30,210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A la carte revenue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$347,411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membership fees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day pass and access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$20,625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 REVENUE PER MONTH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$598,036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11480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Residents and Longevity members pay $207,500 a month and redeem $129,500 of service at retail. Redemption ratio 62.4%. If that exceeded 100% the credit bank would be underpriced; the model asserts it cannot.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RAMP</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Breakeven at month 10.</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Months one through six are construction and founding presales. Debt service is interest-only through construction and the ramp, then amortizes.</a:t>
            </a:r>
            <a:endParaRPr lang="en-US" sz="1150" dirty="0"/>
          </a:p>
        </p:txBody>
      </p:sp>
      <p:sp>
        <p:nvSpPr>
          <p:cNvPr id="5" name="Shape 3"/>
          <p:cNvSpPr/>
          <p:nvPr/>
        </p:nvSpPr>
        <p:spPr>
          <a:xfrm>
            <a:off x="502920" y="1572768"/>
            <a:ext cx="8138160" cy="2377440"/>
          </a:xfrm>
          <a:prstGeom prst="rect">
            <a:avLst/>
          </a:prstGeom>
          <a:solidFill>
            <a:srgbClr val="000000"/>
          </a:solidFill>
          <a:ln w="9525">
            <a:solidFill>
              <a:srgbClr val="2E4237"/>
            </a:solidFill>
            <a:prstDash val="solid"/>
          </a:ln>
        </p:spPr>
      </p:sp>
      <p:sp>
        <p:nvSpPr>
          <p:cNvPr id="6" name="Shape 4"/>
          <p:cNvSpPr/>
          <p:nvPr/>
        </p:nvSpPr>
        <p:spPr>
          <a:xfrm>
            <a:off x="502920" y="3323338"/>
            <a:ext cx="8138160" cy="10973"/>
          </a:xfrm>
          <a:prstGeom prst="rect">
            <a:avLst/>
          </a:prstGeom>
          <a:solidFill>
            <a:srgbClr val="2E4237"/>
          </a:solidFill>
          <a:ln w="12700">
            <a:solidFill>
              <a:srgbClr val="2E4237"/>
            </a:solidFill>
            <a:prstDash val="solid"/>
          </a:ln>
        </p:spPr>
      </p:sp>
      <p:sp>
        <p:nvSpPr>
          <p:cNvPr id="7" name="Shape 5"/>
          <p:cNvSpPr/>
          <p:nvPr/>
        </p:nvSpPr>
        <p:spPr>
          <a:xfrm>
            <a:off x="539090" y="3323338"/>
            <a:ext cx="153721" cy="566013"/>
          </a:xfrm>
          <a:prstGeom prst="rect">
            <a:avLst/>
          </a:prstGeom>
          <a:solidFill>
            <a:srgbClr val="2E4237"/>
          </a:solidFill>
          <a:ln w="12700">
            <a:solidFill>
              <a:srgbClr val="2E4237"/>
            </a:solidFill>
            <a:prstDash val="solid"/>
          </a:ln>
        </p:spPr>
      </p:sp>
      <p:sp>
        <p:nvSpPr>
          <p:cNvPr id="8" name="Shape 6"/>
          <p:cNvSpPr/>
          <p:nvPr/>
        </p:nvSpPr>
        <p:spPr>
          <a:xfrm>
            <a:off x="765150" y="3323338"/>
            <a:ext cx="153721" cy="566013"/>
          </a:xfrm>
          <a:prstGeom prst="rect">
            <a:avLst/>
          </a:prstGeom>
          <a:solidFill>
            <a:srgbClr val="2E4237"/>
          </a:solidFill>
          <a:ln w="12700">
            <a:solidFill>
              <a:srgbClr val="2E4237"/>
            </a:solidFill>
            <a:prstDash val="solid"/>
          </a:ln>
        </p:spPr>
      </p:sp>
      <p:sp>
        <p:nvSpPr>
          <p:cNvPr id="9" name="Shape 7"/>
          <p:cNvSpPr/>
          <p:nvPr/>
        </p:nvSpPr>
        <p:spPr>
          <a:xfrm>
            <a:off x="991210" y="3323338"/>
            <a:ext cx="153721" cy="566013"/>
          </a:xfrm>
          <a:prstGeom prst="rect">
            <a:avLst/>
          </a:prstGeom>
          <a:solidFill>
            <a:srgbClr val="2E4237"/>
          </a:solidFill>
          <a:ln w="12700">
            <a:solidFill>
              <a:srgbClr val="2E4237"/>
            </a:solidFill>
            <a:prstDash val="solid"/>
          </a:ln>
        </p:spPr>
      </p:sp>
      <p:sp>
        <p:nvSpPr>
          <p:cNvPr id="10" name="Shape 8"/>
          <p:cNvSpPr/>
          <p:nvPr/>
        </p:nvSpPr>
        <p:spPr>
          <a:xfrm>
            <a:off x="1217270" y="3323338"/>
            <a:ext cx="153721" cy="566013"/>
          </a:xfrm>
          <a:prstGeom prst="rect">
            <a:avLst/>
          </a:prstGeom>
          <a:solidFill>
            <a:srgbClr val="2E4237"/>
          </a:solidFill>
          <a:ln w="12700">
            <a:solidFill>
              <a:srgbClr val="2E4237"/>
            </a:solidFill>
            <a:prstDash val="solid"/>
          </a:ln>
        </p:spPr>
      </p:sp>
      <p:sp>
        <p:nvSpPr>
          <p:cNvPr id="11" name="Shape 9"/>
          <p:cNvSpPr/>
          <p:nvPr/>
        </p:nvSpPr>
        <p:spPr>
          <a:xfrm>
            <a:off x="1443330" y="3323338"/>
            <a:ext cx="153721" cy="566013"/>
          </a:xfrm>
          <a:prstGeom prst="rect">
            <a:avLst/>
          </a:prstGeom>
          <a:solidFill>
            <a:srgbClr val="2E4237"/>
          </a:solidFill>
          <a:ln w="12700">
            <a:solidFill>
              <a:srgbClr val="2E4237"/>
            </a:solidFill>
            <a:prstDash val="solid"/>
          </a:ln>
        </p:spPr>
      </p:sp>
      <p:sp>
        <p:nvSpPr>
          <p:cNvPr id="12" name="Shape 10"/>
          <p:cNvSpPr/>
          <p:nvPr/>
        </p:nvSpPr>
        <p:spPr>
          <a:xfrm>
            <a:off x="1669390" y="3323338"/>
            <a:ext cx="153721" cy="566013"/>
          </a:xfrm>
          <a:prstGeom prst="rect">
            <a:avLst/>
          </a:prstGeom>
          <a:solidFill>
            <a:srgbClr val="2E4237"/>
          </a:solidFill>
          <a:ln w="12700">
            <a:solidFill>
              <a:srgbClr val="2E4237"/>
            </a:solidFill>
            <a:prstDash val="solid"/>
          </a:ln>
        </p:spPr>
      </p:sp>
      <p:sp>
        <p:nvSpPr>
          <p:cNvPr id="13" name="Text 11"/>
          <p:cNvSpPr/>
          <p:nvPr/>
        </p:nvSpPr>
        <p:spPr>
          <a:xfrm>
            <a:off x="14433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M6</a:t>
            </a:r>
            <a:endParaRPr lang="en-US" sz="700" dirty="0"/>
          </a:p>
        </p:txBody>
      </p:sp>
      <p:sp>
        <p:nvSpPr>
          <p:cNvPr id="14" name="Shape 12"/>
          <p:cNvSpPr/>
          <p:nvPr/>
        </p:nvSpPr>
        <p:spPr>
          <a:xfrm>
            <a:off x="1895450" y="3323338"/>
            <a:ext cx="153721" cy="626870"/>
          </a:xfrm>
          <a:prstGeom prst="rect">
            <a:avLst/>
          </a:prstGeom>
          <a:solidFill>
            <a:srgbClr val="2E4237"/>
          </a:solidFill>
          <a:ln w="12700">
            <a:solidFill>
              <a:srgbClr val="2E4237"/>
            </a:solidFill>
            <a:prstDash val="solid"/>
          </a:ln>
        </p:spPr>
      </p:sp>
      <p:sp>
        <p:nvSpPr>
          <p:cNvPr id="15" name="Shape 13"/>
          <p:cNvSpPr/>
          <p:nvPr/>
        </p:nvSpPr>
        <p:spPr>
          <a:xfrm>
            <a:off x="2121510" y="3323338"/>
            <a:ext cx="153721" cy="391128"/>
          </a:xfrm>
          <a:prstGeom prst="rect">
            <a:avLst/>
          </a:prstGeom>
          <a:solidFill>
            <a:srgbClr val="2E4237"/>
          </a:solidFill>
          <a:ln w="12700">
            <a:solidFill>
              <a:srgbClr val="2E4237"/>
            </a:solidFill>
            <a:prstDash val="solid"/>
          </a:ln>
        </p:spPr>
      </p:sp>
      <p:sp>
        <p:nvSpPr>
          <p:cNvPr id="16" name="Shape 14"/>
          <p:cNvSpPr/>
          <p:nvPr/>
        </p:nvSpPr>
        <p:spPr>
          <a:xfrm>
            <a:off x="2347570" y="3323338"/>
            <a:ext cx="153721" cy="121706"/>
          </a:xfrm>
          <a:prstGeom prst="rect">
            <a:avLst/>
          </a:prstGeom>
          <a:solidFill>
            <a:srgbClr val="2E4237"/>
          </a:solidFill>
          <a:ln w="12700">
            <a:solidFill>
              <a:srgbClr val="2E4237"/>
            </a:solidFill>
            <a:prstDash val="solid"/>
          </a:ln>
        </p:spPr>
      </p:sp>
      <p:sp>
        <p:nvSpPr>
          <p:cNvPr id="17" name="Shape 15"/>
          <p:cNvSpPr/>
          <p:nvPr/>
        </p:nvSpPr>
        <p:spPr>
          <a:xfrm>
            <a:off x="2573630" y="3242974"/>
            <a:ext cx="153721" cy="80364"/>
          </a:xfrm>
          <a:prstGeom prst="rect">
            <a:avLst/>
          </a:prstGeom>
          <a:solidFill>
            <a:srgbClr val="C08D7C"/>
          </a:solidFill>
          <a:ln w="12700">
            <a:solidFill>
              <a:srgbClr val="C08D7C"/>
            </a:solidFill>
            <a:prstDash val="solid"/>
          </a:ln>
        </p:spPr>
      </p:sp>
      <p:sp>
        <p:nvSpPr>
          <p:cNvPr id="18" name="Shape 16"/>
          <p:cNvSpPr/>
          <p:nvPr/>
        </p:nvSpPr>
        <p:spPr>
          <a:xfrm>
            <a:off x="2799690" y="3040912"/>
            <a:ext cx="153721" cy="282426"/>
          </a:xfrm>
          <a:prstGeom prst="rect">
            <a:avLst/>
          </a:prstGeom>
          <a:solidFill>
            <a:srgbClr val="C08D7C"/>
          </a:solidFill>
          <a:ln w="12700">
            <a:solidFill>
              <a:srgbClr val="C08D7C"/>
            </a:solidFill>
            <a:prstDash val="solid"/>
          </a:ln>
        </p:spPr>
      </p:sp>
      <p:sp>
        <p:nvSpPr>
          <p:cNvPr id="19" name="Shape 17"/>
          <p:cNvSpPr/>
          <p:nvPr/>
        </p:nvSpPr>
        <p:spPr>
          <a:xfrm>
            <a:off x="3025750" y="2838850"/>
            <a:ext cx="153721" cy="484488"/>
          </a:xfrm>
          <a:prstGeom prst="rect">
            <a:avLst/>
          </a:prstGeom>
          <a:solidFill>
            <a:srgbClr val="C08D7C"/>
          </a:solidFill>
          <a:ln w="12700">
            <a:solidFill>
              <a:srgbClr val="C08D7C"/>
            </a:solidFill>
            <a:prstDash val="solid"/>
          </a:ln>
        </p:spPr>
      </p:sp>
      <p:sp>
        <p:nvSpPr>
          <p:cNvPr id="20" name="Text 18"/>
          <p:cNvSpPr/>
          <p:nvPr/>
        </p:nvSpPr>
        <p:spPr>
          <a:xfrm>
            <a:off x="279969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M12</a:t>
            </a:r>
            <a:endParaRPr lang="en-US" sz="700" dirty="0"/>
          </a:p>
        </p:txBody>
      </p:sp>
      <p:sp>
        <p:nvSpPr>
          <p:cNvPr id="21" name="Shape 19"/>
          <p:cNvSpPr/>
          <p:nvPr/>
        </p:nvSpPr>
        <p:spPr>
          <a:xfrm>
            <a:off x="3251810" y="2636780"/>
            <a:ext cx="153721" cy="686559"/>
          </a:xfrm>
          <a:prstGeom prst="rect">
            <a:avLst/>
          </a:prstGeom>
          <a:solidFill>
            <a:srgbClr val="C08D7C"/>
          </a:solidFill>
          <a:ln w="12700">
            <a:solidFill>
              <a:srgbClr val="C08D7C"/>
            </a:solidFill>
            <a:prstDash val="solid"/>
          </a:ln>
        </p:spPr>
      </p:sp>
      <p:sp>
        <p:nvSpPr>
          <p:cNvPr id="22" name="Shape 20"/>
          <p:cNvSpPr/>
          <p:nvPr/>
        </p:nvSpPr>
        <p:spPr>
          <a:xfrm>
            <a:off x="3477870" y="2502069"/>
            <a:ext cx="153721" cy="821269"/>
          </a:xfrm>
          <a:prstGeom prst="rect">
            <a:avLst/>
          </a:prstGeom>
          <a:solidFill>
            <a:srgbClr val="C08D7C"/>
          </a:solidFill>
          <a:ln w="12700">
            <a:solidFill>
              <a:srgbClr val="C08D7C"/>
            </a:solidFill>
            <a:prstDash val="solid"/>
          </a:ln>
        </p:spPr>
      </p:sp>
      <p:sp>
        <p:nvSpPr>
          <p:cNvPr id="23" name="Shape 21"/>
          <p:cNvSpPr/>
          <p:nvPr/>
        </p:nvSpPr>
        <p:spPr>
          <a:xfrm>
            <a:off x="3703930" y="2367358"/>
            <a:ext cx="153721" cy="955980"/>
          </a:xfrm>
          <a:prstGeom prst="rect">
            <a:avLst/>
          </a:prstGeom>
          <a:solidFill>
            <a:srgbClr val="C08D7C"/>
          </a:solidFill>
          <a:ln w="12700">
            <a:solidFill>
              <a:srgbClr val="C08D7C"/>
            </a:solidFill>
            <a:prstDash val="solid"/>
          </a:ln>
        </p:spPr>
      </p:sp>
      <p:sp>
        <p:nvSpPr>
          <p:cNvPr id="24" name="Shape 22"/>
          <p:cNvSpPr/>
          <p:nvPr/>
        </p:nvSpPr>
        <p:spPr>
          <a:xfrm>
            <a:off x="3929990" y="2232648"/>
            <a:ext cx="153721" cy="1090691"/>
          </a:xfrm>
          <a:prstGeom prst="rect">
            <a:avLst/>
          </a:prstGeom>
          <a:solidFill>
            <a:srgbClr val="C08D7C"/>
          </a:solidFill>
          <a:ln w="12700">
            <a:solidFill>
              <a:srgbClr val="C08D7C"/>
            </a:solidFill>
            <a:prstDash val="solid"/>
          </a:ln>
        </p:spPr>
      </p:sp>
      <p:sp>
        <p:nvSpPr>
          <p:cNvPr id="25" name="Shape 23"/>
          <p:cNvSpPr/>
          <p:nvPr/>
        </p:nvSpPr>
        <p:spPr>
          <a:xfrm>
            <a:off x="4156050" y="2097937"/>
            <a:ext cx="153721" cy="1225402"/>
          </a:xfrm>
          <a:prstGeom prst="rect">
            <a:avLst/>
          </a:prstGeom>
          <a:solidFill>
            <a:srgbClr val="C08D7C"/>
          </a:solidFill>
          <a:ln w="12700">
            <a:solidFill>
              <a:srgbClr val="C08D7C"/>
            </a:solidFill>
            <a:prstDash val="solid"/>
          </a:ln>
        </p:spPr>
      </p:sp>
      <p:sp>
        <p:nvSpPr>
          <p:cNvPr id="26" name="Shape 24"/>
          <p:cNvSpPr/>
          <p:nvPr/>
        </p:nvSpPr>
        <p:spPr>
          <a:xfrm>
            <a:off x="4382110" y="2045420"/>
            <a:ext cx="153721" cy="1277918"/>
          </a:xfrm>
          <a:prstGeom prst="rect">
            <a:avLst/>
          </a:prstGeom>
          <a:solidFill>
            <a:srgbClr val="C08D7C"/>
          </a:solidFill>
          <a:ln w="12700">
            <a:solidFill>
              <a:srgbClr val="C08D7C"/>
            </a:solidFill>
            <a:prstDash val="solid"/>
          </a:ln>
        </p:spPr>
      </p:sp>
      <p:sp>
        <p:nvSpPr>
          <p:cNvPr id="27" name="Text 25"/>
          <p:cNvSpPr/>
          <p:nvPr/>
        </p:nvSpPr>
        <p:spPr>
          <a:xfrm>
            <a:off x="415605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M18</a:t>
            </a:r>
            <a:endParaRPr lang="en-US" sz="700" dirty="0"/>
          </a:p>
        </p:txBody>
      </p:sp>
      <p:sp>
        <p:nvSpPr>
          <p:cNvPr id="28" name="Shape 26"/>
          <p:cNvSpPr/>
          <p:nvPr/>
        </p:nvSpPr>
        <p:spPr>
          <a:xfrm>
            <a:off x="4608170" y="1992903"/>
            <a:ext cx="153721" cy="1330435"/>
          </a:xfrm>
          <a:prstGeom prst="rect">
            <a:avLst/>
          </a:prstGeom>
          <a:solidFill>
            <a:srgbClr val="C08D7C"/>
          </a:solidFill>
          <a:ln w="12700">
            <a:solidFill>
              <a:srgbClr val="C08D7C"/>
            </a:solidFill>
            <a:prstDash val="solid"/>
          </a:ln>
        </p:spPr>
      </p:sp>
      <p:sp>
        <p:nvSpPr>
          <p:cNvPr id="29" name="Shape 27"/>
          <p:cNvSpPr/>
          <p:nvPr/>
        </p:nvSpPr>
        <p:spPr>
          <a:xfrm>
            <a:off x="4834230" y="1940386"/>
            <a:ext cx="153721" cy="1382952"/>
          </a:xfrm>
          <a:prstGeom prst="rect">
            <a:avLst/>
          </a:prstGeom>
          <a:solidFill>
            <a:srgbClr val="C08D7C"/>
          </a:solidFill>
          <a:ln w="12700">
            <a:solidFill>
              <a:srgbClr val="C08D7C"/>
            </a:solidFill>
            <a:prstDash val="solid"/>
          </a:ln>
        </p:spPr>
      </p:sp>
      <p:sp>
        <p:nvSpPr>
          <p:cNvPr id="30" name="Shape 28"/>
          <p:cNvSpPr/>
          <p:nvPr/>
        </p:nvSpPr>
        <p:spPr>
          <a:xfrm>
            <a:off x="5060290" y="1887869"/>
            <a:ext cx="153721" cy="1435469"/>
          </a:xfrm>
          <a:prstGeom prst="rect">
            <a:avLst/>
          </a:prstGeom>
          <a:solidFill>
            <a:srgbClr val="C08D7C"/>
          </a:solidFill>
          <a:ln w="12700">
            <a:solidFill>
              <a:srgbClr val="C08D7C"/>
            </a:solidFill>
            <a:prstDash val="solid"/>
          </a:ln>
        </p:spPr>
      </p:sp>
      <p:sp>
        <p:nvSpPr>
          <p:cNvPr id="31" name="Shape 29"/>
          <p:cNvSpPr/>
          <p:nvPr/>
        </p:nvSpPr>
        <p:spPr>
          <a:xfrm>
            <a:off x="5286350" y="1835352"/>
            <a:ext cx="153721" cy="1487986"/>
          </a:xfrm>
          <a:prstGeom prst="rect">
            <a:avLst/>
          </a:prstGeom>
          <a:solidFill>
            <a:srgbClr val="C08D7C"/>
          </a:solidFill>
          <a:ln w="12700">
            <a:solidFill>
              <a:srgbClr val="C08D7C"/>
            </a:solidFill>
            <a:prstDash val="solid"/>
          </a:ln>
        </p:spPr>
      </p:sp>
      <p:sp>
        <p:nvSpPr>
          <p:cNvPr id="32" name="Shape 30"/>
          <p:cNvSpPr/>
          <p:nvPr/>
        </p:nvSpPr>
        <p:spPr>
          <a:xfrm>
            <a:off x="5512410" y="1800341"/>
            <a:ext cx="153721" cy="1522997"/>
          </a:xfrm>
          <a:prstGeom prst="rect">
            <a:avLst/>
          </a:prstGeom>
          <a:solidFill>
            <a:srgbClr val="C08D7C"/>
          </a:solidFill>
          <a:ln w="12700">
            <a:solidFill>
              <a:srgbClr val="C08D7C"/>
            </a:solidFill>
            <a:prstDash val="solid"/>
          </a:ln>
        </p:spPr>
      </p:sp>
      <p:sp>
        <p:nvSpPr>
          <p:cNvPr id="33" name="Shape 31"/>
          <p:cNvSpPr/>
          <p:nvPr/>
        </p:nvSpPr>
        <p:spPr>
          <a:xfrm>
            <a:off x="5738470" y="1765330"/>
            <a:ext cx="153721" cy="1558009"/>
          </a:xfrm>
          <a:prstGeom prst="rect">
            <a:avLst/>
          </a:prstGeom>
          <a:solidFill>
            <a:srgbClr val="C08D7C"/>
          </a:solidFill>
          <a:ln w="12700">
            <a:solidFill>
              <a:srgbClr val="C08D7C"/>
            </a:solidFill>
            <a:prstDash val="solid"/>
          </a:ln>
        </p:spPr>
      </p:sp>
      <p:sp>
        <p:nvSpPr>
          <p:cNvPr id="34" name="Text 32"/>
          <p:cNvSpPr/>
          <p:nvPr/>
        </p:nvSpPr>
        <p:spPr>
          <a:xfrm>
            <a:off x="551241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M24</a:t>
            </a:r>
            <a:endParaRPr lang="en-US" sz="700" dirty="0"/>
          </a:p>
        </p:txBody>
      </p:sp>
      <p:sp>
        <p:nvSpPr>
          <p:cNvPr id="35" name="Shape 33"/>
          <p:cNvSpPr/>
          <p:nvPr/>
        </p:nvSpPr>
        <p:spPr>
          <a:xfrm>
            <a:off x="5964530" y="1730319"/>
            <a:ext cx="153721" cy="1593020"/>
          </a:xfrm>
          <a:prstGeom prst="rect">
            <a:avLst/>
          </a:prstGeom>
          <a:solidFill>
            <a:srgbClr val="C08D7C"/>
          </a:solidFill>
          <a:ln w="12700">
            <a:solidFill>
              <a:srgbClr val="C08D7C"/>
            </a:solidFill>
            <a:prstDash val="solid"/>
          </a:ln>
        </p:spPr>
      </p:sp>
      <p:sp>
        <p:nvSpPr>
          <p:cNvPr id="36" name="Shape 34"/>
          <p:cNvSpPr/>
          <p:nvPr/>
        </p:nvSpPr>
        <p:spPr>
          <a:xfrm>
            <a:off x="6190590" y="1695307"/>
            <a:ext cx="153721" cy="1628031"/>
          </a:xfrm>
          <a:prstGeom prst="rect">
            <a:avLst/>
          </a:prstGeom>
          <a:solidFill>
            <a:srgbClr val="C08D7C"/>
          </a:solidFill>
          <a:ln w="12700">
            <a:solidFill>
              <a:srgbClr val="C08D7C"/>
            </a:solidFill>
            <a:prstDash val="solid"/>
          </a:ln>
        </p:spPr>
      </p:sp>
      <p:sp>
        <p:nvSpPr>
          <p:cNvPr id="37" name="Shape 35"/>
          <p:cNvSpPr/>
          <p:nvPr/>
        </p:nvSpPr>
        <p:spPr>
          <a:xfrm>
            <a:off x="6416650" y="1677802"/>
            <a:ext cx="153721" cy="1645537"/>
          </a:xfrm>
          <a:prstGeom prst="rect">
            <a:avLst/>
          </a:prstGeom>
          <a:solidFill>
            <a:srgbClr val="C08D7C"/>
          </a:solidFill>
          <a:ln w="12700">
            <a:solidFill>
              <a:srgbClr val="C08D7C"/>
            </a:solidFill>
            <a:prstDash val="solid"/>
          </a:ln>
        </p:spPr>
      </p:sp>
      <p:sp>
        <p:nvSpPr>
          <p:cNvPr id="38" name="Shape 36"/>
          <p:cNvSpPr/>
          <p:nvPr/>
        </p:nvSpPr>
        <p:spPr>
          <a:xfrm>
            <a:off x="6642710" y="1642791"/>
            <a:ext cx="153721" cy="1680548"/>
          </a:xfrm>
          <a:prstGeom prst="rect">
            <a:avLst/>
          </a:prstGeom>
          <a:solidFill>
            <a:srgbClr val="C08D7C"/>
          </a:solidFill>
          <a:ln w="12700">
            <a:solidFill>
              <a:srgbClr val="C08D7C"/>
            </a:solidFill>
            <a:prstDash val="solid"/>
          </a:ln>
        </p:spPr>
      </p:sp>
      <p:sp>
        <p:nvSpPr>
          <p:cNvPr id="39" name="Shape 37"/>
          <p:cNvSpPr/>
          <p:nvPr/>
        </p:nvSpPr>
        <p:spPr>
          <a:xfrm>
            <a:off x="6868770" y="1625285"/>
            <a:ext cx="153721" cy="1698054"/>
          </a:xfrm>
          <a:prstGeom prst="rect">
            <a:avLst/>
          </a:prstGeom>
          <a:solidFill>
            <a:srgbClr val="C08D7C"/>
          </a:solidFill>
          <a:ln w="12700">
            <a:solidFill>
              <a:srgbClr val="C08D7C"/>
            </a:solidFill>
            <a:prstDash val="solid"/>
          </a:ln>
        </p:spPr>
      </p:sp>
      <p:sp>
        <p:nvSpPr>
          <p:cNvPr id="40" name="Shape 38"/>
          <p:cNvSpPr/>
          <p:nvPr/>
        </p:nvSpPr>
        <p:spPr>
          <a:xfrm>
            <a:off x="7094830" y="1607779"/>
            <a:ext cx="153721" cy="1715559"/>
          </a:xfrm>
          <a:prstGeom prst="rect">
            <a:avLst/>
          </a:prstGeom>
          <a:solidFill>
            <a:srgbClr val="C08D7C"/>
          </a:solidFill>
          <a:ln w="12700">
            <a:solidFill>
              <a:srgbClr val="C08D7C"/>
            </a:solidFill>
            <a:prstDash val="solid"/>
          </a:ln>
        </p:spPr>
      </p:sp>
      <p:sp>
        <p:nvSpPr>
          <p:cNvPr id="41" name="Text 39"/>
          <p:cNvSpPr/>
          <p:nvPr/>
        </p:nvSpPr>
        <p:spPr>
          <a:xfrm>
            <a:off x="686877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M30</a:t>
            </a:r>
            <a:endParaRPr lang="en-US" sz="700" dirty="0"/>
          </a:p>
        </p:txBody>
      </p:sp>
      <p:sp>
        <p:nvSpPr>
          <p:cNvPr id="42" name="Shape 40"/>
          <p:cNvSpPr/>
          <p:nvPr/>
        </p:nvSpPr>
        <p:spPr>
          <a:xfrm>
            <a:off x="7320890" y="1590274"/>
            <a:ext cx="153721" cy="1733065"/>
          </a:xfrm>
          <a:prstGeom prst="rect">
            <a:avLst/>
          </a:prstGeom>
          <a:solidFill>
            <a:srgbClr val="C08D7C"/>
          </a:solidFill>
          <a:ln w="12700">
            <a:solidFill>
              <a:srgbClr val="C08D7C"/>
            </a:solidFill>
            <a:prstDash val="solid"/>
          </a:ln>
        </p:spPr>
      </p:sp>
      <p:sp>
        <p:nvSpPr>
          <p:cNvPr id="43" name="Shape 41"/>
          <p:cNvSpPr/>
          <p:nvPr/>
        </p:nvSpPr>
        <p:spPr>
          <a:xfrm>
            <a:off x="7546950" y="1572768"/>
            <a:ext cx="153721" cy="1750570"/>
          </a:xfrm>
          <a:prstGeom prst="rect">
            <a:avLst/>
          </a:prstGeom>
          <a:solidFill>
            <a:srgbClr val="C08D7C"/>
          </a:solidFill>
          <a:ln w="12700">
            <a:solidFill>
              <a:srgbClr val="C08D7C"/>
            </a:solidFill>
            <a:prstDash val="solid"/>
          </a:ln>
        </p:spPr>
      </p:sp>
      <p:sp>
        <p:nvSpPr>
          <p:cNvPr id="44" name="Shape 42"/>
          <p:cNvSpPr/>
          <p:nvPr/>
        </p:nvSpPr>
        <p:spPr>
          <a:xfrm>
            <a:off x="7773010" y="1572768"/>
            <a:ext cx="153721" cy="1750570"/>
          </a:xfrm>
          <a:prstGeom prst="rect">
            <a:avLst/>
          </a:prstGeom>
          <a:solidFill>
            <a:srgbClr val="C08D7C"/>
          </a:solidFill>
          <a:ln w="12700">
            <a:solidFill>
              <a:srgbClr val="C08D7C"/>
            </a:solidFill>
            <a:prstDash val="solid"/>
          </a:ln>
        </p:spPr>
      </p:sp>
      <p:sp>
        <p:nvSpPr>
          <p:cNvPr id="45" name="Shape 43"/>
          <p:cNvSpPr/>
          <p:nvPr/>
        </p:nvSpPr>
        <p:spPr>
          <a:xfrm>
            <a:off x="7999070" y="1572768"/>
            <a:ext cx="153721" cy="1750570"/>
          </a:xfrm>
          <a:prstGeom prst="rect">
            <a:avLst/>
          </a:prstGeom>
          <a:solidFill>
            <a:srgbClr val="C08D7C"/>
          </a:solidFill>
          <a:ln w="12700">
            <a:solidFill>
              <a:srgbClr val="C08D7C"/>
            </a:solidFill>
            <a:prstDash val="solid"/>
          </a:ln>
        </p:spPr>
      </p:sp>
      <p:sp>
        <p:nvSpPr>
          <p:cNvPr id="46" name="Shape 44"/>
          <p:cNvSpPr/>
          <p:nvPr/>
        </p:nvSpPr>
        <p:spPr>
          <a:xfrm>
            <a:off x="8225130" y="1572768"/>
            <a:ext cx="153721" cy="1750570"/>
          </a:xfrm>
          <a:prstGeom prst="rect">
            <a:avLst/>
          </a:prstGeom>
          <a:solidFill>
            <a:srgbClr val="C08D7C"/>
          </a:solidFill>
          <a:ln w="12700">
            <a:solidFill>
              <a:srgbClr val="C08D7C"/>
            </a:solidFill>
            <a:prstDash val="solid"/>
          </a:ln>
        </p:spPr>
      </p:sp>
      <p:sp>
        <p:nvSpPr>
          <p:cNvPr id="47" name="Shape 45"/>
          <p:cNvSpPr/>
          <p:nvPr/>
        </p:nvSpPr>
        <p:spPr>
          <a:xfrm>
            <a:off x="8451190" y="1572768"/>
            <a:ext cx="153721" cy="1750570"/>
          </a:xfrm>
          <a:prstGeom prst="rect">
            <a:avLst/>
          </a:prstGeom>
          <a:solidFill>
            <a:srgbClr val="C08D7C"/>
          </a:solidFill>
          <a:ln w="12700">
            <a:solidFill>
              <a:srgbClr val="C08D7C"/>
            </a:solidFill>
            <a:prstDash val="solid"/>
          </a:ln>
        </p:spPr>
      </p:sp>
      <p:sp>
        <p:nvSpPr>
          <p:cNvPr id="48" name="Text 46"/>
          <p:cNvSpPr/>
          <p:nvPr/>
        </p:nvSpPr>
        <p:spPr>
          <a:xfrm>
            <a:off x="82251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M36</a:t>
            </a:r>
            <a:endParaRPr lang="en-US" sz="700" dirty="0"/>
          </a:p>
        </p:txBody>
      </p:sp>
      <p:sp>
        <p:nvSpPr>
          <p:cNvPr id="49" name="Text 47"/>
          <p:cNvSpPr/>
          <p:nvPr/>
        </p:nvSpPr>
        <p:spPr>
          <a:xfrm>
            <a:off x="576072" y="1618488"/>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$224,801 / mo</a:t>
            </a:r>
            <a:endParaRPr lang="en-US" sz="700" dirty="0"/>
          </a:p>
        </p:txBody>
      </p:sp>
      <p:sp>
        <p:nvSpPr>
          <p:cNvPr id="50" name="Text 48"/>
          <p:cNvSpPr/>
          <p:nvPr/>
        </p:nvSpPr>
        <p:spPr>
          <a:xfrm>
            <a:off x="576072" y="3749040"/>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$-80,500 / mo</a:t>
            </a:r>
            <a:endParaRPr lang="en-US" sz="700" dirty="0"/>
          </a:p>
        </p:txBody>
      </p:sp>
      <p:sp>
        <p:nvSpPr>
          <p:cNvPr id="51" name="Text 49"/>
          <p:cNvSpPr/>
          <p:nvPr/>
        </p:nvSpPr>
        <p:spPr>
          <a:xfrm>
            <a:off x="502920" y="4206240"/>
            <a:ext cx="8138160" cy="365760"/>
          </a:xfrm>
          <a:prstGeom prst="rect">
            <a:avLst/>
          </a:prstGeom>
          <a:noFill/>
          <a:ln/>
        </p:spPr>
        <p:txBody>
          <a:bodyPr wrap="square" rtlCol="0" anchor="ctr"/>
          <a:lstStyle/>
          <a:p>
            <a:pPr indent="0" marL="0">
              <a:buNone/>
            </a:pPr>
            <a:r>
              <a:rPr lang="en-US" sz="950" dirty="0">
                <a:solidFill>
                  <a:srgbClr val="A8A296"/>
                </a:solidFill>
                <a:latin typeface="Calibri" pitchFamily="34" charset="0"/>
                <a:ea typeface="Calibri" pitchFamily="34" charset="-122"/>
                <a:cs typeface="Calibri" pitchFamily="34" charset="-120"/>
              </a:rPr>
              <a:t>Cash trough -$184,543 at month 10, against a $1,105,800 working capital and debt service reserve funded inside use of funds.</a:t>
            </a:r>
            <a:endParaRPr lang="en-US" sz="950" dirty="0"/>
          </a:p>
        </p:txBody>
      </p:sp>
      <p:sp>
        <p:nvSpPr>
          <p:cNvPr id="52" name="Text 5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53" name="Text 5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STABILIZED P&amp;L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Monthly, at stabilization. Projected.</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4480560"/>
                <a:gridCol w="1828800"/>
                <a:gridCol w="182880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Line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 of revenue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Total revenue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$598,036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Cost of services delivered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-$146,803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Circuit consumables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-$18,760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Net after COGS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$432,473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72%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Rent (4,925 SF NNN)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-$27,088</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Clinical and club staff</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-$85,920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Admin and management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Marketing and member acquisition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Malpractice and liability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Equipment leases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-$16,555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Utilities, software, member platform</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Licensing and compliance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Total fixed overhead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-$207,673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OPERATING INCOME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$224,801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38%</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we are wrong, how wrong can we afford to be?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Volume flexed against the base case with fixed overhead held constant, which is the conservative treatment.</a:t>
            </a:r>
            <a:endParaRPr lang="en-US" sz="1150" dirty="0"/>
          </a:p>
        </p:txBody>
      </p:sp>
      <p:sp>
        <p:nvSpPr>
          <p:cNvPr id="5" name="Shape 3"/>
          <p:cNvSpPr/>
          <p:nvPr/>
        </p:nvSpPr>
        <p:spPr>
          <a:xfrm>
            <a:off x="502920" y="1691640"/>
            <a:ext cx="2602992" cy="2468880"/>
          </a:xfrm>
          <a:prstGeom prst="roundRect">
            <a:avLst>
              <a:gd name="adj" fmla="val 2222"/>
            </a:avLst>
          </a:prstGeom>
          <a:solidFill>
            <a:srgbClr val="16241C"/>
          </a:solidFill>
          <a:ln w="12700">
            <a:solidFill>
              <a:srgbClr val="2E4237"/>
            </a:solidFill>
            <a:prstDash val="solid"/>
          </a:ln>
        </p:spPr>
      </p:sp>
      <p:sp>
        <p:nvSpPr>
          <p:cNvPr id="6" name="Text 4"/>
          <p:cNvSpPr/>
          <p:nvPr/>
        </p:nvSpPr>
        <p:spPr>
          <a:xfrm>
            <a:off x="649224"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LOW</a:t>
            </a:r>
            <a:endParaRPr lang="en-US" sz="850" dirty="0"/>
          </a:p>
        </p:txBody>
      </p:sp>
      <p:sp>
        <p:nvSpPr>
          <p:cNvPr id="7" name="Text 5"/>
          <p:cNvSpPr/>
          <p:nvPr/>
        </p:nvSpPr>
        <p:spPr>
          <a:xfrm>
            <a:off x="649224"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$1.24M / yr</a:t>
            </a:r>
            <a:endParaRPr lang="en-US" sz="1800" dirty="0"/>
          </a:p>
        </p:txBody>
      </p:sp>
      <p:sp>
        <p:nvSpPr>
          <p:cNvPr id="8" name="Text 6"/>
          <p:cNvSpPr/>
          <p:nvPr/>
        </p:nvSpPr>
        <p:spPr>
          <a:xfrm>
            <a:off x="649224"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Slow member ramp, 72% of base volume</a:t>
            </a:r>
            <a:endParaRPr lang="en-US" sz="850" dirty="0"/>
          </a:p>
        </p:txBody>
      </p:sp>
      <p:sp>
        <p:nvSpPr>
          <p:cNvPr id="9" name="Text 7"/>
          <p:cNvSpPr/>
          <p:nvPr/>
        </p:nvSpPr>
        <p:spPr>
          <a:xfrm>
            <a:off x="649224"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10" name="Text 8"/>
          <p:cNvSpPr/>
          <p:nvPr/>
        </p:nvSpPr>
        <p:spPr>
          <a:xfrm>
            <a:off x="1804416"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$430,586</a:t>
            </a:r>
            <a:endParaRPr lang="en-US" sz="900" dirty="0"/>
          </a:p>
        </p:txBody>
      </p:sp>
      <p:sp>
        <p:nvSpPr>
          <p:cNvPr id="11" name="Text 9"/>
          <p:cNvSpPr/>
          <p:nvPr/>
        </p:nvSpPr>
        <p:spPr>
          <a:xfrm>
            <a:off x="649224"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12" name="Text 10"/>
          <p:cNvSpPr/>
          <p:nvPr/>
        </p:nvSpPr>
        <p:spPr>
          <a:xfrm>
            <a:off x="1804416"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$311,381</a:t>
            </a:r>
            <a:endParaRPr lang="en-US" sz="900" dirty="0"/>
          </a:p>
        </p:txBody>
      </p:sp>
      <p:sp>
        <p:nvSpPr>
          <p:cNvPr id="13" name="Text 11"/>
          <p:cNvSpPr/>
          <p:nvPr/>
        </p:nvSpPr>
        <p:spPr>
          <a:xfrm>
            <a:off x="649224"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14" name="Text 12"/>
          <p:cNvSpPr/>
          <p:nvPr/>
        </p:nvSpPr>
        <p:spPr>
          <a:xfrm>
            <a:off x="1804416"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$103,708</a:t>
            </a:r>
            <a:endParaRPr lang="en-US" sz="900" dirty="0"/>
          </a:p>
        </p:txBody>
      </p:sp>
      <p:sp>
        <p:nvSpPr>
          <p:cNvPr id="15" name="Text 13"/>
          <p:cNvSpPr/>
          <p:nvPr/>
        </p:nvSpPr>
        <p:spPr>
          <a:xfrm>
            <a:off x="649224"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16" name="Text 14"/>
          <p:cNvSpPr/>
          <p:nvPr/>
        </p:nvSpPr>
        <p:spPr>
          <a:xfrm>
            <a:off x="1804416"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2.63x</a:t>
            </a:r>
            <a:endParaRPr lang="en-US" sz="900" dirty="0"/>
          </a:p>
        </p:txBody>
      </p:sp>
      <p:sp>
        <p:nvSpPr>
          <p:cNvPr id="17" name="Shape 15"/>
          <p:cNvSpPr/>
          <p:nvPr/>
        </p:nvSpPr>
        <p:spPr>
          <a:xfrm>
            <a:off x="3270504" y="1691640"/>
            <a:ext cx="2602992" cy="2468880"/>
          </a:xfrm>
          <a:prstGeom prst="roundRect">
            <a:avLst>
              <a:gd name="adj" fmla="val 2222"/>
            </a:avLst>
          </a:prstGeom>
          <a:solidFill>
            <a:srgbClr val="241C1A"/>
          </a:solidFill>
          <a:ln w="19050">
            <a:solidFill>
              <a:srgbClr val="C08D7C"/>
            </a:solidFill>
            <a:prstDash val="solid"/>
          </a:ln>
        </p:spPr>
      </p:sp>
      <p:sp>
        <p:nvSpPr>
          <p:cNvPr id="18" name="Text 16"/>
          <p:cNvSpPr/>
          <p:nvPr/>
        </p:nvSpPr>
        <p:spPr>
          <a:xfrm>
            <a:off x="3416808" y="1810512"/>
            <a:ext cx="2310384" cy="182880"/>
          </a:xfrm>
          <a:prstGeom prst="rect">
            <a:avLst/>
          </a:prstGeom>
          <a:noFill/>
          <a:ln/>
        </p:spPr>
        <p:txBody>
          <a:bodyPr wrap="square" rtlCol="0" anchor="ctr"/>
          <a:lstStyle/>
          <a:p>
            <a:pPr indent="0" marL="0">
              <a:buNone/>
            </a:pPr>
            <a:r>
              <a:rPr lang="en-US" sz="850" spc="240" kern="0" dirty="0">
                <a:solidFill>
                  <a:srgbClr val="C08D7C"/>
                </a:solidFill>
                <a:latin typeface="Century Gothic" pitchFamily="34" charset="0"/>
                <a:ea typeface="Century Gothic" pitchFamily="34" charset="-122"/>
                <a:cs typeface="Century Gothic" pitchFamily="34" charset="-120"/>
              </a:rPr>
              <a:t>BASE</a:t>
            </a:r>
            <a:endParaRPr lang="en-US" sz="850" dirty="0"/>
          </a:p>
        </p:txBody>
      </p:sp>
      <p:sp>
        <p:nvSpPr>
          <p:cNvPr id="19" name="Text 17"/>
          <p:cNvSpPr/>
          <p:nvPr/>
        </p:nvSpPr>
        <p:spPr>
          <a:xfrm>
            <a:off x="3416808" y="2011680"/>
            <a:ext cx="2310384" cy="365760"/>
          </a:xfrm>
          <a:prstGeom prst="rect">
            <a:avLst/>
          </a:prstGeom>
          <a:noFill/>
          <a:ln/>
        </p:spPr>
        <p:txBody>
          <a:bodyPr wrap="square" rtlCol="0" anchor="ctr"/>
          <a:lstStyle/>
          <a:p>
            <a:pPr indent="0" marL="0">
              <a:buNone/>
            </a:pPr>
            <a:r>
              <a:rPr lang="en-US" sz="1800" dirty="0">
                <a:solidFill>
                  <a:srgbClr val="C08D7C"/>
                </a:solidFill>
                <a:latin typeface="Century Gothic" pitchFamily="34" charset="0"/>
                <a:ea typeface="Century Gothic" pitchFamily="34" charset="-122"/>
                <a:cs typeface="Century Gothic" pitchFamily="34" charset="-120"/>
              </a:rPr>
              <a:t>$2.70M / yr</a:t>
            </a:r>
            <a:endParaRPr lang="en-US" sz="1800" dirty="0"/>
          </a:p>
        </p:txBody>
      </p:sp>
      <p:sp>
        <p:nvSpPr>
          <p:cNvPr id="20" name="Text 18"/>
          <p:cNvSpPr/>
          <p:nvPr/>
        </p:nvSpPr>
        <p:spPr>
          <a:xfrm>
            <a:off x="3416808"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Stated assumptions at stabilization</a:t>
            </a:r>
            <a:endParaRPr lang="en-US" sz="850" dirty="0"/>
          </a:p>
        </p:txBody>
      </p:sp>
      <p:sp>
        <p:nvSpPr>
          <p:cNvPr id="21" name="Text 19"/>
          <p:cNvSpPr/>
          <p:nvPr/>
        </p:nvSpPr>
        <p:spPr>
          <a:xfrm>
            <a:off x="3416808"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22" name="Text 20"/>
          <p:cNvSpPr/>
          <p:nvPr/>
        </p:nvSpPr>
        <p:spPr>
          <a:xfrm>
            <a:off x="4572000"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$598,036</a:t>
            </a:r>
            <a:endParaRPr lang="en-US" sz="900" dirty="0"/>
          </a:p>
        </p:txBody>
      </p:sp>
      <p:sp>
        <p:nvSpPr>
          <p:cNvPr id="23" name="Text 21"/>
          <p:cNvSpPr/>
          <p:nvPr/>
        </p:nvSpPr>
        <p:spPr>
          <a:xfrm>
            <a:off x="3416808"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24" name="Text 22"/>
          <p:cNvSpPr/>
          <p:nvPr/>
        </p:nvSpPr>
        <p:spPr>
          <a:xfrm>
            <a:off x="4572000"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$432,473</a:t>
            </a:r>
            <a:endParaRPr lang="en-US" sz="900" dirty="0"/>
          </a:p>
        </p:txBody>
      </p:sp>
      <p:sp>
        <p:nvSpPr>
          <p:cNvPr id="25" name="Text 23"/>
          <p:cNvSpPr/>
          <p:nvPr/>
        </p:nvSpPr>
        <p:spPr>
          <a:xfrm>
            <a:off x="3416808"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26" name="Text 24"/>
          <p:cNvSpPr/>
          <p:nvPr/>
        </p:nvSpPr>
        <p:spPr>
          <a:xfrm>
            <a:off x="4572000"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$224,801</a:t>
            </a:r>
            <a:endParaRPr lang="en-US" sz="900" dirty="0"/>
          </a:p>
        </p:txBody>
      </p:sp>
      <p:sp>
        <p:nvSpPr>
          <p:cNvPr id="27" name="Text 25"/>
          <p:cNvSpPr/>
          <p:nvPr/>
        </p:nvSpPr>
        <p:spPr>
          <a:xfrm>
            <a:off x="3416808"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28" name="Text 26"/>
          <p:cNvSpPr/>
          <p:nvPr/>
        </p:nvSpPr>
        <p:spPr>
          <a:xfrm>
            <a:off x="4572000"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5.71x</a:t>
            </a:r>
            <a:endParaRPr lang="en-US" sz="900" dirty="0"/>
          </a:p>
        </p:txBody>
      </p:sp>
      <p:sp>
        <p:nvSpPr>
          <p:cNvPr id="29" name="Shape 27"/>
          <p:cNvSpPr/>
          <p:nvPr/>
        </p:nvSpPr>
        <p:spPr>
          <a:xfrm>
            <a:off x="6038088" y="1691640"/>
            <a:ext cx="2602992" cy="2468880"/>
          </a:xfrm>
          <a:prstGeom prst="roundRect">
            <a:avLst>
              <a:gd name="adj" fmla="val 2222"/>
            </a:avLst>
          </a:prstGeom>
          <a:solidFill>
            <a:srgbClr val="16241C"/>
          </a:solidFill>
          <a:ln w="12700">
            <a:solidFill>
              <a:srgbClr val="2E4237"/>
            </a:solidFill>
            <a:prstDash val="solid"/>
          </a:ln>
        </p:spPr>
      </p:sp>
      <p:sp>
        <p:nvSpPr>
          <p:cNvPr id="30" name="Text 28"/>
          <p:cNvSpPr/>
          <p:nvPr/>
        </p:nvSpPr>
        <p:spPr>
          <a:xfrm>
            <a:off x="6184392"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UPSIDE</a:t>
            </a:r>
            <a:endParaRPr lang="en-US" sz="850" dirty="0"/>
          </a:p>
        </p:txBody>
      </p:sp>
      <p:sp>
        <p:nvSpPr>
          <p:cNvPr id="31" name="Text 29"/>
          <p:cNvSpPr/>
          <p:nvPr/>
        </p:nvSpPr>
        <p:spPr>
          <a:xfrm>
            <a:off x="6184392"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$4.15M / yr</a:t>
            </a:r>
            <a:endParaRPr lang="en-US" sz="1800" dirty="0"/>
          </a:p>
        </p:txBody>
      </p:sp>
      <p:sp>
        <p:nvSpPr>
          <p:cNvPr id="32" name="Text 30"/>
          <p:cNvSpPr/>
          <p:nvPr/>
        </p:nvSpPr>
        <p:spPr>
          <a:xfrm>
            <a:off x="6184392"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Waitlist demand, 128% of base volume</a:t>
            </a:r>
            <a:endParaRPr lang="en-US" sz="850" dirty="0"/>
          </a:p>
        </p:txBody>
      </p:sp>
      <p:sp>
        <p:nvSpPr>
          <p:cNvPr id="33" name="Text 31"/>
          <p:cNvSpPr/>
          <p:nvPr/>
        </p:nvSpPr>
        <p:spPr>
          <a:xfrm>
            <a:off x="6184392"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34" name="Text 32"/>
          <p:cNvSpPr/>
          <p:nvPr/>
        </p:nvSpPr>
        <p:spPr>
          <a:xfrm>
            <a:off x="7339584"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$765,486</a:t>
            </a:r>
            <a:endParaRPr lang="en-US" sz="900" dirty="0"/>
          </a:p>
        </p:txBody>
      </p:sp>
      <p:sp>
        <p:nvSpPr>
          <p:cNvPr id="35" name="Text 33"/>
          <p:cNvSpPr/>
          <p:nvPr/>
        </p:nvSpPr>
        <p:spPr>
          <a:xfrm>
            <a:off x="6184392"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36" name="Text 34"/>
          <p:cNvSpPr/>
          <p:nvPr/>
        </p:nvSpPr>
        <p:spPr>
          <a:xfrm>
            <a:off x="7339584"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$553,566</a:t>
            </a:r>
            <a:endParaRPr lang="en-US" sz="900" dirty="0"/>
          </a:p>
        </p:txBody>
      </p:sp>
      <p:sp>
        <p:nvSpPr>
          <p:cNvPr id="37" name="Text 35"/>
          <p:cNvSpPr/>
          <p:nvPr/>
        </p:nvSpPr>
        <p:spPr>
          <a:xfrm>
            <a:off x="6184392"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38" name="Text 36"/>
          <p:cNvSpPr/>
          <p:nvPr/>
        </p:nvSpPr>
        <p:spPr>
          <a:xfrm>
            <a:off x="7339584"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$345,893</a:t>
            </a:r>
            <a:endParaRPr lang="en-US" sz="900" dirty="0"/>
          </a:p>
        </p:txBody>
      </p:sp>
      <p:sp>
        <p:nvSpPr>
          <p:cNvPr id="39" name="Text 37"/>
          <p:cNvSpPr/>
          <p:nvPr/>
        </p:nvSpPr>
        <p:spPr>
          <a:xfrm>
            <a:off x="6184392"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40" name="Text 38"/>
          <p:cNvSpPr/>
          <p:nvPr/>
        </p:nvSpPr>
        <p:spPr>
          <a:xfrm>
            <a:off x="7339584"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8.78x</a:t>
            </a:r>
            <a:endParaRPr lang="en-US" sz="900" dirty="0"/>
          </a:p>
        </p:txBody>
      </p:sp>
      <p:sp>
        <p:nvSpPr>
          <p:cNvPr id="41" name="Text 3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42" name="Text 4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ASK</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$2.0M private against a $2.75M SBA loan.</a:t>
            </a:r>
            <a:endParaRPr lang="en-US" sz="2600" dirty="0"/>
          </a:p>
        </p:txBody>
      </p:sp>
      <p:sp>
        <p:nvSpPr>
          <p:cNvPr id="4" name="Shape 2"/>
          <p:cNvSpPr/>
          <p:nvPr/>
        </p:nvSpPr>
        <p:spPr>
          <a:xfrm>
            <a:off x="502920" y="1417320"/>
            <a:ext cx="8138160" cy="2423160"/>
          </a:xfrm>
          <a:prstGeom prst="roundRect">
            <a:avLst>
              <a:gd name="adj" fmla="val 2264"/>
            </a:avLst>
          </a:prstGeom>
          <a:solidFill>
            <a:srgbClr val="241C1A"/>
          </a:solidFill>
          <a:ln w="15875">
            <a:solidFill>
              <a:srgbClr val="C08D7C"/>
            </a:solidFill>
            <a:prstDash val="solid"/>
          </a:ln>
        </p:spPr>
      </p:sp>
      <p:sp>
        <p:nvSpPr>
          <p:cNvPr id="5" name="Text 3"/>
          <p:cNvSpPr/>
          <p:nvPr/>
        </p:nvSpPr>
        <p:spPr>
          <a:xfrm>
            <a:off x="777240" y="1600200"/>
            <a:ext cx="7589520" cy="914400"/>
          </a:xfrm>
          <a:prstGeom prst="rect">
            <a:avLst/>
          </a:prstGeom>
          <a:noFill/>
          <a:ln/>
        </p:spPr>
        <p:txBody>
          <a:bodyPr wrap="square" rtlCol="0" anchor="ctr"/>
          <a:lstStyle/>
          <a:p>
            <a:pPr indent="0" marL="0">
              <a:buNone/>
            </a:pPr>
            <a:r>
              <a:rPr lang="en-US" sz="5200" dirty="0">
                <a:solidFill>
                  <a:srgbClr val="C08D7C"/>
                </a:solidFill>
                <a:latin typeface="Century Gothic" pitchFamily="34" charset="0"/>
                <a:ea typeface="Century Gothic" pitchFamily="34" charset="-122"/>
                <a:cs typeface="Century Gothic" pitchFamily="34" charset="-120"/>
              </a:rPr>
              <a:t>$4.75M</a:t>
            </a:r>
            <a:endParaRPr lang="en-US" sz="5200" dirty="0"/>
          </a:p>
        </p:txBody>
      </p:sp>
      <p:sp>
        <p:nvSpPr>
          <p:cNvPr id="6" name="Text 4"/>
          <p:cNvSpPr/>
          <p:nvPr/>
        </p:nvSpPr>
        <p:spPr>
          <a:xfrm>
            <a:off x="795528" y="2578608"/>
            <a:ext cx="7552944" cy="320040"/>
          </a:xfrm>
          <a:prstGeom prst="rect">
            <a:avLst/>
          </a:prstGeom>
          <a:noFill/>
          <a:ln/>
        </p:spPr>
        <p:txBody>
          <a:bodyPr wrap="square" rtlCol="0" anchor="ctr"/>
          <a:lstStyle/>
          <a:p>
            <a:pPr indent="0" marL="0">
              <a:buNone/>
            </a:pPr>
            <a:r>
              <a:rPr lang="en-US" sz="1150" dirty="0">
                <a:solidFill>
                  <a:srgbClr val="A8A296"/>
                </a:solidFill>
                <a:latin typeface="Calibri" pitchFamily="34" charset="0"/>
                <a:ea typeface="Calibri" pitchFamily="34" charset="-122"/>
                <a:cs typeface="Calibri" pitchFamily="34" charset="-120"/>
              </a:rPr>
              <a:t>Full contrast suite, owned equipment, the facility the brand deserves.</a:t>
            </a:r>
            <a:endParaRPr lang="en-US" sz="1150" dirty="0"/>
          </a:p>
        </p:txBody>
      </p:sp>
      <p:sp>
        <p:nvSpPr>
          <p:cNvPr id="7" name="Text 5"/>
          <p:cNvSpPr/>
          <p:nvPr/>
        </p:nvSpPr>
        <p:spPr>
          <a:xfrm>
            <a:off x="795528"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PRIVATE INVESTMENT</a:t>
            </a:r>
            <a:endParaRPr lang="en-US" sz="700" dirty="0"/>
          </a:p>
        </p:txBody>
      </p:sp>
      <p:sp>
        <p:nvSpPr>
          <p:cNvPr id="8" name="Text 6"/>
          <p:cNvSpPr/>
          <p:nvPr/>
        </p:nvSpPr>
        <p:spPr>
          <a:xfrm>
            <a:off x="795528"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$2,000,000</a:t>
            </a:r>
            <a:endParaRPr lang="en-US" sz="1400" dirty="0"/>
          </a:p>
        </p:txBody>
      </p:sp>
      <p:sp>
        <p:nvSpPr>
          <p:cNvPr id="9" name="Text 7"/>
          <p:cNvSpPr/>
          <p:nvPr/>
        </p:nvSpPr>
        <p:spPr>
          <a:xfrm>
            <a:off x="2683764"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SHARE OF PROJECT</a:t>
            </a:r>
            <a:endParaRPr lang="en-US" sz="700" dirty="0"/>
          </a:p>
        </p:txBody>
      </p:sp>
      <p:sp>
        <p:nvSpPr>
          <p:cNvPr id="10" name="Text 8"/>
          <p:cNvSpPr/>
          <p:nvPr/>
        </p:nvSpPr>
        <p:spPr>
          <a:xfrm>
            <a:off x="2683764"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42%</a:t>
            </a:r>
            <a:endParaRPr lang="en-US" sz="1400" dirty="0"/>
          </a:p>
        </p:txBody>
      </p:sp>
      <p:sp>
        <p:nvSpPr>
          <p:cNvPr id="11" name="Text 9"/>
          <p:cNvSpPr/>
          <p:nvPr/>
        </p:nvSpPr>
        <p:spPr>
          <a:xfrm>
            <a:off x="4572000"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SBA 7(A) LOAN</a:t>
            </a:r>
            <a:endParaRPr lang="en-US" sz="700" dirty="0"/>
          </a:p>
        </p:txBody>
      </p:sp>
      <p:sp>
        <p:nvSpPr>
          <p:cNvPr id="12" name="Text 10"/>
          <p:cNvSpPr/>
          <p:nvPr/>
        </p:nvSpPr>
        <p:spPr>
          <a:xfrm>
            <a:off x="4572000"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$2,750,000</a:t>
            </a:r>
            <a:endParaRPr lang="en-US" sz="1400" dirty="0"/>
          </a:p>
        </p:txBody>
      </p:sp>
      <p:sp>
        <p:nvSpPr>
          <p:cNvPr id="13" name="Text 11"/>
          <p:cNvSpPr/>
          <p:nvPr/>
        </p:nvSpPr>
        <p:spPr>
          <a:xfrm>
            <a:off x="6460236"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FOOTPRINT</a:t>
            </a:r>
            <a:endParaRPr lang="en-US" sz="700" dirty="0"/>
          </a:p>
        </p:txBody>
      </p:sp>
      <p:sp>
        <p:nvSpPr>
          <p:cNvPr id="14" name="Text 12"/>
          <p:cNvSpPr/>
          <p:nvPr/>
        </p:nvSpPr>
        <p:spPr>
          <a:xfrm>
            <a:off x="6460236"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4,925 SF</a:t>
            </a:r>
            <a:endParaRPr lang="en-US" sz="1400" dirty="0"/>
          </a:p>
        </p:txBody>
      </p:sp>
      <p:sp>
        <p:nvSpPr>
          <p:cNvPr id="15" name="Text 13"/>
          <p:cNvSpPr/>
          <p:nvPr/>
        </p:nvSpPr>
        <p:spPr>
          <a:xfrm>
            <a:off x="502920" y="4041648"/>
            <a:ext cx="8138160" cy="411480"/>
          </a:xfrm>
          <a:prstGeom prst="rect">
            <a:avLst/>
          </a:prstGeom>
          <a:noFill/>
          <a:ln/>
        </p:spPr>
        <p:txBody>
          <a:bodyPr wrap="square" rtlCol="0" anchor="ctr"/>
          <a:lstStyle/>
          <a:p>
            <a:pPr indent="0" marL="0">
              <a:lnSpc>
                <a:spcPct val="115000"/>
              </a:lnSpc>
              <a:buNone/>
            </a:pPr>
            <a:r>
              <a:rPr lang="en-US" sz="900" dirty="0">
                <a:solidFill>
                  <a:srgbClr val="6E6A62"/>
                </a:solidFill>
                <a:latin typeface="Calibri" pitchFamily="34" charset="0"/>
                <a:ea typeface="Calibri" pitchFamily="34" charset="-122"/>
                <a:cs typeface="Calibri" pitchFamily="34" charset="-120"/>
              </a:rPr>
              <a:t>Project cost is unchanged. The private raise replaces the minimum equity injection, so the SBA 7(a) loan shrinks to fill the rest. Less debt against the same operating income is what lifts stabilized coverage to 5.71x.</a:t>
            </a:r>
            <a:endParaRPr lang="en-US" sz="9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Where the $4.75M goes.</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working capital and debt service reserve is sized against the modeled cash trough of $184,543 at month 10, not to a round number.</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4937760"/>
                <a:gridCol w="1600200"/>
                <a:gridCol w="1600200"/>
              </a:tblGrid>
              <a:tr h="18288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Use of funds</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Amount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 of project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Buildout and tenant improvements (4,925 SF @ $250/SF)</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$1,231,250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 areas: 2 saunas, 2 plunges, steam, drainage, ventilation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$465,000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and aesthetic equipment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technology: HBOT purchased, Ammortal deposit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$165,950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GE iDXA bone densitometer,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FF&amp;E, lounge, millwork, retail</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$430,000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Pre-opening: licensing, legal, insurance, hiring</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Brand, launch, founding member campaign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$237,000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Working capital and debt service reserve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$1,105,800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 project cost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$4,750,000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SBA PACKAGE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Structured to the actual rule.</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023360" cy="914400"/>
        </p:xfrm>
        <a:graphic>
          <a:graphicData uri="http://schemas.openxmlformats.org/drawingml/2006/table">
            <a:tbl>
              <a:tblPr/>
              <a:tblGrid>
                <a:gridCol w="2514600"/>
                <a:gridCol w="1508760"/>
              </a:tblGrid>
              <a:tr h="20574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Loan structure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Total project cost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$4,750,000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Private investment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$2,000,000  (42%)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SBA 7(a) loan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$2,750,000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Assumed rate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9.5% (Prime + 2.75%)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 years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Interest-only period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 months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during interest-only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$21,771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once amortizing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$39,397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Working capital and reserve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$1,105,800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4800600" y="1371600"/>
          <a:ext cx="3977640" cy="914400"/>
        </p:xfrm>
        <a:graphic>
          <a:graphicData uri="http://schemas.openxmlformats.org/drawingml/2006/table">
            <a:tbl>
              <a:tblPr/>
              <a:tblGrid>
                <a:gridCol w="777240"/>
                <a:gridCol w="1234440"/>
                <a:gridCol w="1188720"/>
                <a:gridCol w="77724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Year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Debt service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-$473,662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$195,936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-2.42x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$1,897,430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$367,008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5.17x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$2,625,676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$472,764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5.55x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$2,697,611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$472,758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5.71x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2"/>
          <p:cNvSpPr/>
          <p:nvPr/>
        </p:nvSpPr>
        <p:spPr>
          <a:xfrm>
            <a:off x="4800600" y="2788920"/>
            <a:ext cx="3977640" cy="274320"/>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Rate sensitivity: 5.71x at 9.5%   ·   5.50x at 10.5%   ·   5.31x at 11.5%</a:t>
            </a:r>
            <a:endParaRPr lang="en-US" sz="900" dirty="0"/>
          </a:p>
        </p:txBody>
      </p:sp>
      <p:sp>
        <p:nvSpPr>
          <p:cNvPr id="7" name="Text 3"/>
          <p:cNvSpPr/>
          <p:nvPr/>
        </p:nvSpPr>
        <p:spPr>
          <a:xfrm>
            <a:off x="502920" y="3794760"/>
            <a:ext cx="8138160" cy="777240"/>
          </a:xfrm>
          <a:prstGeom prst="rect">
            <a:avLst/>
          </a:prstGeom>
          <a:noFill/>
          <a:ln/>
        </p:spPr>
        <p:txBody>
          <a:bodyPr wrap="square" rtlCol="0" anchor="ctr"/>
          <a:lstStyle/>
          <a:p>
            <a:pPr indent="0" marL="0">
              <a:lnSpc>
                <a:spcPct val="120000"/>
              </a:lnSpc>
              <a:buNone/>
            </a:pPr>
            <a:r>
              <a:rPr lang="en-US" sz="800" dirty="0">
                <a:solidFill>
                  <a:srgbClr val="6E6A62"/>
                </a:solidFill>
                <a:latin typeface="Calibri" pitchFamily="34" charset="0"/>
                <a:ea typeface="Calibri" pitchFamily="34" charset="-122"/>
                <a:cs typeface="Calibri" pitchFamily="34" charset="-120"/>
              </a:rPr>
              <a:t>SBA 7(a) caps at a $5,000,000 loan; SBA maximum guarantee exposure is $3,750,000. SOP 50 10 8 requires a minimum 10% equity injection for a startup, and lenders routinely require more of a business with no operating history. An unconditional personal guaranty is required from any owner holding 20% or more. The 1.25x coverage threshold is prevailing lender underwriting convention, not an SBA regulation.</a:t>
            </a:r>
            <a:endParaRPr lang="en-US" sz="800" dirty="0"/>
          </a:p>
        </p:txBody>
      </p:sp>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DISCLOSURES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we are flagging before you ask.</a:t>
            </a:r>
            <a:endParaRPr lang="en-US" sz="2600" dirty="0"/>
          </a:p>
        </p:txBody>
      </p:sp>
      <p:sp>
        <p:nvSpPr>
          <p:cNvPr id="4" name="Text 2"/>
          <p:cNvSpPr/>
          <p:nvPr/>
        </p:nvSpPr>
        <p:spPr>
          <a:xfrm>
            <a:off x="502920" y="1417320"/>
            <a:ext cx="8138160" cy="3108960"/>
          </a:xfrm>
          <a:prstGeom prst="rect">
            <a:avLst/>
          </a:prstGeom>
          <a:noFill/>
          <a:ln/>
        </p:spPr>
        <p:txBody>
          <a:bodyPr wrap="square" rtlCol="0" anchor="ctr"/>
          <a:lstStyle/>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1 operating income is negative. Six of those months are construction and the rest are the opening ramp. Debt service is interest-only for the first 18 months, and the $1,105,800 reserve inside use of funds is sized against a modeled cash trough of $184,543 at month 10.</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2 coverage of 5.17x already clears the 1.25x convention, before the business reaches stabilization.</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Rate sensitivity: stabilized coverage runs 5.71x at 9.5%, 5.50x at 10.5%, 5.31x at 11.5%. Coverage holds above 1.25x even 200 basis points above the assumed rate.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The 18-month interest-only period compresses amortization into the remaining 102 months, raising the eventual payment. It buys ramp-year survivability at the cost of stabilized coverage, and both effects are reflected in the figures above.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All forward-looking figures are projections on the stated assumptions and are not guarantees. Market and demographic figures carry their sources; anything unsourced was cut rather than estimated.</a:t>
            </a:r>
            <a:endParaRPr lang="en-US" sz="105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TIMELINE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From signature to stabilization.</a:t>
            </a:r>
            <a:endParaRPr lang="en-US" sz="2600" dirty="0"/>
          </a:p>
        </p:txBody>
      </p:sp>
      <p:sp>
        <p:nvSpPr>
          <p:cNvPr id="4" name="Shape 2"/>
          <p:cNvSpPr/>
          <p:nvPr/>
        </p:nvSpPr>
        <p:spPr>
          <a:xfrm>
            <a:off x="502920" y="1600200"/>
            <a:ext cx="1525219" cy="25603"/>
          </a:xfrm>
          <a:prstGeom prst="rect">
            <a:avLst/>
          </a:prstGeom>
          <a:solidFill>
            <a:srgbClr val="2E4237"/>
          </a:solidFill>
          <a:ln w="12700">
            <a:solidFill>
              <a:srgbClr val="2E4237"/>
            </a:solidFill>
            <a:prstDash val="solid"/>
          </a:ln>
        </p:spPr>
      </p:sp>
      <p:sp>
        <p:nvSpPr>
          <p:cNvPr id="5" name="Shape 3"/>
          <p:cNvSpPr/>
          <p:nvPr/>
        </p:nvSpPr>
        <p:spPr>
          <a:xfrm>
            <a:off x="502920" y="1563624"/>
            <a:ext cx="100584" cy="100584"/>
          </a:xfrm>
          <a:prstGeom prst="ellipse">
            <a:avLst/>
          </a:prstGeom>
          <a:solidFill>
            <a:srgbClr val="C08D7C"/>
          </a:solidFill>
          <a:ln w="12700">
            <a:solidFill>
              <a:srgbClr val="C08D7C"/>
            </a:solidFill>
            <a:prstDash val="solid"/>
          </a:ln>
        </p:spPr>
      </p:sp>
      <p:sp>
        <p:nvSpPr>
          <p:cNvPr id="6" name="Text 4"/>
          <p:cNvSpPr/>
          <p:nvPr/>
        </p:nvSpPr>
        <p:spPr>
          <a:xfrm>
            <a:off x="50292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0–3</a:t>
            </a:r>
            <a:endParaRPr lang="en-US" sz="750" dirty="0"/>
          </a:p>
        </p:txBody>
      </p:sp>
      <p:sp>
        <p:nvSpPr>
          <p:cNvPr id="7" name="Text 5"/>
          <p:cNvSpPr/>
          <p:nvPr/>
        </p:nvSpPr>
        <p:spPr>
          <a:xfrm>
            <a:off x="50292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Close and design</a:t>
            </a:r>
            <a:endParaRPr lang="en-US" sz="1150" dirty="0"/>
          </a:p>
        </p:txBody>
      </p:sp>
      <p:sp>
        <p:nvSpPr>
          <p:cNvPr id="8" name="Text 6"/>
          <p:cNvSpPr/>
          <p:nvPr/>
        </p:nvSpPr>
        <p:spPr>
          <a:xfrm>
            <a:off x="50292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Loan closes, lease executed, architect and contractor engaged, permits filed. Founding member campaign opens.</a:t>
            </a:r>
            <a:endParaRPr lang="en-US" sz="850" dirty="0"/>
          </a:p>
        </p:txBody>
      </p:sp>
      <p:sp>
        <p:nvSpPr>
          <p:cNvPr id="9" name="Shape 7"/>
          <p:cNvSpPr/>
          <p:nvPr/>
        </p:nvSpPr>
        <p:spPr>
          <a:xfrm>
            <a:off x="2156155" y="1600200"/>
            <a:ext cx="1525219" cy="25603"/>
          </a:xfrm>
          <a:prstGeom prst="rect">
            <a:avLst/>
          </a:prstGeom>
          <a:solidFill>
            <a:srgbClr val="2E4237"/>
          </a:solidFill>
          <a:ln w="12700">
            <a:solidFill>
              <a:srgbClr val="2E4237"/>
            </a:solidFill>
            <a:prstDash val="solid"/>
          </a:ln>
        </p:spPr>
      </p:sp>
      <p:sp>
        <p:nvSpPr>
          <p:cNvPr id="10" name="Shape 8"/>
          <p:cNvSpPr/>
          <p:nvPr/>
        </p:nvSpPr>
        <p:spPr>
          <a:xfrm>
            <a:off x="2156155" y="1563624"/>
            <a:ext cx="100584" cy="100584"/>
          </a:xfrm>
          <a:prstGeom prst="ellipse">
            <a:avLst/>
          </a:prstGeom>
          <a:solidFill>
            <a:srgbClr val="C08D7C"/>
          </a:solidFill>
          <a:ln w="12700">
            <a:solidFill>
              <a:srgbClr val="C08D7C"/>
            </a:solidFill>
            <a:prstDash val="solid"/>
          </a:ln>
        </p:spPr>
      </p:sp>
      <p:sp>
        <p:nvSpPr>
          <p:cNvPr id="11" name="Text 9"/>
          <p:cNvSpPr/>
          <p:nvPr/>
        </p:nvSpPr>
        <p:spPr>
          <a:xfrm>
            <a:off x="2156155"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3–6</a:t>
            </a:r>
            <a:endParaRPr lang="en-US" sz="750" dirty="0"/>
          </a:p>
        </p:txBody>
      </p:sp>
      <p:sp>
        <p:nvSpPr>
          <p:cNvPr id="12" name="Text 10"/>
          <p:cNvSpPr/>
          <p:nvPr/>
        </p:nvSpPr>
        <p:spPr>
          <a:xfrm>
            <a:off x="2156155"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Build</a:t>
            </a:r>
            <a:endParaRPr lang="en-US" sz="1150" dirty="0"/>
          </a:p>
        </p:txBody>
      </p:sp>
      <p:sp>
        <p:nvSpPr>
          <p:cNvPr id="13" name="Text 11"/>
          <p:cNvSpPr/>
          <p:nvPr/>
        </p:nvSpPr>
        <p:spPr>
          <a:xfrm>
            <a:off x="2156155"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Buildout, wet-area rough-in, equipment ordered. Medical director and injector recruited and credentialed.</a:t>
            </a:r>
            <a:endParaRPr lang="en-US" sz="850" dirty="0"/>
          </a:p>
        </p:txBody>
      </p:sp>
      <p:sp>
        <p:nvSpPr>
          <p:cNvPr id="14" name="Shape 12"/>
          <p:cNvSpPr/>
          <p:nvPr/>
        </p:nvSpPr>
        <p:spPr>
          <a:xfrm>
            <a:off x="3809390" y="1600200"/>
            <a:ext cx="1525219" cy="25603"/>
          </a:xfrm>
          <a:prstGeom prst="rect">
            <a:avLst/>
          </a:prstGeom>
          <a:solidFill>
            <a:srgbClr val="2E4237"/>
          </a:solidFill>
          <a:ln w="12700">
            <a:solidFill>
              <a:srgbClr val="2E4237"/>
            </a:solidFill>
            <a:prstDash val="solid"/>
          </a:ln>
        </p:spPr>
      </p:sp>
      <p:sp>
        <p:nvSpPr>
          <p:cNvPr id="15" name="Shape 13"/>
          <p:cNvSpPr/>
          <p:nvPr/>
        </p:nvSpPr>
        <p:spPr>
          <a:xfrm>
            <a:off x="3809390" y="1563624"/>
            <a:ext cx="100584" cy="100584"/>
          </a:xfrm>
          <a:prstGeom prst="ellipse">
            <a:avLst/>
          </a:prstGeom>
          <a:solidFill>
            <a:srgbClr val="C08D7C"/>
          </a:solidFill>
          <a:ln w="12700">
            <a:solidFill>
              <a:srgbClr val="C08D7C"/>
            </a:solidFill>
            <a:prstDash val="solid"/>
          </a:ln>
        </p:spPr>
      </p:sp>
      <p:sp>
        <p:nvSpPr>
          <p:cNvPr id="16" name="Text 14"/>
          <p:cNvSpPr/>
          <p:nvPr/>
        </p:nvSpPr>
        <p:spPr>
          <a:xfrm>
            <a:off x="380939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7</a:t>
            </a:r>
            <a:endParaRPr lang="en-US" sz="750" dirty="0"/>
          </a:p>
        </p:txBody>
      </p:sp>
      <p:sp>
        <p:nvSpPr>
          <p:cNvPr id="17" name="Text 15"/>
          <p:cNvSpPr/>
          <p:nvPr/>
        </p:nvSpPr>
        <p:spPr>
          <a:xfrm>
            <a:off x="380939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Open</a:t>
            </a:r>
            <a:endParaRPr lang="en-US" sz="1150" dirty="0"/>
          </a:p>
        </p:txBody>
      </p:sp>
      <p:sp>
        <p:nvSpPr>
          <p:cNvPr id="18" name="Text 16"/>
          <p:cNvSpPr/>
          <p:nvPr/>
        </p:nvSpPr>
        <p:spPr>
          <a:xfrm>
            <a:off x="380939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Doors open to founding members first, public booking the same week. Clinic and club launch together.</a:t>
            </a:r>
            <a:endParaRPr lang="en-US" sz="850" dirty="0"/>
          </a:p>
        </p:txBody>
      </p:sp>
      <p:sp>
        <p:nvSpPr>
          <p:cNvPr id="19" name="Shape 17"/>
          <p:cNvSpPr/>
          <p:nvPr/>
        </p:nvSpPr>
        <p:spPr>
          <a:xfrm>
            <a:off x="5462626" y="1600200"/>
            <a:ext cx="1525219" cy="25603"/>
          </a:xfrm>
          <a:prstGeom prst="rect">
            <a:avLst/>
          </a:prstGeom>
          <a:solidFill>
            <a:srgbClr val="2E4237"/>
          </a:solidFill>
          <a:ln w="12700">
            <a:solidFill>
              <a:srgbClr val="2E4237"/>
            </a:solidFill>
            <a:prstDash val="solid"/>
          </a:ln>
        </p:spPr>
      </p:sp>
      <p:sp>
        <p:nvSpPr>
          <p:cNvPr id="20" name="Shape 18"/>
          <p:cNvSpPr/>
          <p:nvPr/>
        </p:nvSpPr>
        <p:spPr>
          <a:xfrm>
            <a:off x="5462626" y="1563624"/>
            <a:ext cx="100584" cy="100584"/>
          </a:xfrm>
          <a:prstGeom prst="ellipse">
            <a:avLst/>
          </a:prstGeom>
          <a:solidFill>
            <a:srgbClr val="C08D7C"/>
          </a:solidFill>
          <a:ln w="12700">
            <a:solidFill>
              <a:srgbClr val="C08D7C"/>
            </a:solidFill>
            <a:prstDash val="solid"/>
          </a:ln>
        </p:spPr>
      </p:sp>
      <p:sp>
        <p:nvSpPr>
          <p:cNvPr id="21" name="Text 19"/>
          <p:cNvSpPr/>
          <p:nvPr/>
        </p:nvSpPr>
        <p:spPr>
          <a:xfrm>
            <a:off x="5462626"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8–14</a:t>
            </a:r>
            <a:endParaRPr lang="en-US" sz="750" dirty="0"/>
          </a:p>
        </p:txBody>
      </p:sp>
      <p:sp>
        <p:nvSpPr>
          <p:cNvPr id="22" name="Text 20"/>
          <p:cNvSpPr/>
          <p:nvPr/>
        </p:nvSpPr>
        <p:spPr>
          <a:xfrm>
            <a:off x="5462626"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Fill</a:t>
            </a:r>
            <a:endParaRPr lang="en-US" sz="1150" dirty="0"/>
          </a:p>
        </p:txBody>
      </p:sp>
      <p:sp>
        <p:nvSpPr>
          <p:cNvPr id="23" name="Text 21"/>
          <p:cNvSpPr/>
          <p:nvPr/>
        </p:nvSpPr>
        <p:spPr>
          <a:xfrm>
            <a:off x="5462626"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Membership ramp, events programming, referral engine from the open clinic. Operating breakeven lands here.</a:t>
            </a:r>
            <a:endParaRPr lang="en-US" sz="850" dirty="0"/>
          </a:p>
        </p:txBody>
      </p:sp>
      <p:sp>
        <p:nvSpPr>
          <p:cNvPr id="24" name="Shape 22"/>
          <p:cNvSpPr/>
          <p:nvPr/>
        </p:nvSpPr>
        <p:spPr>
          <a:xfrm>
            <a:off x="7115861" y="1600200"/>
            <a:ext cx="1525219" cy="25603"/>
          </a:xfrm>
          <a:prstGeom prst="rect">
            <a:avLst/>
          </a:prstGeom>
          <a:solidFill>
            <a:srgbClr val="2E4237"/>
          </a:solidFill>
          <a:ln w="12700">
            <a:solidFill>
              <a:srgbClr val="2E4237"/>
            </a:solidFill>
            <a:prstDash val="solid"/>
          </a:ln>
        </p:spPr>
      </p:sp>
      <p:sp>
        <p:nvSpPr>
          <p:cNvPr id="25" name="Shape 23"/>
          <p:cNvSpPr/>
          <p:nvPr/>
        </p:nvSpPr>
        <p:spPr>
          <a:xfrm>
            <a:off x="7115861" y="1563624"/>
            <a:ext cx="100584" cy="100584"/>
          </a:xfrm>
          <a:prstGeom prst="ellipse">
            <a:avLst/>
          </a:prstGeom>
          <a:solidFill>
            <a:srgbClr val="C08D7C"/>
          </a:solidFill>
          <a:ln w="12700">
            <a:solidFill>
              <a:srgbClr val="C08D7C"/>
            </a:solidFill>
            <a:prstDash val="solid"/>
          </a:ln>
        </p:spPr>
      </p:sp>
      <p:sp>
        <p:nvSpPr>
          <p:cNvPr id="26" name="Text 24"/>
          <p:cNvSpPr/>
          <p:nvPr/>
        </p:nvSpPr>
        <p:spPr>
          <a:xfrm>
            <a:off x="7115861"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15–36</a:t>
            </a:r>
            <a:endParaRPr lang="en-US" sz="750" dirty="0"/>
          </a:p>
        </p:txBody>
      </p:sp>
      <p:sp>
        <p:nvSpPr>
          <p:cNvPr id="27" name="Text 25"/>
          <p:cNvSpPr/>
          <p:nvPr/>
        </p:nvSpPr>
        <p:spPr>
          <a:xfrm>
            <a:off x="7115861"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Stabilize</a:t>
            </a:r>
            <a:endParaRPr lang="en-US" sz="1150" dirty="0"/>
          </a:p>
        </p:txBody>
      </p:sp>
      <p:sp>
        <p:nvSpPr>
          <p:cNvPr id="28" name="Text 26"/>
          <p:cNvSpPr/>
          <p:nvPr/>
        </p:nvSpPr>
        <p:spPr>
          <a:xfrm>
            <a:off x="7115861"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Amortization begins at month 19. Caps approached on Resident and Longevity. Waitlist opens.</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TEAM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operating team is in place.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Clinical, aesthetic, longevity and hospitality leadership are all seated. No key role is open at opening.</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651760"/>
                <a:gridCol w="3840480"/>
                <a:gridCol w="164592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Seat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Responsibility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Status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Founder &amp; Operator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Operations, brand, capital, compliance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Medical Director (MD/DO)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Clinical oversight, protocols, standing orders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Aesthetics Injector (NP or PA)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Neuromodulators, filler, energy devices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Clinical Lead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Therapeutic medications, GLP-1 and biomarker programs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Club General Manager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Membership, events, hospitality, retention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Registered Nurses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therapy, regenerative, recovery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RISKS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could go wrong, and what we did about it.</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43200"/>
                <a:gridCol w="5394960"/>
              </a:tblGrid>
              <a:tr h="36576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Risk</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Mitigation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Membership fills slower than modeled.</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clinic is open to non-members from day one, so revenue does not depend on the club filling. The low case flexes volume to 72% of base and still services debt.</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Members redeem more than their fees cover.</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Credit banks are sized against measured redemption and the model asserts the ratio stays below 100%. The three-month minimum with 30-day change notice makes repricing operationally possible.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 key clinical seat turns over during the ramp.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asset is the facility, not any one clinician. The club layer, recovery floor and infusion suite run on materially less scarce staffing than the injectable and prescribing lines, so a temporary gap narrows the offering without closing the building. A licensed, equipped facility can credential a replacement. Clinical compensation carries retention terms through the ramp.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Rates move against us before close.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Coverage is stress-tested 200 basis points above assumption and disclosed at each level rather than quoted at 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 national brand opens nearby.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defensible asset is the licensed facility, not the sauna. Adding injectables, infusions and physician oversight is not a product decision for a recovery studio: it means becoming a licensed medical facility, with the staffing, supervision, malpractice and accreditation that implies.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36576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Wet-area construction overruns.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The highest-variance line in the buildout. The lean case exists precisely as the fallback scope, and the reserve is sized against the modeled cash trough rather than to a round number.</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02920" y="1051560"/>
            <a:ext cx="8138160" cy="2834640"/>
          </a:xfrm>
          <a:prstGeom prst="roundRect">
            <a:avLst>
              <a:gd name="adj" fmla="val 2581"/>
            </a:avLst>
          </a:prstGeom>
          <a:solidFill>
            <a:srgbClr val="241C1A"/>
          </a:solidFill>
          <a:ln w="15875">
            <a:solidFill>
              <a:srgbClr val="C08D7C"/>
            </a:solidFill>
            <a:prstDash val="solid"/>
          </a:ln>
        </p:spPr>
      </p:sp>
      <p:sp>
        <p:nvSpPr>
          <p:cNvPr id="3" name="Text 1"/>
          <p:cNvSpPr/>
          <p:nvPr/>
        </p:nvSpPr>
        <p:spPr>
          <a:xfrm>
            <a:off x="502920" y="1371600"/>
            <a:ext cx="8138160" cy="228600"/>
          </a:xfrm>
          <a:prstGeom prst="rect">
            <a:avLst/>
          </a:prstGeom>
          <a:noFill/>
          <a:ln/>
        </p:spPr>
        <p:txBody>
          <a:bodyPr wrap="square" rtlCol="0" anchor="ctr"/>
          <a:lstStyle/>
          <a:p>
            <a:pPr algn="ctr" indent="0" marL="0">
              <a:buNone/>
            </a:pPr>
            <a:r>
              <a:rPr lang="en-US" sz="900" spc="300" kern="0" dirty="0">
                <a:solidFill>
                  <a:srgbClr val="C08D7C"/>
                </a:solidFill>
                <a:latin typeface="Century Gothic" pitchFamily="34" charset="0"/>
                <a:ea typeface="Century Gothic" pitchFamily="34" charset="-122"/>
                <a:cs typeface="Century Gothic" pitchFamily="34" charset="-120"/>
              </a:rPr>
              <a:t>PLAYA VISTA, CALIFORNIA</a:t>
            </a:r>
            <a:endParaRPr lang="en-US" sz="900" dirty="0"/>
          </a:p>
        </p:txBody>
      </p:sp>
      <p:sp>
        <p:nvSpPr>
          <p:cNvPr id="4" name="Text 2"/>
          <p:cNvSpPr/>
          <p:nvPr/>
        </p:nvSpPr>
        <p:spPr>
          <a:xfrm>
            <a:off x="502920" y="1691640"/>
            <a:ext cx="8138160" cy="914400"/>
          </a:xfrm>
          <a:prstGeom prst="rect">
            <a:avLst/>
          </a:prstGeom>
          <a:noFill/>
          <a:ln/>
        </p:spPr>
        <p:txBody>
          <a:bodyPr wrap="square" rtlCol="0" anchor="ctr"/>
          <a:lstStyle/>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Self-care is already social.</a:t>
            </a:r>
            <a:endParaRPr lang="en-US" sz="2400" dirty="0"/>
          </a:p>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Few rooms are built to hold it, and fewer are licensed to treat you.</a:t>
            </a:r>
            <a:endParaRPr lang="en-US" sz="2400" dirty="0"/>
          </a:p>
        </p:txBody>
      </p:sp>
      <p:sp>
        <p:nvSpPr>
          <p:cNvPr id="5" name="Text 3"/>
          <p:cNvSpPr/>
          <p:nvPr/>
        </p:nvSpPr>
        <p:spPr>
          <a:xfrm>
            <a:off x="502920" y="2697480"/>
            <a:ext cx="8138160" cy="274320"/>
          </a:xfrm>
          <a:prstGeom prst="rect">
            <a:avLst/>
          </a:prstGeom>
          <a:noFill/>
          <a:ln/>
        </p:spPr>
        <p:txBody>
          <a:bodyPr wrap="square" rtlCol="0" anchor="ctr"/>
          <a:lstStyle/>
          <a:p>
            <a:pPr algn="ctr" indent="0" marL="0">
              <a:buNone/>
            </a:pPr>
            <a:r>
              <a:rPr lang="en-US" sz="1150" dirty="0">
                <a:solidFill>
                  <a:srgbClr val="A8A296"/>
                </a:solidFill>
                <a:latin typeface="Calibri" pitchFamily="34" charset="0"/>
                <a:ea typeface="Calibri" pitchFamily="34" charset="-122"/>
                <a:cs typeface="Calibri" pitchFamily="34" charset="-120"/>
              </a:rPr>
              <a:t>Ample · $2.0M private case  ·  $4.75M project  ·  4,925 SF  ·  5.71x stabilized coverage</a:t>
            </a:r>
            <a:endParaRPr lang="en-US" sz="1150" dirty="0"/>
          </a:p>
        </p:txBody>
      </p:sp>
      <p:sp>
        <p:nvSpPr>
          <p:cNvPr id="6" name="Text 4"/>
          <p:cNvSpPr/>
          <p:nvPr/>
        </p:nvSpPr>
        <p:spPr>
          <a:xfrm>
            <a:off x="502920" y="3017520"/>
            <a:ext cx="8138160" cy="274320"/>
          </a:xfrm>
          <a:prstGeom prst="rect">
            <a:avLst/>
          </a:prstGeom>
          <a:noFill/>
          <a:ln/>
        </p:spPr>
        <p:txBody>
          <a:bodyPr wrap="square" rtlCol="0" anchor="ctr"/>
          <a:lstStyle/>
          <a:p>
            <a:pPr algn="ctr" indent="0" marL="0">
              <a:buNone/>
            </a:pPr>
            <a:r>
              <a:rPr lang="en-US" sz="1050" dirty="0">
                <a:solidFill>
                  <a:srgbClr val="6E6A62"/>
                </a:solidFill>
                <a:latin typeface="Calibri" pitchFamily="34" charset="0"/>
                <a:ea typeface="Calibri" pitchFamily="34" charset="-122"/>
                <a:cs typeface="Calibri" pitchFamily="34" charset="-120"/>
              </a:rPr>
              <a:t>Full model, capacity workbook and buildout detail available under NDA.</a:t>
            </a:r>
            <a:endParaRPr lang="en-US" sz="1050" dirty="0"/>
          </a:p>
        </p:txBody>
      </p:sp>
      <p:sp>
        <p:nvSpPr>
          <p:cNvPr id="7" name="Text 5"/>
          <p:cNvSpPr/>
          <p:nvPr/>
        </p:nvSpPr>
        <p:spPr>
          <a:xfrm>
            <a:off x="502920" y="3364992"/>
            <a:ext cx="8138160" cy="320040"/>
          </a:xfrm>
          <a:prstGeom prst="rect">
            <a:avLst/>
          </a:prstGeom>
          <a:noFill/>
          <a:ln/>
        </p:spPr>
        <p:txBody>
          <a:bodyPr wrap="square" rtlCol="0" anchor="ctr"/>
          <a:lstStyle/>
          <a:p>
            <a:pPr algn="ctr" indent="0" marL="0">
              <a:buNone/>
            </a:pPr>
            <a:r>
              <a:rPr lang="en-US" sz="1400" dirty="0">
                <a:solidFill>
                  <a:srgbClr val="C08D7C"/>
                </a:solidFill>
                <a:latin typeface="Century Gothic" pitchFamily="34" charset="0"/>
                <a:ea typeface="Century Gothic" pitchFamily="34" charset="-122"/>
                <a:cs typeface="Century Gothic" pitchFamily="34" charset="-120"/>
              </a:rPr>
              <a:t>Laura@culvercitysurgical.com</a:t>
            </a:r>
            <a:endParaRPr lang="en-US" sz="1400" dirty="0"/>
          </a:p>
        </p:txBody>
      </p:sp>
      <p:sp>
        <p:nvSpPr>
          <p:cNvPr id="8" name="Text 6"/>
          <p:cNvSpPr/>
          <p:nvPr/>
        </p:nvSpPr>
        <p:spPr>
          <a:xfrm>
            <a:off x="502920" y="4206240"/>
            <a:ext cx="8138160" cy="457200"/>
          </a:xfrm>
          <a:prstGeom prst="rect">
            <a:avLst/>
          </a:prstGeom>
          <a:noFill/>
          <a:ln/>
        </p:spPr>
        <p:txBody>
          <a:bodyPr wrap="square" rtlCol="0" anchor="ctr"/>
          <a:lstStyle/>
          <a:p>
            <a:pPr algn="ctr" indent="0" marL="0">
              <a:buNone/>
            </a:pPr>
            <a:r>
              <a:rPr lang="en-US" sz="750" dirty="0">
                <a:solidFill>
                  <a:srgbClr val="6E6A62"/>
                </a:solidFill>
                <a:latin typeface="Calibri" pitchFamily="34" charset="0"/>
                <a:ea typeface="Calibri" pitchFamily="34" charset="-122"/>
                <a:cs typeface="Calibri" pitchFamily="34" charset="-120"/>
              </a:rPr>
              <a:t>This document is not an offer to sell or a solicitation of an offer to buy any security. Forward-looking figures are projections and not guarantees of future performance.</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Text 1"/>
          <p:cNvSpPr/>
          <p:nvPr/>
        </p:nvSpPr>
        <p:spPr>
          <a:xfrm>
            <a:off x="502920" y="1417320"/>
            <a:ext cx="8138160" cy="219456"/>
          </a:xfrm>
          <a:prstGeom prst="rect">
            <a:avLst/>
          </a:prstGeom>
          <a:noFill/>
          <a:ln/>
        </p:spPr>
        <p:txBody>
          <a:bodyPr wrap="square" rtlCol="0" anchor="ctr"/>
          <a:lstStyle/>
          <a:p>
            <a:pPr indent="0" marL="0">
              <a:buNone/>
            </a:pPr>
            <a:r>
              <a:rPr lang="en-US" sz="900" spc="340" kern="0" dirty="0">
                <a:solidFill>
                  <a:srgbClr val="C08D7C"/>
                </a:solidFill>
                <a:latin typeface="Century Gothic" pitchFamily="34" charset="0"/>
                <a:ea typeface="Century Gothic" pitchFamily="34" charset="-122"/>
                <a:cs typeface="Century Gothic" pitchFamily="34" charset="-120"/>
              </a:rPr>
              <a:t>APPENDIX</a:t>
            </a:r>
            <a:endParaRPr lang="en-US" sz="900" dirty="0"/>
          </a:p>
        </p:txBody>
      </p:sp>
      <p:sp>
        <p:nvSpPr>
          <p:cNvPr id="4" name="Text 2"/>
          <p:cNvSpPr/>
          <p:nvPr/>
        </p:nvSpPr>
        <p:spPr>
          <a:xfrm>
            <a:off x="502920" y="1691640"/>
            <a:ext cx="8138160" cy="548640"/>
          </a:xfrm>
          <a:prstGeom prst="rect">
            <a:avLst/>
          </a:prstGeom>
          <a:noFill/>
          <a:ln/>
        </p:spPr>
        <p:txBody>
          <a:bodyPr wrap="square" rtlCol="0" anchor="ctr"/>
          <a:lstStyle/>
          <a:p>
            <a:pPr indent="0" marL="0">
              <a:buNone/>
            </a:pPr>
            <a:r>
              <a:rPr lang="en-US" sz="3000" dirty="0">
                <a:solidFill>
                  <a:srgbClr val="EDE6DA"/>
                </a:solidFill>
                <a:latin typeface="Century Gothic" pitchFamily="34" charset="0"/>
                <a:ea typeface="Century Gothic" pitchFamily="34" charset="-122"/>
                <a:cs typeface="Century Gothic" pitchFamily="34" charset="-120"/>
              </a:rPr>
              <a:t>How these numbers were built.</a:t>
            </a:r>
            <a:endParaRPr lang="en-US" sz="3000" dirty="0"/>
          </a:p>
        </p:txBody>
      </p:sp>
      <p:sp>
        <p:nvSpPr>
          <p:cNvPr id="5" name="Shape 3"/>
          <p:cNvSpPr/>
          <p:nvPr/>
        </p:nvSpPr>
        <p:spPr>
          <a:xfrm>
            <a:off x="502920" y="2359152"/>
            <a:ext cx="822960" cy="36576"/>
          </a:xfrm>
          <a:prstGeom prst="rect">
            <a:avLst/>
          </a:prstGeom>
          <a:solidFill>
            <a:srgbClr val="C08D7C"/>
          </a:solidFill>
          <a:ln w="12700">
            <a:solidFill>
              <a:srgbClr val="C08D7C"/>
            </a:solidFill>
            <a:prstDash val="solid"/>
          </a:ln>
        </p:spPr>
      </p:sp>
      <p:sp>
        <p:nvSpPr>
          <p:cNvPr id="6" name="Text 4"/>
          <p:cNvSpPr/>
          <p:nvPr/>
        </p:nvSpPr>
        <p:spPr>
          <a:xfrm>
            <a:off x="502920" y="2606040"/>
            <a:ext cx="6673291" cy="640080"/>
          </a:xfrm>
          <a:prstGeom prst="rect">
            <a:avLst/>
          </a:prstGeom>
          <a:noFill/>
          <a:ln/>
        </p:spPr>
        <p:txBody>
          <a:bodyPr wrap="square" rtlCol="0" anchor="ctr"/>
          <a:lstStyle/>
          <a:p>
            <a:pPr indent="0" marL="0">
              <a:lnSpc>
                <a:spcPct val="125000"/>
              </a:lnSpc>
              <a:buNone/>
            </a:pPr>
            <a:r>
              <a:rPr lang="en-US" sz="1200" dirty="0">
                <a:solidFill>
                  <a:srgbClr val="A8A296"/>
                </a:solidFill>
                <a:latin typeface="Calibri" pitchFamily="34" charset="0"/>
                <a:ea typeface="Calibri" pitchFamily="34" charset="-122"/>
                <a:cs typeface="Calibri" pitchFamily="34" charset="-120"/>
              </a:rPr>
              <a:t>Everything in this brief resolves to a stabilized P&amp;L and a use-of-funds table. The slides that follow itemise both, every overhead line broken into its components, every capital line into what it buys, and the staffing plan named role by role.</a:t>
            </a:r>
            <a:endParaRPr lang="en-US" sz="1200" dirty="0"/>
          </a:p>
        </p:txBody>
      </p:sp>
      <p:sp>
        <p:nvSpPr>
          <p:cNvPr id="7" name="Text 5"/>
          <p:cNvSpPr/>
          <p:nvPr/>
        </p:nvSpPr>
        <p:spPr>
          <a:xfrm>
            <a:off x="502920" y="3310128"/>
            <a:ext cx="6673291" cy="731520"/>
          </a:xfrm>
          <a:prstGeom prst="rect">
            <a:avLst/>
          </a:prstGeom>
          <a:noFill/>
          <a:ln/>
        </p:spPr>
        <p:txBody>
          <a:bodyPr wrap="square" rtlCol="0" anchor="ctr"/>
          <a:lstStyle/>
          <a:p>
            <a:pPr indent="0" marL="0">
              <a:lnSpc>
                <a:spcPct val="125000"/>
              </a:lnSpc>
              <a:buNone/>
            </a:pPr>
            <a:r>
              <a:rPr lang="en-US" sz="1050" dirty="0">
                <a:solidFill>
                  <a:srgbClr val="6E6A62"/>
                </a:solidFill>
                <a:latin typeface="Calibri" pitchFamily="34" charset="0"/>
                <a:ea typeface="Calibri" pitchFamily="34" charset="-122"/>
                <a:cs typeface="Calibri" pitchFamily="34" charset="-120"/>
              </a:rPr>
              <a:t>These figures are generated from the same financial model that produces the rest of the deck, so the appendix cannot disagree with the pages in front of it. Each build-up is checked at build time to sum to the total it explains. The final page shows what happens to debt service coverage if the largest assumption, rent, turns out to be wrong.</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Rent, equipment and administration.</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Fixed overhead totals $207,673 a month. Rent is 4,925 SF at $5.50/SF/month NNN.</a:t>
            </a:r>
            <a:endParaRPr lang="en-US" sz="1150" dirty="0"/>
          </a:p>
        </p:txBody>
      </p:sp>
      <p:sp>
        <p:nvSpPr>
          <p:cNvPr id="5" name="Text 3"/>
          <p:cNvSpPr/>
          <p:nvPr/>
        </p:nvSpPr>
        <p:spPr>
          <a:xfrm>
            <a:off x="502920"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EQUIPMENT LEASES</a:t>
            </a:r>
            <a:endParaRPr lang="en-US" sz="7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Ammortal chamber (1 unit)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Aescape robotic massage (1 unit) subscription</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Second red light bed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Other leased equipment</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Balance of clinical equipment financed (~$190,000 @ 2.2%/mo)</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4180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$16,555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4"/>
          <p:cNvSpPr/>
          <p:nvPr/>
        </p:nvSpPr>
        <p:spPr>
          <a:xfrm>
            <a:off x="4672584"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ADMIN AND MANAGEMENT</a:t>
            </a:r>
            <a:endParaRPr lang="en-US" sz="7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4672584"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Bookkeeping and accounting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Legal and compliance retainer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IT and managed services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Business insurance (GL, property, cyber)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Merchant processing and banking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9" name="Text 5"/>
          <p:cNvSpPr/>
          <p:nvPr/>
        </p:nvSpPr>
        <p:spPr>
          <a:xfrm>
            <a:off x="502920" y="3886200"/>
            <a:ext cx="8138160" cy="59436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One Ammortal chamber, not two: $159,500 list including delivery, install and onboarding, a 10% deposit, and roughly $3,000 a month on vendor financing. Aescape cannot be purchased at all, and the single unit runs $5,000 a month on enterprise terms plus $10 for every completed massage, which is a variable cost already sitting inside that service line’s margin rather than here. The second red light bed is vendor-financed at $1,375 a month: red light runs 650 sessions a month on the current menu, which one bed cannot physically deliver.</a:t>
            </a:r>
            <a:endParaRPr lang="en-US" sz="85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Clinical and club staff: $85,920/month.</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named roster of nine posts priced off hourly rates at 160 hours a month, carried as fully loaded. Coverage against a 14-hour, 7-day week has not yet been tested.</a:t>
            </a:r>
            <a:endParaRPr lang="en-US" sz="11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120640"/>
                <a:gridCol w="1097280"/>
                <a:gridCol w="192024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Role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FTE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 loaded</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Officers (2 @ $150,000/yr)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Director (MD/DO)</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Aesthetics Injector (NP or PA): $85/hr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$13,600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Longevity Clinical Lead (NP or PA): $100/hr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Registered Nurse (IV, regenerative, recovery): $55/hr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$8,800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LVN: $30/hr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$4,800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assistant / technician: $25/hr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Administrator: $45/hr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$7,200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Front desk / concierge: $22/hr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$3,520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$85,920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Marketing and insurance.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7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Paid digital and social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Content, photography, video</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Events and community programming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Agency / fractional marketing lead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Referral and partnership incentives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$30,000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MALPRACTICE AND LIABILITY</a:t>
            </a:r>
            <a:endParaRPr lang="en-US" sz="75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Director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 injector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Longevity clinical lead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Nursing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Entity policy and umbrella</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3840480"/>
            <a:ext cx="8138160" cy="50292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50" dirty="0"/>
          </a:p>
        </p:txBody>
      </p:sp>
      <p:sp>
        <p:nvSpPr>
          <p:cNvPr id="9"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10"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Utilities and compliance.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7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Utilities (electric, gas, water)</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 platform and booking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EMR / charting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Phone, internet, security monitoring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Laundry and linen service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Music, AV, miscellaneous systems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LICENSING AND COMPLIANCE</a:t>
            </a:r>
            <a:endParaRPr lang="en-US" sz="750" dirty="0"/>
          </a:p>
        </p:txBody>
      </p:sp>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Business licenses and permits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CLIA waiver / lab (bi-annual, amortised)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$1,610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COST OF GOODS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the margins pay for.</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Cost of goods runs $165,563 a month against $598,036 of revenue, a blended 72.3% margin.</a:t>
            </a:r>
            <a:endParaRPr lang="en-US" sz="11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737360"/>
                <a:gridCol w="822960"/>
                <a:gridCol w="557784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Category</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Margin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What the cost side is</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80–82%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Consumables, filters and water treatment, linens, device servicing contracts. Almost no per-session variable cost, which is why these margins are the highest in the building.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60–72%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Draw kits, separation tubes and centrifuge consumables, needles and sharps, topical anaesthetic. Cost per case is close to fixed, so the margin spread across the six lines is a pricing decision rather than a cost 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Regenerative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56–78%</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IV bags and tubing, vitamins, glutathione and NAD+ compound, pharmacy cost on prescribed therapeutics. The widest band in the book: NAD+ carries the compound cost and the hydration drips carry almost none.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65–75%</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Neuromodulator and filler units at acquisition cost, RF microneedling tips, laser consumables, topicals. Filler is the thinnest because product cost dominates a single syringe.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Diagnostics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65–77%</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Reference lab send-out fees, DEXA consumables, DNA and DUTCH collection kits, interpretation time. DEXA sits at the top because the scanner is owned and the marginal cost of a scan is small.</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facility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78–80%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Disposables, implants, drugs and linens, instrument reprocessing. Clinical staff sits in fixed overhead and the surgeon takes no share of the facility fee, which is why these exceed the treatment-room lines.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full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73–76%</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As above, plus graft handling and technician time on hair restoration and laser consumables on ablative resurfacing.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069080"/>
            <a:ext cx="8138160" cy="365760"/>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Circuit consumables (towels, laundry, water and amenities) are carried separately at $8 a visit across 2,345 monthly visits, or $18,760.</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itemised capital lines.</a:t>
            </a:r>
            <a:endParaRPr lang="en-US" sz="2600" dirty="0"/>
          </a:p>
        </p:txBody>
      </p:sp>
      <p:sp>
        <p:nvSpPr>
          <p:cNvPr id="4" name="Text 2"/>
          <p:cNvSpPr/>
          <p:nvPr/>
        </p:nvSpPr>
        <p:spPr>
          <a:xfrm>
            <a:off x="502920"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WET AREAS</a:t>
            </a:r>
            <a:endParaRPr lang="en-US" sz="7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Saunas (2), cedar, heaters, controls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Cold plunges (2), chillers, filtration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Steam room and generator</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Waterproofing, drainage, floor slopes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Dedicated ventilation and dehumidification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Tile, benching, finishes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RECOVERY TECHNOLOGY</a:t>
            </a:r>
            <a:endParaRPr lang="en-US" sz="750" dirty="0"/>
          </a:p>
        </p:txBody>
      </p:sp>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4672584"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 chamber, purchased</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 ($159,500 list), 10% finance deposit</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 (1 unit), subscription only</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Buildout and tenant improvements (4,925 SF @ $250/SF)</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$1,231,250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Square footage × $250/SF for clinic and club space.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 areas: 2 saunas, 2 plunges, steam, drainage…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Itemised below. Wet construction is the highest-variance line in the whole buildout: waterproofing failures…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and aesthetic equipment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medical and aesthetic package. Excludes bone densitometry, which is itemised on…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technology: HBOT purchased, Ammortal deposit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Only the hyperbaric chamber is bought outright. The Ammortal chamber is financed, so the capital cost is…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GE iDXA bone densitometer,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GE Lunar iDXA bone densitometer, bought outright rather than leased, plus the 125 SF room it occupies.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FF&amp;E, lounge, millwork, retail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$430,000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Furniture, lounge fit-out, millwork and retail fixtures.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Pre-opening: licensing, legal, insurance, hiring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Licensing, legal, insurance binders, recruiting and pre-opening payroll.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Brand, launch, founding member campaign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$237,000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Identity, site, photography, launch campaign and the founding member drive.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Working capital and debt service reserve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$1,105,800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Sized against the modelled cash trough, not set to a round number.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 project cost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$4,750,000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rent is wrong, what happens.</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Rent is the largest single assumption in the model and the easiest to check. Everything else is held constant.</a:t>
            </a:r>
            <a:endParaRPr lang="en-US" sz="11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8138160" cy="914400"/>
        </p:xfrm>
        <a:graphic>
          <a:graphicData uri="http://schemas.openxmlformats.org/drawingml/2006/table">
            <a:tbl>
              <a:tblPr/>
              <a:tblGrid>
                <a:gridCol w="2103120"/>
                <a:gridCol w="1463040"/>
                <a:gridCol w="1645920"/>
                <a:gridCol w="1554480"/>
                <a:gridCol w="137160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Rent $/SF/month NNN</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 rent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 /mo</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Annual</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$5.50  (modelled)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$27,088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$224,801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$2,697,611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5.71x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$29,550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$222,338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$2,668,061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5.64x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$32,013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$219,876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$2,638,511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5.58x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$34,475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$217,413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$2,608,961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5.52x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361188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Coverage against the 1.25x underwriting convention. The modelled rate is the more aggressive of the figures shown; a broker letter or signed lease would replace this assumption with a fact.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AMPLE · $2.0M PRIVATE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34</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Investor and SBA Brief</dc:subject>
  <dc:creator>LK Wellness</dc:creator>
  <cp:lastModifiedBy>LK Wellness</cp:lastModifiedBy>
  <cp:revision>1</cp:revision>
  <dcterms:created xsi:type="dcterms:W3CDTF">2026-08-17T08:17:38Z</dcterms:created>
  <dcterms:modified xsi:type="dcterms:W3CDTF">2026-08-17T08:17:38Z</dcterms:modified>
</cp:coreProperties>
</file>
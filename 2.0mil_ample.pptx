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5,800 SF   ·   Est. 2026   ·   Ample · $2.0M private case, $5.0M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Staff, MEP, storage,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3"/>
          <p:cNvSpPr/>
          <p:nvPr/>
        </p:nvSpPr>
        <p:spPr>
          <a:xfrm>
            <a:off x="4754880" y="3931920"/>
            <a:ext cx="3520440" cy="7315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Equipment strategy: Purchased where payback justifies it. Wet areas drive cost — plunges, saunas and steam carry a materially higher per-SF buildout than a dry medspa, which is why the lean case trims the contrast suite before it trims treatment rooms.</a:t>
            </a:r>
            <a:endParaRPr lang="en-US" sz="85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55%</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280 procedures against 507 practical capacity, leaving 227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$419,230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-$23,178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$266,552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$517,177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563127"/>
            <a:ext cx="8138160" cy="10973"/>
          </a:xfrm>
          <a:prstGeom prst="rect">
            <a:avLst/>
          </a:prstGeom>
          <a:solidFill>
            <a:srgbClr val="2E4237"/>
          </a:solidFill>
          <a:ln w="12700">
            <a:solidFill>
              <a:srgbClr val="2E4237"/>
            </a:solidFill>
            <a:prstDash val="solid"/>
          </a:ln>
        </p:spPr>
      </p:sp>
      <p:sp>
        <p:nvSpPr>
          <p:cNvPr id="7" name="Shape 5"/>
          <p:cNvSpPr/>
          <p:nvPr/>
        </p:nvSpPr>
        <p:spPr>
          <a:xfrm>
            <a:off x="539090" y="2563127"/>
            <a:ext cx="153721" cy="977223"/>
          </a:xfrm>
          <a:prstGeom prst="rect">
            <a:avLst/>
          </a:prstGeom>
          <a:solidFill>
            <a:srgbClr val="2E4237"/>
          </a:solidFill>
          <a:ln w="12700">
            <a:solidFill>
              <a:srgbClr val="2E4237"/>
            </a:solidFill>
            <a:prstDash val="solid"/>
          </a:ln>
        </p:spPr>
      </p:sp>
      <p:sp>
        <p:nvSpPr>
          <p:cNvPr id="8" name="Shape 6"/>
          <p:cNvSpPr/>
          <p:nvPr/>
        </p:nvSpPr>
        <p:spPr>
          <a:xfrm>
            <a:off x="765150" y="2563127"/>
            <a:ext cx="153721" cy="977223"/>
          </a:xfrm>
          <a:prstGeom prst="rect">
            <a:avLst/>
          </a:prstGeom>
          <a:solidFill>
            <a:srgbClr val="2E4237"/>
          </a:solidFill>
          <a:ln w="12700">
            <a:solidFill>
              <a:srgbClr val="2E4237"/>
            </a:solidFill>
            <a:prstDash val="solid"/>
          </a:ln>
        </p:spPr>
      </p:sp>
      <p:sp>
        <p:nvSpPr>
          <p:cNvPr id="9" name="Shape 7"/>
          <p:cNvSpPr/>
          <p:nvPr/>
        </p:nvSpPr>
        <p:spPr>
          <a:xfrm>
            <a:off x="991210" y="2563127"/>
            <a:ext cx="153721" cy="977223"/>
          </a:xfrm>
          <a:prstGeom prst="rect">
            <a:avLst/>
          </a:prstGeom>
          <a:solidFill>
            <a:srgbClr val="2E4237"/>
          </a:solidFill>
          <a:ln w="12700">
            <a:solidFill>
              <a:srgbClr val="2E4237"/>
            </a:solidFill>
            <a:prstDash val="solid"/>
          </a:ln>
        </p:spPr>
      </p:sp>
      <p:sp>
        <p:nvSpPr>
          <p:cNvPr id="10" name="Shape 8"/>
          <p:cNvSpPr/>
          <p:nvPr/>
        </p:nvSpPr>
        <p:spPr>
          <a:xfrm>
            <a:off x="1217270" y="2563127"/>
            <a:ext cx="153721" cy="977223"/>
          </a:xfrm>
          <a:prstGeom prst="rect">
            <a:avLst/>
          </a:prstGeom>
          <a:solidFill>
            <a:srgbClr val="2E4237"/>
          </a:solidFill>
          <a:ln w="12700">
            <a:solidFill>
              <a:srgbClr val="2E4237"/>
            </a:solidFill>
            <a:prstDash val="solid"/>
          </a:ln>
        </p:spPr>
      </p:sp>
      <p:sp>
        <p:nvSpPr>
          <p:cNvPr id="11" name="Shape 9"/>
          <p:cNvSpPr/>
          <p:nvPr/>
        </p:nvSpPr>
        <p:spPr>
          <a:xfrm>
            <a:off x="1443330" y="2563127"/>
            <a:ext cx="153721" cy="977223"/>
          </a:xfrm>
          <a:prstGeom prst="rect">
            <a:avLst/>
          </a:prstGeom>
          <a:solidFill>
            <a:srgbClr val="2E4237"/>
          </a:solidFill>
          <a:ln w="12700">
            <a:solidFill>
              <a:srgbClr val="2E4237"/>
            </a:solidFill>
            <a:prstDash val="solid"/>
          </a:ln>
        </p:spPr>
      </p:sp>
      <p:sp>
        <p:nvSpPr>
          <p:cNvPr id="12" name="Shape 10"/>
          <p:cNvSpPr/>
          <p:nvPr/>
        </p:nvSpPr>
        <p:spPr>
          <a:xfrm>
            <a:off x="1669390" y="2563127"/>
            <a:ext cx="153721" cy="97722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563127"/>
            <a:ext cx="153721" cy="1387081"/>
          </a:xfrm>
          <a:prstGeom prst="rect">
            <a:avLst/>
          </a:prstGeom>
          <a:solidFill>
            <a:srgbClr val="2E4237"/>
          </a:solidFill>
          <a:ln w="12700">
            <a:solidFill>
              <a:srgbClr val="2E4237"/>
            </a:solidFill>
            <a:prstDash val="solid"/>
          </a:ln>
        </p:spPr>
      </p:sp>
      <p:sp>
        <p:nvSpPr>
          <p:cNvPr id="15" name="Shape 13"/>
          <p:cNvSpPr/>
          <p:nvPr/>
        </p:nvSpPr>
        <p:spPr>
          <a:xfrm>
            <a:off x="2121510" y="2563127"/>
            <a:ext cx="153721" cy="1122313"/>
          </a:xfrm>
          <a:prstGeom prst="rect">
            <a:avLst/>
          </a:prstGeom>
          <a:solidFill>
            <a:srgbClr val="2E4237"/>
          </a:solidFill>
          <a:ln w="12700">
            <a:solidFill>
              <a:srgbClr val="2E4237"/>
            </a:solidFill>
            <a:prstDash val="solid"/>
          </a:ln>
        </p:spPr>
      </p:sp>
      <p:sp>
        <p:nvSpPr>
          <p:cNvPr id="16" name="Shape 14"/>
          <p:cNvSpPr/>
          <p:nvPr/>
        </p:nvSpPr>
        <p:spPr>
          <a:xfrm>
            <a:off x="2347570" y="2563127"/>
            <a:ext cx="153721" cy="819716"/>
          </a:xfrm>
          <a:prstGeom prst="rect">
            <a:avLst/>
          </a:prstGeom>
          <a:solidFill>
            <a:srgbClr val="2E4237"/>
          </a:solidFill>
          <a:ln w="12700">
            <a:solidFill>
              <a:srgbClr val="2E4237"/>
            </a:solidFill>
            <a:prstDash val="solid"/>
          </a:ln>
        </p:spPr>
      </p:sp>
      <p:sp>
        <p:nvSpPr>
          <p:cNvPr id="17" name="Shape 15"/>
          <p:cNvSpPr/>
          <p:nvPr/>
        </p:nvSpPr>
        <p:spPr>
          <a:xfrm>
            <a:off x="2573630" y="2563127"/>
            <a:ext cx="153721" cy="592778"/>
          </a:xfrm>
          <a:prstGeom prst="rect">
            <a:avLst/>
          </a:prstGeom>
          <a:solidFill>
            <a:srgbClr val="2E4237"/>
          </a:solidFill>
          <a:ln w="12700">
            <a:solidFill>
              <a:srgbClr val="2E4237"/>
            </a:solidFill>
            <a:prstDash val="solid"/>
          </a:ln>
        </p:spPr>
      </p:sp>
      <p:sp>
        <p:nvSpPr>
          <p:cNvPr id="18" name="Shape 16"/>
          <p:cNvSpPr/>
          <p:nvPr/>
        </p:nvSpPr>
        <p:spPr>
          <a:xfrm>
            <a:off x="2799690" y="2563127"/>
            <a:ext cx="153721" cy="365831"/>
          </a:xfrm>
          <a:prstGeom prst="rect">
            <a:avLst/>
          </a:prstGeom>
          <a:solidFill>
            <a:srgbClr val="2E4237"/>
          </a:solidFill>
          <a:ln w="12700">
            <a:solidFill>
              <a:srgbClr val="2E4237"/>
            </a:solidFill>
            <a:prstDash val="solid"/>
          </a:ln>
        </p:spPr>
      </p:sp>
      <p:sp>
        <p:nvSpPr>
          <p:cNvPr id="19" name="Shape 17"/>
          <p:cNvSpPr/>
          <p:nvPr/>
        </p:nvSpPr>
        <p:spPr>
          <a:xfrm>
            <a:off x="3025750" y="2563127"/>
            <a:ext cx="153721" cy="138883"/>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475062"/>
            <a:ext cx="153721" cy="88065"/>
          </a:xfrm>
          <a:prstGeom prst="rect">
            <a:avLst/>
          </a:prstGeom>
          <a:solidFill>
            <a:srgbClr val="C08D7C"/>
          </a:solidFill>
          <a:ln w="12700">
            <a:solidFill>
              <a:srgbClr val="C08D7C"/>
            </a:solidFill>
            <a:prstDash val="solid"/>
          </a:ln>
        </p:spPr>
      </p:sp>
      <p:sp>
        <p:nvSpPr>
          <p:cNvPr id="22" name="Shape 20"/>
          <p:cNvSpPr/>
          <p:nvPr/>
        </p:nvSpPr>
        <p:spPr>
          <a:xfrm>
            <a:off x="3477870" y="2323773"/>
            <a:ext cx="153721" cy="239354"/>
          </a:xfrm>
          <a:prstGeom prst="rect">
            <a:avLst/>
          </a:prstGeom>
          <a:solidFill>
            <a:srgbClr val="C08D7C"/>
          </a:solidFill>
          <a:ln w="12700">
            <a:solidFill>
              <a:srgbClr val="C08D7C"/>
            </a:solidFill>
            <a:prstDash val="solid"/>
          </a:ln>
        </p:spPr>
      </p:sp>
      <p:sp>
        <p:nvSpPr>
          <p:cNvPr id="23" name="Shape 21"/>
          <p:cNvSpPr/>
          <p:nvPr/>
        </p:nvSpPr>
        <p:spPr>
          <a:xfrm>
            <a:off x="3703930" y="2172475"/>
            <a:ext cx="153721" cy="390652"/>
          </a:xfrm>
          <a:prstGeom prst="rect">
            <a:avLst/>
          </a:prstGeom>
          <a:solidFill>
            <a:srgbClr val="C08D7C"/>
          </a:solidFill>
          <a:ln w="12700">
            <a:solidFill>
              <a:srgbClr val="C08D7C"/>
            </a:solidFill>
            <a:prstDash val="solid"/>
          </a:ln>
        </p:spPr>
      </p:sp>
      <p:sp>
        <p:nvSpPr>
          <p:cNvPr id="24" name="Shape 22"/>
          <p:cNvSpPr/>
          <p:nvPr/>
        </p:nvSpPr>
        <p:spPr>
          <a:xfrm>
            <a:off x="3929990" y="2021176"/>
            <a:ext cx="153721" cy="541951"/>
          </a:xfrm>
          <a:prstGeom prst="rect">
            <a:avLst/>
          </a:prstGeom>
          <a:solidFill>
            <a:srgbClr val="C08D7C"/>
          </a:solidFill>
          <a:ln w="12700">
            <a:solidFill>
              <a:srgbClr val="C08D7C"/>
            </a:solidFill>
            <a:prstDash val="solid"/>
          </a:ln>
        </p:spPr>
      </p:sp>
      <p:sp>
        <p:nvSpPr>
          <p:cNvPr id="25" name="Shape 23"/>
          <p:cNvSpPr/>
          <p:nvPr/>
        </p:nvSpPr>
        <p:spPr>
          <a:xfrm>
            <a:off x="4156050" y="1869878"/>
            <a:ext cx="153721" cy="693249"/>
          </a:xfrm>
          <a:prstGeom prst="rect">
            <a:avLst/>
          </a:prstGeom>
          <a:solidFill>
            <a:srgbClr val="C08D7C"/>
          </a:solidFill>
          <a:ln w="12700">
            <a:solidFill>
              <a:srgbClr val="C08D7C"/>
            </a:solidFill>
            <a:prstDash val="solid"/>
          </a:ln>
        </p:spPr>
      </p:sp>
      <p:sp>
        <p:nvSpPr>
          <p:cNvPr id="26" name="Shape 24"/>
          <p:cNvSpPr/>
          <p:nvPr/>
        </p:nvSpPr>
        <p:spPr>
          <a:xfrm>
            <a:off x="4382110" y="1840171"/>
            <a:ext cx="153721" cy="722956"/>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10454"/>
            <a:ext cx="153721" cy="752673"/>
          </a:xfrm>
          <a:prstGeom prst="rect">
            <a:avLst/>
          </a:prstGeom>
          <a:solidFill>
            <a:srgbClr val="C08D7C"/>
          </a:solidFill>
          <a:ln w="12700">
            <a:solidFill>
              <a:srgbClr val="C08D7C"/>
            </a:solidFill>
            <a:prstDash val="solid"/>
          </a:ln>
        </p:spPr>
      </p:sp>
      <p:sp>
        <p:nvSpPr>
          <p:cNvPr id="29" name="Shape 27"/>
          <p:cNvSpPr/>
          <p:nvPr/>
        </p:nvSpPr>
        <p:spPr>
          <a:xfrm>
            <a:off x="4834230" y="1780747"/>
            <a:ext cx="153721" cy="782380"/>
          </a:xfrm>
          <a:prstGeom prst="rect">
            <a:avLst/>
          </a:prstGeom>
          <a:solidFill>
            <a:srgbClr val="C08D7C"/>
          </a:solidFill>
          <a:ln w="12700">
            <a:solidFill>
              <a:srgbClr val="C08D7C"/>
            </a:solidFill>
            <a:prstDash val="solid"/>
          </a:ln>
        </p:spPr>
      </p:sp>
      <p:sp>
        <p:nvSpPr>
          <p:cNvPr id="30" name="Shape 28"/>
          <p:cNvSpPr/>
          <p:nvPr/>
        </p:nvSpPr>
        <p:spPr>
          <a:xfrm>
            <a:off x="5060290" y="1751040"/>
            <a:ext cx="153721" cy="812087"/>
          </a:xfrm>
          <a:prstGeom prst="rect">
            <a:avLst/>
          </a:prstGeom>
          <a:solidFill>
            <a:srgbClr val="C08D7C"/>
          </a:solidFill>
          <a:ln w="12700">
            <a:solidFill>
              <a:srgbClr val="C08D7C"/>
            </a:solidFill>
            <a:prstDash val="solid"/>
          </a:ln>
        </p:spPr>
      </p:sp>
      <p:sp>
        <p:nvSpPr>
          <p:cNvPr id="31" name="Shape 29"/>
          <p:cNvSpPr/>
          <p:nvPr/>
        </p:nvSpPr>
        <p:spPr>
          <a:xfrm>
            <a:off x="5286350" y="1721323"/>
            <a:ext cx="153721" cy="841804"/>
          </a:xfrm>
          <a:prstGeom prst="rect">
            <a:avLst/>
          </a:prstGeom>
          <a:solidFill>
            <a:srgbClr val="C08D7C"/>
          </a:solidFill>
          <a:ln w="12700">
            <a:solidFill>
              <a:srgbClr val="C08D7C"/>
            </a:solidFill>
            <a:prstDash val="solid"/>
          </a:ln>
        </p:spPr>
      </p:sp>
      <p:sp>
        <p:nvSpPr>
          <p:cNvPr id="32" name="Shape 30"/>
          <p:cNvSpPr/>
          <p:nvPr/>
        </p:nvSpPr>
        <p:spPr>
          <a:xfrm>
            <a:off x="5512410" y="1701515"/>
            <a:ext cx="153721" cy="861612"/>
          </a:xfrm>
          <a:prstGeom prst="rect">
            <a:avLst/>
          </a:prstGeom>
          <a:solidFill>
            <a:srgbClr val="C08D7C"/>
          </a:solidFill>
          <a:ln w="12700">
            <a:solidFill>
              <a:srgbClr val="C08D7C"/>
            </a:solidFill>
            <a:prstDash val="solid"/>
          </a:ln>
        </p:spPr>
      </p:sp>
      <p:sp>
        <p:nvSpPr>
          <p:cNvPr id="33" name="Shape 31"/>
          <p:cNvSpPr/>
          <p:nvPr/>
        </p:nvSpPr>
        <p:spPr>
          <a:xfrm>
            <a:off x="5738470" y="1681717"/>
            <a:ext cx="153721" cy="881410"/>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61909"/>
            <a:ext cx="153721" cy="901218"/>
          </a:xfrm>
          <a:prstGeom prst="rect">
            <a:avLst/>
          </a:prstGeom>
          <a:solidFill>
            <a:srgbClr val="C08D7C"/>
          </a:solidFill>
          <a:ln w="12700">
            <a:solidFill>
              <a:srgbClr val="C08D7C"/>
            </a:solidFill>
            <a:prstDash val="solid"/>
          </a:ln>
        </p:spPr>
      </p:sp>
      <p:sp>
        <p:nvSpPr>
          <p:cNvPr id="36" name="Shape 34"/>
          <p:cNvSpPr/>
          <p:nvPr/>
        </p:nvSpPr>
        <p:spPr>
          <a:xfrm>
            <a:off x="6190590" y="1642101"/>
            <a:ext cx="153721" cy="921026"/>
          </a:xfrm>
          <a:prstGeom prst="rect">
            <a:avLst/>
          </a:prstGeom>
          <a:solidFill>
            <a:srgbClr val="C08D7C"/>
          </a:solidFill>
          <a:ln w="12700">
            <a:solidFill>
              <a:srgbClr val="C08D7C"/>
            </a:solidFill>
            <a:prstDash val="solid"/>
          </a:ln>
        </p:spPr>
      </p:sp>
      <p:sp>
        <p:nvSpPr>
          <p:cNvPr id="37" name="Shape 35"/>
          <p:cNvSpPr/>
          <p:nvPr/>
        </p:nvSpPr>
        <p:spPr>
          <a:xfrm>
            <a:off x="6416650" y="1632192"/>
            <a:ext cx="153721" cy="930935"/>
          </a:xfrm>
          <a:prstGeom prst="rect">
            <a:avLst/>
          </a:prstGeom>
          <a:solidFill>
            <a:srgbClr val="C08D7C"/>
          </a:solidFill>
          <a:ln w="12700">
            <a:solidFill>
              <a:srgbClr val="C08D7C"/>
            </a:solidFill>
            <a:prstDash val="solid"/>
          </a:ln>
        </p:spPr>
      </p:sp>
      <p:sp>
        <p:nvSpPr>
          <p:cNvPr id="38" name="Shape 36"/>
          <p:cNvSpPr/>
          <p:nvPr/>
        </p:nvSpPr>
        <p:spPr>
          <a:xfrm>
            <a:off x="6642710" y="1612384"/>
            <a:ext cx="153721" cy="950743"/>
          </a:xfrm>
          <a:prstGeom prst="rect">
            <a:avLst/>
          </a:prstGeom>
          <a:solidFill>
            <a:srgbClr val="C08D7C"/>
          </a:solidFill>
          <a:ln w="12700">
            <a:solidFill>
              <a:srgbClr val="C08D7C"/>
            </a:solidFill>
            <a:prstDash val="solid"/>
          </a:ln>
        </p:spPr>
      </p:sp>
      <p:sp>
        <p:nvSpPr>
          <p:cNvPr id="39" name="Shape 37"/>
          <p:cNvSpPr/>
          <p:nvPr/>
        </p:nvSpPr>
        <p:spPr>
          <a:xfrm>
            <a:off x="6868770" y="1602485"/>
            <a:ext cx="153721" cy="960642"/>
          </a:xfrm>
          <a:prstGeom prst="rect">
            <a:avLst/>
          </a:prstGeom>
          <a:solidFill>
            <a:srgbClr val="C08D7C"/>
          </a:solidFill>
          <a:ln w="12700">
            <a:solidFill>
              <a:srgbClr val="C08D7C"/>
            </a:solidFill>
            <a:prstDash val="solid"/>
          </a:ln>
        </p:spPr>
      </p:sp>
      <p:sp>
        <p:nvSpPr>
          <p:cNvPr id="40" name="Shape 38"/>
          <p:cNvSpPr/>
          <p:nvPr/>
        </p:nvSpPr>
        <p:spPr>
          <a:xfrm>
            <a:off x="7094830" y="1592576"/>
            <a:ext cx="153721" cy="970551"/>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2677"/>
            <a:ext cx="153721" cy="980450"/>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990359"/>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990359"/>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990359"/>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990359"/>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990359"/>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$100,346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$-140,543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-$731,184 at month 13, against a $1,146,000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$517,177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-$115,171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$383,246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(5,800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-$31,900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-$135,000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-$282,900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$100,346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$-0.08M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$372,367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$275,937</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$-6,963</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-0.16x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$1.20M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$517,177</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$383,246</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$100,346</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2.33x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$2.49M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$661,986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$490,554</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$207,654</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4.83x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$3.0M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$5.0M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40%</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$3,000,000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2.33x.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$5.0M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$731,184 at month 13, not to a round number.</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$1,146,000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$5,000,000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$23,750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$42,978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$1,146,000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-$1,042,606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$213,750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-4.88x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$770,884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$400,368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1.93x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$1,172,038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$515,736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2.27x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$1,204,146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$515,736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2.33x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2.33x at 9.5%   ·   2.25x at 10.5%   ·   2.17x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$1,146,000 reserve inside use of funds is sized against a modeled cash trough of $731,184 at month 13.</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1.93x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2.33x at 9.5%, 2.25x at 10.5%, 2.17x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$2.0M private case  ·  $5.0M project  ·  5,800 SF  ·  2.33x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2026-08-12T09:35:55Z</dcterms:created>
  <dcterms:modified xsi:type="dcterms:W3CDTF">2026-08-12T09:35:55Z</dcterms:modified>
</cp:coreProperties>
</file>
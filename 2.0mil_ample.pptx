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4,925 SF   ·   Est. 2026   ·   Ample · $2.0M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OFFERING</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Five verbs, not a billing menu.</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information architecture borrows from how a health club organizes itself rather than how a clinic does. Patients do not shop by billing code; they arrive wanting to feel a specific way.</a:t>
            </a:r>
            <a:endParaRPr lang="en-US" sz="1150" dirty="0"/>
          </a:p>
        </p:txBody>
      </p:sp>
      <p:sp>
        <p:nvSpPr>
          <p:cNvPr id="5" name="Shape 3"/>
          <p:cNvSpPr/>
          <p:nvPr/>
        </p:nvSpPr>
        <p:spPr>
          <a:xfrm>
            <a:off x="502920" y="1965960"/>
            <a:ext cx="1525219" cy="2286000"/>
          </a:xfrm>
          <a:prstGeom prst="roundRect">
            <a:avLst>
              <a:gd name="adj" fmla="val 3597"/>
            </a:avLst>
          </a:prstGeom>
          <a:solidFill>
            <a:srgbClr val="16241C"/>
          </a:solidFill>
          <a:ln w="12700">
            <a:solidFill>
              <a:srgbClr val="2E4237"/>
            </a:solidFill>
            <a:prstDash val="solid"/>
          </a:ln>
        </p:spPr>
      </p:sp>
      <p:sp>
        <p:nvSpPr>
          <p:cNvPr id="6" name="Text 4"/>
          <p:cNvSpPr/>
          <p:nvPr/>
        </p:nvSpPr>
        <p:spPr>
          <a:xfrm>
            <a:off x="62179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RESTORE</a:t>
            </a:r>
            <a:endParaRPr lang="en-US" sz="750" dirty="0"/>
          </a:p>
        </p:txBody>
      </p:sp>
      <p:sp>
        <p:nvSpPr>
          <p:cNvPr id="7" name="Text 5"/>
          <p:cNvSpPr/>
          <p:nvPr/>
        </p:nvSpPr>
        <p:spPr>
          <a:xfrm>
            <a:off x="62179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Regenerative</a:t>
            </a:r>
            <a:endParaRPr lang="en-US" sz="1200" dirty="0"/>
          </a:p>
        </p:txBody>
      </p:sp>
      <p:sp>
        <p:nvSpPr>
          <p:cNvPr id="8" name="Text 6"/>
          <p:cNvSpPr/>
          <p:nvPr/>
        </p:nvSpPr>
        <p:spPr>
          <a:xfrm>
            <a:off x="62179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Six PRP protocols, therapeutic medications, a ten-drip infusion menu and NAD+ by dose.</a:t>
            </a:r>
            <a:endParaRPr lang="en-US" sz="800" dirty="0"/>
          </a:p>
        </p:txBody>
      </p:sp>
      <p:sp>
        <p:nvSpPr>
          <p:cNvPr id="9" name="Shape 7"/>
          <p:cNvSpPr/>
          <p:nvPr/>
        </p:nvSpPr>
        <p:spPr>
          <a:xfrm>
            <a:off x="2156155" y="1965960"/>
            <a:ext cx="1525219" cy="2286000"/>
          </a:xfrm>
          <a:prstGeom prst="roundRect">
            <a:avLst>
              <a:gd name="adj" fmla="val 3597"/>
            </a:avLst>
          </a:prstGeom>
          <a:solidFill>
            <a:srgbClr val="16241C"/>
          </a:solidFill>
          <a:ln w="12700">
            <a:solidFill>
              <a:srgbClr val="2E4237"/>
            </a:solidFill>
            <a:prstDash val="solid"/>
          </a:ln>
        </p:spPr>
      </p:sp>
      <p:sp>
        <p:nvSpPr>
          <p:cNvPr id="10" name="Text 8"/>
          <p:cNvSpPr/>
          <p:nvPr/>
        </p:nvSpPr>
        <p:spPr>
          <a:xfrm>
            <a:off x="2275027"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RENEW</a:t>
            </a:r>
            <a:endParaRPr lang="en-US" sz="750" dirty="0"/>
          </a:p>
        </p:txBody>
      </p:sp>
      <p:sp>
        <p:nvSpPr>
          <p:cNvPr id="11" name="Text 9"/>
          <p:cNvSpPr/>
          <p:nvPr/>
        </p:nvSpPr>
        <p:spPr>
          <a:xfrm>
            <a:off x="2275027"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Aesthetics</a:t>
            </a:r>
            <a:endParaRPr lang="en-US" sz="1200" dirty="0"/>
          </a:p>
        </p:txBody>
      </p:sp>
      <p:sp>
        <p:nvSpPr>
          <p:cNvPr id="12" name="Text 10"/>
          <p:cNvSpPr/>
          <p:nvPr/>
        </p:nvSpPr>
        <p:spPr>
          <a:xfrm>
            <a:off x="2275027"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Neuromodulators and filler, RF microneedling, laser resurfacing.</a:t>
            </a:r>
            <a:endParaRPr lang="en-US" sz="800" dirty="0"/>
          </a:p>
        </p:txBody>
      </p:sp>
      <p:sp>
        <p:nvSpPr>
          <p:cNvPr id="13" name="Shape 11"/>
          <p:cNvSpPr/>
          <p:nvPr/>
        </p:nvSpPr>
        <p:spPr>
          <a:xfrm>
            <a:off x="3809390" y="1965960"/>
            <a:ext cx="1525219" cy="2286000"/>
          </a:xfrm>
          <a:prstGeom prst="roundRect">
            <a:avLst>
              <a:gd name="adj" fmla="val 3597"/>
            </a:avLst>
          </a:prstGeom>
          <a:solidFill>
            <a:srgbClr val="16241C"/>
          </a:solidFill>
          <a:ln w="12700">
            <a:solidFill>
              <a:srgbClr val="2E4237"/>
            </a:solidFill>
            <a:prstDash val="solid"/>
          </a:ln>
        </p:spPr>
      </p:sp>
      <p:sp>
        <p:nvSpPr>
          <p:cNvPr id="14" name="Text 12"/>
          <p:cNvSpPr/>
          <p:nvPr/>
        </p:nvSpPr>
        <p:spPr>
          <a:xfrm>
            <a:off x="392826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RECOVER</a:t>
            </a:r>
            <a:endParaRPr lang="en-US" sz="750" dirty="0"/>
          </a:p>
        </p:txBody>
      </p:sp>
      <p:sp>
        <p:nvSpPr>
          <p:cNvPr id="15" name="Text 13"/>
          <p:cNvSpPr/>
          <p:nvPr/>
        </p:nvSpPr>
        <p:spPr>
          <a:xfrm>
            <a:off x="392826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Recovery</a:t>
            </a:r>
            <a:endParaRPr lang="en-US" sz="1200" dirty="0"/>
          </a:p>
        </p:txBody>
      </p:sp>
      <p:sp>
        <p:nvSpPr>
          <p:cNvPr id="16" name="Text 14"/>
          <p:cNvSpPr/>
          <p:nvPr/>
        </p:nvSpPr>
        <p:spPr>
          <a:xfrm>
            <a:off x="392826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Hyperbaric oxygen, Ammortal chambers, robotic massage, compression, red light.</a:t>
            </a:r>
            <a:endParaRPr lang="en-US" sz="800" dirty="0"/>
          </a:p>
        </p:txBody>
      </p:sp>
      <p:sp>
        <p:nvSpPr>
          <p:cNvPr id="17" name="Shape 15"/>
          <p:cNvSpPr/>
          <p:nvPr/>
        </p:nvSpPr>
        <p:spPr>
          <a:xfrm>
            <a:off x="5462626" y="1965960"/>
            <a:ext cx="1525219" cy="2286000"/>
          </a:xfrm>
          <a:prstGeom prst="roundRect">
            <a:avLst>
              <a:gd name="adj" fmla="val 3597"/>
            </a:avLst>
          </a:prstGeom>
          <a:solidFill>
            <a:srgbClr val="16241C"/>
          </a:solidFill>
          <a:ln w="12700">
            <a:solidFill>
              <a:srgbClr val="2E4237"/>
            </a:solidFill>
            <a:prstDash val="solid"/>
          </a:ln>
        </p:spPr>
      </p:sp>
      <p:sp>
        <p:nvSpPr>
          <p:cNvPr id="18" name="Text 16"/>
          <p:cNvSpPr/>
          <p:nvPr/>
        </p:nvSpPr>
        <p:spPr>
          <a:xfrm>
            <a:off x="5581498"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RESET</a:t>
            </a:r>
            <a:endParaRPr lang="en-US" sz="750" dirty="0"/>
          </a:p>
        </p:txBody>
      </p:sp>
      <p:sp>
        <p:nvSpPr>
          <p:cNvPr id="19" name="Text 17"/>
          <p:cNvSpPr/>
          <p:nvPr/>
        </p:nvSpPr>
        <p:spPr>
          <a:xfrm>
            <a:off x="5581498"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Diagnostics</a:t>
            </a:r>
            <a:endParaRPr lang="en-US" sz="1200" dirty="0"/>
          </a:p>
        </p:txBody>
      </p:sp>
      <p:sp>
        <p:nvSpPr>
          <p:cNvPr id="20" name="Text 18"/>
          <p:cNvSpPr/>
          <p:nvPr/>
        </p:nvSpPr>
        <p:spPr>
          <a:xfrm>
            <a:off x="5581498"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Advanced biometrics, DEXA, DUTCH, DNA analysis. The baseline everything else is measured against.</a:t>
            </a:r>
            <a:endParaRPr lang="en-US" sz="800" dirty="0"/>
          </a:p>
        </p:txBody>
      </p:sp>
      <p:sp>
        <p:nvSpPr>
          <p:cNvPr id="21" name="Shape 19"/>
          <p:cNvSpPr/>
          <p:nvPr/>
        </p:nvSpPr>
        <p:spPr>
          <a:xfrm>
            <a:off x="7115861" y="1965960"/>
            <a:ext cx="1525219" cy="2286000"/>
          </a:xfrm>
          <a:prstGeom prst="roundRect">
            <a:avLst>
              <a:gd name="adj" fmla="val 3597"/>
            </a:avLst>
          </a:prstGeom>
          <a:solidFill>
            <a:srgbClr val="16241C"/>
          </a:solidFill>
          <a:ln w="12700">
            <a:solidFill>
              <a:srgbClr val="2E4237"/>
            </a:solidFill>
            <a:prstDash val="solid"/>
          </a:ln>
        </p:spPr>
      </p:sp>
      <p:sp>
        <p:nvSpPr>
          <p:cNvPr id="22" name="Text 20"/>
          <p:cNvSpPr/>
          <p:nvPr/>
        </p:nvSpPr>
        <p:spPr>
          <a:xfrm>
            <a:off x="7234733"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RECONNECT</a:t>
            </a:r>
            <a:endParaRPr lang="en-US" sz="750" dirty="0"/>
          </a:p>
        </p:txBody>
      </p:sp>
      <p:sp>
        <p:nvSpPr>
          <p:cNvPr id="23" name="Text 21"/>
          <p:cNvSpPr/>
          <p:nvPr/>
        </p:nvSpPr>
        <p:spPr>
          <a:xfrm>
            <a:off x="7234733"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The Club</a:t>
            </a:r>
            <a:endParaRPr lang="en-US" sz="1200" dirty="0"/>
          </a:p>
        </p:txBody>
      </p:sp>
      <p:sp>
        <p:nvSpPr>
          <p:cNvPr id="24" name="Text 22"/>
          <p:cNvSpPr/>
          <p:nvPr/>
        </p:nvSpPr>
        <p:spPr>
          <a:xfrm>
            <a:off x="7234733"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contrast suite, the Lounge, member events, and guest privileges. The reason your membership becomes part of your routine, not just your recovery.</a:t>
            </a:r>
            <a:endParaRPr lang="en-US" sz="800" dirty="0"/>
          </a:p>
        </p:txBody>
      </p:sp>
      <p:sp>
        <p:nvSpPr>
          <p:cNvPr id="25" name="Text 2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26" name="Text 2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352544"/>
            <a:ext cx="8138160" cy="402336"/>
          </a:xfrm>
          <a:prstGeom prst="rect">
            <a:avLst/>
          </a:prstGeom>
          <a:noFill/>
          <a:ln/>
        </p:spPr>
        <p:txBody>
          <a:bodyPr wrap="square" rtlCol="0" anchor="t"/>
          <a:lstStyle/>
          <a:p>
            <a:pPr indent="0" marL="0">
              <a:lnSpc>
                <a:spcPct val="115000"/>
              </a:lnSpc>
              <a:buNone/>
            </a:pPr>
            <a:r>
              <a:rPr lang="en-US" sz="750" dirty="0">
                <a:solidFill>
                  <a:srgbClr val="6E6A62"/>
                </a:solidFill>
                <a:latin typeface="Calibri" pitchFamily="34" charset="0"/>
                <a:ea typeface="Calibri" pitchFamily="34" charset="-122"/>
                <a:cs typeface="Calibri"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HOW THE LADDER FILLS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open clinic is the top of the funnel.</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Because anyone can book a procedure without joining, every non-member treatment is a paid introduction. The conversion path runs in one direction and each step is cheap to take.</a:t>
            </a:r>
            <a:endParaRPr lang="en-US" sz="1150" dirty="0"/>
          </a:p>
        </p:txBody>
      </p:sp>
      <p:sp>
        <p:nvSpPr>
          <p:cNvPr id="5" name="Shape 3"/>
          <p:cNvSpPr/>
          <p:nvPr/>
        </p:nvSpPr>
        <p:spPr>
          <a:xfrm>
            <a:off x="502920" y="2103120"/>
            <a:ext cx="1924812" cy="2103120"/>
          </a:xfrm>
          <a:prstGeom prst="roundRect">
            <a:avLst>
              <a:gd name="adj" fmla="val 2850"/>
            </a:avLst>
          </a:prstGeom>
          <a:solidFill>
            <a:srgbClr val="16241C"/>
          </a:solidFill>
          <a:ln w="12700">
            <a:solidFill>
              <a:srgbClr val="2E4237"/>
            </a:solidFill>
            <a:prstDash val="solid"/>
          </a:ln>
        </p:spPr>
      </p:sp>
      <p:sp>
        <p:nvSpPr>
          <p:cNvPr id="6" name="Text 4"/>
          <p:cNvSpPr/>
          <p:nvPr/>
        </p:nvSpPr>
        <p:spPr>
          <a:xfrm>
            <a:off x="630936"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ONE</a:t>
            </a:r>
            <a:endParaRPr lang="en-US" sz="750" dirty="0"/>
          </a:p>
        </p:txBody>
      </p:sp>
      <p:sp>
        <p:nvSpPr>
          <p:cNvPr id="7" name="Text 5"/>
          <p:cNvSpPr/>
          <p:nvPr/>
        </p:nvSpPr>
        <p:spPr>
          <a:xfrm>
            <a:off x="630936"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Walks in</a:t>
            </a:r>
            <a:endParaRPr lang="en-US" sz="1300" dirty="0"/>
          </a:p>
        </p:txBody>
      </p:sp>
      <p:sp>
        <p:nvSpPr>
          <p:cNvPr id="8" name="Text 6"/>
          <p:cNvSpPr/>
          <p:nvPr/>
        </p:nvSpPr>
        <p:spPr>
          <a:xfrm>
            <a:off x="630936"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Books a procedure or buys a day pass. Pays list price. Owes nothing further.</a:t>
            </a:r>
            <a:endParaRPr lang="en-US" sz="850" dirty="0"/>
          </a:p>
        </p:txBody>
      </p:sp>
      <p:sp>
        <p:nvSpPr>
          <p:cNvPr id="9" name="Shape 7"/>
          <p:cNvSpPr/>
          <p:nvPr/>
        </p:nvSpPr>
        <p:spPr>
          <a:xfrm>
            <a:off x="2574036" y="2103120"/>
            <a:ext cx="1924812" cy="2103120"/>
          </a:xfrm>
          <a:prstGeom prst="roundRect">
            <a:avLst>
              <a:gd name="adj" fmla="val 2850"/>
            </a:avLst>
          </a:prstGeom>
          <a:solidFill>
            <a:srgbClr val="16241C"/>
          </a:solidFill>
          <a:ln w="12700">
            <a:solidFill>
              <a:srgbClr val="2E4237"/>
            </a:solidFill>
            <a:prstDash val="solid"/>
          </a:ln>
        </p:spPr>
      </p:sp>
      <p:sp>
        <p:nvSpPr>
          <p:cNvPr id="10" name="Text 8"/>
          <p:cNvSpPr/>
          <p:nvPr/>
        </p:nvSpPr>
        <p:spPr>
          <a:xfrm>
            <a:off x="2702052"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TWO</a:t>
            </a:r>
            <a:endParaRPr lang="en-US" sz="750" dirty="0"/>
          </a:p>
        </p:txBody>
      </p:sp>
      <p:sp>
        <p:nvSpPr>
          <p:cNvPr id="11" name="Text 9"/>
          <p:cNvSpPr/>
          <p:nvPr/>
        </p:nvSpPr>
        <p:spPr>
          <a:xfrm>
            <a:off x="2702052"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Friend</a:t>
            </a:r>
            <a:endParaRPr lang="en-US" sz="1300" dirty="0"/>
          </a:p>
        </p:txBody>
      </p:sp>
      <p:sp>
        <p:nvSpPr>
          <p:cNvPr id="12" name="Text 10"/>
          <p:cNvSpPr/>
          <p:nvPr/>
        </p:nvSpPr>
        <p:spPr>
          <a:xfrm>
            <a:off x="2702052"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$300 a year pays for itself on roughly two procedures. Low friction, high volume, and it captures the database.</a:t>
            </a:r>
            <a:endParaRPr lang="en-US" sz="850" dirty="0"/>
          </a:p>
        </p:txBody>
      </p:sp>
      <p:sp>
        <p:nvSpPr>
          <p:cNvPr id="13" name="Shape 11"/>
          <p:cNvSpPr/>
          <p:nvPr/>
        </p:nvSpPr>
        <p:spPr>
          <a:xfrm>
            <a:off x="4645152" y="2103120"/>
            <a:ext cx="1924812" cy="2103120"/>
          </a:xfrm>
          <a:prstGeom prst="roundRect">
            <a:avLst>
              <a:gd name="adj" fmla="val 2850"/>
            </a:avLst>
          </a:prstGeom>
          <a:solidFill>
            <a:srgbClr val="16241C"/>
          </a:solidFill>
          <a:ln w="12700">
            <a:solidFill>
              <a:srgbClr val="2E4237"/>
            </a:solidFill>
            <a:prstDash val="solid"/>
          </a:ln>
        </p:spPr>
      </p:sp>
      <p:sp>
        <p:nvSpPr>
          <p:cNvPr id="14" name="Text 12"/>
          <p:cNvSpPr/>
          <p:nvPr/>
        </p:nvSpPr>
        <p:spPr>
          <a:xfrm>
            <a:off x="4773168"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THREE</a:t>
            </a:r>
            <a:endParaRPr lang="en-US" sz="750" dirty="0"/>
          </a:p>
        </p:txBody>
      </p:sp>
      <p:sp>
        <p:nvSpPr>
          <p:cNvPr id="15" name="Text 13"/>
          <p:cNvSpPr/>
          <p:nvPr/>
        </p:nvSpPr>
        <p:spPr>
          <a:xfrm>
            <a:off x="4773168"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Resident</a:t>
            </a:r>
            <a:endParaRPr lang="en-US" sz="1300" dirty="0"/>
          </a:p>
        </p:txBody>
      </p:sp>
      <p:sp>
        <p:nvSpPr>
          <p:cNvPr id="16" name="Text 14"/>
          <p:cNvSpPr/>
          <p:nvPr/>
        </p:nvSpPr>
        <p:spPr>
          <a:xfrm>
            <a:off x="4773168"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Wants the circuit and the room, not just the treatment. This is where recurring revenue begins.</a:t>
            </a:r>
            <a:endParaRPr lang="en-US" sz="850" dirty="0"/>
          </a:p>
        </p:txBody>
      </p:sp>
      <p:sp>
        <p:nvSpPr>
          <p:cNvPr id="17" name="Shape 15"/>
          <p:cNvSpPr/>
          <p:nvPr/>
        </p:nvSpPr>
        <p:spPr>
          <a:xfrm>
            <a:off x="6716268" y="2103120"/>
            <a:ext cx="1924812" cy="2103120"/>
          </a:xfrm>
          <a:prstGeom prst="roundRect">
            <a:avLst>
              <a:gd name="adj" fmla="val 2850"/>
            </a:avLst>
          </a:prstGeom>
          <a:solidFill>
            <a:srgbClr val="241C1A"/>
          </a:solidFill>
          <a:ln w="12700">
            <a:solidFill>
              <a:srgbClr val="C08D7C"/>
            </a:solidFill>
            <a:prstDash val="solid"/>
          </a:ln>
        </p:spPr>
      </p:sp>
      <p:sp>
        <p:nvSpPr>
          <p:cNvPr id="18" name="Text 16"/>
          <p:cNvSpPr/>
          <p:nvPr/>
        </p:nvSpPr>
        <p:spPr>
          <a:xfrm>
            <a:off x="6844284" y="2231136"/>
            <a:ext cx="1668780"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STEP FOUR</a:t>
            </a:r>
            <a:endParaRPr lang="en-US" sz="750" dirty="0"/>
          </a:p>
        </p:txBody>
      </p:sp>
      <p:sp>
        <p:nvSpPr>
          <p:cNvPr id="19" name="Text 17"/>
          <p:cNvSpPr/>
          <p:nvPr/>
        </p:nvSpPr>
        <p:spPr>
          <a:xfrm>
            <a:off x="6844284"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Longevity</a:t>
            </a:r>
            <a:endParaRPr lang="en-US" sz="1300" dirty="0"/>
          </a:p>
        </p:txBody>
      </p:sp>
      <p:sp>
        <p:nvSpPr>
          <p:cNvPr id="20" name="Text 18"/>
          <p:cNvSpPr/>
          <p:nvPr/>
        </p:nvSpPr>
        <p:spPr>
          <a:xfrm>
            <a:off x="6844284"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Physician-delivered programming. Hard capped. The highest retention and the highest lifetime value in the building.</a:t>
            </a:r>
            <a:endParaRPr lang="en-US" sz="850" dirty="0"/>
          </a:p>
        </p:txBody>
      </p:sp>
      <p:sp>
        <p:nvSpPr>
          <p:cNvPr id="21" name="Text 19"/>
          <p:cNvSpPr/>
          <p:nvPr/>
        </p:nvSpPr>
        <p:spPr>
          <a:xfrm>
            <a:off x="2409444"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2" name="Text 20"/>
          <p:cNvSpPr/>
          <p:nvPr/>
        </p:nvSpPr>
        <p:spPr>
          <a:xfrm>
            <a:off x="4480560"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3" name="Text 21"/>
          <p:cNvSpPr/>
          <p:nvPr/>
        </p:nvSpPr>
        <p:spPr>
          <a:xfrm>
            <a:off x="6551676"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4" name="Text 2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25" name="Text 2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4,925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4,925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4,925 square feet, and how it is paid for.</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83%</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419 procedures against 507 practical capacity, leaving 88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$507,121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-$30,210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$347,411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$598,036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23338"/>
            <a:ext cx="8138160" cy="10973"/>
          </a:xfrm>
          <a:prstGeom prst="rect">
            <a:avLst/>
          </a:prstGeom>
          <a:solidFill>
            <a:srgbClr val="2E4237"/>
          </a:solidFill>
          <a:ln w="12700">
            <a:solidFill>
              <a:srgbClr val="2E4237"/>
            </a:solidFill>
            <a:prstDash val="solid"/>
          </a:ln>
        </p:spPr>
      </p:sp>
      <p:sp>
        <p:nvSpPr>
          <p:cNvPr id="7" name="Shape 5"/>
          <p:cNvSpPr/>
          <p:nvPr/>
        </p:nvSpPr>
        <p:spPr>
          <a:xfrm>
            <a:off x="539090" y="3323338"/>
            <a:ext cx="153721" cy="566013"/>
          </a:xfrm>
          <a:prstGeom prst="rect">
            <a:avLst/>
          </a:prstGeom>
          <a:solidFill>
            <a:srgbClr val="2E4237"/>
          </a:solidFill>
          <a:ln w="12700">
            <a:solidFill>
              <a:srgbClr val="2E4237"/>
            </a:solidFill>
            <a:prstDash val="solid"/>
          </a:ln>
        </p:spPr>
      </p:sp>
      <p:sp>
        <p:nvSpPr>
          <p:cNvPr id="8" name="Shape 6"/>
          <p:cNvSpPr/>
          <p:nvPr/>
        </p:nvSpPr>
        <p:spPr>
          <a:xfrm>
            <a:off x="765150" y="3323338"/>
            <a:ext cx="153721" cy="566013"/>
          </a:xfrm>
          <a:prstGeom prst="rect">
            <a:avLst/>
          </a:prstGeom>
          <a:solidFill>
            <a:srgbClr val="2E4237"/>
          </a:solidFill>
          <a:ln w="12700">
            <a:solidFill>
              <a:srgbClr val="2E4237"/>
            </a:solidFill>
            <a:prstDash val="solid"/>
          </a:ln>
        </p:spPr>
      </p:sp>
      <p:sp>
        <p:nvSpPr>
          <p:cNvPr id="9" name="Shape 7"/>
          <p:cNvSpPr/>
          <p:nvPr/>
        </p:nvSpPr>
        <p:spPr>
          <a:xfrm>
            <a:off x="991210" y="3323338"/>
            <a:ext cx="153721" cy="566013"/>
          </a:xfrm>
          <a:prstGeom prst="rect">
            <a:avLst/>
          </a:prstGeom>
          <a:solidFill>
            <a:srgbClr val="2E4237"/>
          </a:solidFill>
          <a:ln w="12700">
            <a:solidFill>
              <a:srgbClr val="2E4237"/>
            </a:solidFill>
            <a:prstDash val="solid"/>
          </a:ln>
        </p:spPr>
      </p:sp>
      <p:sp>
        <p:nvSpPr>
          <p:cNvPr id="10" name="Shape 8"/>
          <p:cNvSpPr/>
          <p:nvPr/>
        </p:nvSpPr>
        <p:spPr>
          <a:xfrm>
            <a:off x="1217270" y="3323338"/>
            <a:ext cx="153721" cy="566013"/>
          </a:xfrm>
          <a:prstGeom prst="rect">
            <a:avLst/>
          </a:prstGeom>
          <a:solidFill>
            <a:srgbClr val="2E4237"/>
          </a:solidFill>
          <a:ln w="12700">
            <a:solidFill>
              <a:srgbClr val="2E4237"/>
            </a:solidFill>
            <a:prstDash val="solid"/>
          </a:ln>
        </p:spPr>
      </p:sp>
      <p:sp>
        <p:nvSpPr>
          <p:cNvPr id="11" name="Shape 9"/>
          <p:cNvSpPr/>
          <p:nvPr/>
        </p:nvSpPr>
        <p:spPr>
          <a:xfrm>
            <a:off x="1443330" y="3323338"/>
            <a:ext cx="153721" cy="566013"/>
          </a:xfrm>
          <a:prstGeom prst="rect">
            <a:avLst/>
          </a:prstGeom>
          <a:solidFill>
            <a:srgbClr val="2E4237"/>
          </a:solidFill>
          <a:ln w="12700">
            <a:solidFill>
              <a:srgbClr val="2E4237"/>
            </a:solidFill>
            <a:prstDash val="solid"/>
          </a:ln>
        </p:spPr>
      </p:sp>
      <p:sp>
        <p:nvSpPr>
          <p:cNvPr id="12" name="Shape 10"/>
          <p:cNvSpPr/>
          <p:nvPr/>
        </p:nvSpPr>
        <p:spPr>
          <a:xfrm>
            <a:off x="1669390" y="3323338"/>
            <a:ext cx="153721" cy="56601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23338"/>
            <a:ext cx="153721" cy="626870"/>
          </a:xfrm>
          <a:prstGeom prst="rect">
            <a:avLst/>
          </a:prstGeom>
          <a:solidFill>
            <a:srgbClr val="2E4237"/>
          </a:solidFill>
          <a:ln w="12700">
            <a:solidFill>
              <a:srgbClr val="2E4237"/>
            </a:solidFill>
            <a:prstDash val="solid"/>
          </a:ln>
        </p:spPr>
      </p:sp>
      <p:sp>
        <p:nvSpPr>
          <p:cNvPr id="15" name="Shape 13"/>
          <p:cNvSpPr/>
          <p:nvPr/>
        </p:nvSpPr>
        <p:spPr>
          <a:xfrm>
            <a:off x="2121510" y="3323338"/>
            <a:ext cx="153721" cy="391128"/>
          </a:xfrm>
          <a:prstGeom prst="rect">
            <a:avLst/>
          </a:prstGeom>
          <a:solidFill>
            <a:srgbClr val="2E4237"/>
          </a:solidFill>
          <a:ln w="12700">
            <a:solidFill>
              <a:srgbClr val="2E4237"/>
            </a:solidFill>
            <a:prstDash val="solid"/>
          </a:ln>
        </p:spPr>
      </p:sp>
      <p:sp>
        <p:nvSpPr>
          <p:cNvPr id="16" name="Shape 14"/>
          <p:cNvSpPr/>
          <p:nvPr/>
        </p:nvSpPr>
        <p:spPr>
          <a:xfrm>
            <a:off x="2347570" y="3323338"/>
            <a:ext cx="153721" cy="121706"/>
          </a:xfrm>
          <a:prstGeom prst="rect">
            <a:avLst/>
          </a:prstGeom>
          <a:solidFill>
            <a:srgbClr val="2E4237"/>
          </a:solidFill>
          <a:ln w="12700">
            <a:solidFill>
              <a:srgbClr val="2E4237"/>
            </a:solidFill>
            <a:prstDash val="solid"/>
          </a:ln>
        </p:spPr>
      </p:sp>
      <p:sp>
        <p:nvSpPr>
          <p:cNvPr id="17" name="Shape 15"/>
          <p:cNvSpPr/>
          <p:nvPr/>
        </p:nvSpPr>
        <p:spPr>
          <a:xfrm>
            <a:off x="2573630" y="3242974"/>
            <a:ext cx="153721" cy="80364"/>
          </a:xfrm>
          <a:prstGeom prst="rect">
            <a:avLst/>
          </a:prstGeom>
          <a:solidFill>
            <a:srgbClr val="C08D7C"/>
          </a:solidFill>
          <a:ln w="12700">
            <a:solidFill>
              <a:srgbClr val="C08D7C"/>
            </a:solidFill>
            <a:prstDash val="solid"/>
          </a:ln>
        </p:spPr>
      </p:sp>
      <p:sp>
        <p:nvSpPr>
          <p:cNvPr id="18" name="Shape 16"/>
          <p:cNvSpPr/>
          <p:nvPr/>
        </p:nvSpPr>
        <p:spPr>
          <a:xfrm>
            <a:off x="2799690" y="3040912"/>
            <a:ext cx="153721" cy="282426"/>
          </a:xfrm>
          <a:prstGeom prst="rect">
            <a:avLst/>
          </a:prstGeom>
          <a:solidFill>
            <a:srgbClr val="C08D7C"/>
          </a:solidFill>
          <a:ln w="12700">
            <a:solidFill>
              <a:srgbClr val="C08D7C"/>
            </a:solidFill>
            <a:prstDash val="solid"/>
          </a:ln>
        </p:spPr>
      </p:sp>
      <p:sp>
        <p:nvSpPr>
          <p:cNvPr id="19" name="Shape 17"/>
          <p:cNvSpPr/>
          <p:nvPr/>
        </p:nvSpPr>
        <p:spPr>
          <a:xfrm>
            <a:off x="3025750" y="2838850"/>
            <a:ext cx="153721" cy="484488"/>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6780"/>
            <a:ext cx="153721" cy="686559"/>
          </a:xfrm>
          <a:prstGeom prst="rect">
            <a:avLst/>
          </a:prstGeom>
          <a:solidFill>
            <a:srgbClr val="C08D7C"/>
          </a:solidFill>
          <a:ln w="12700">
            <a:solidFill>
              <a:srgbClr val="C08D7C"/>
            </a:solidFill>
            <a:prstDash val="solid"/>
          </a:ln>
        </p:spPr>
      </p:sp>
      <p:sp>
        <p:nvSpPr>
          <p:cNvPr id="22" name="Shape 20"/>
          <p:cNvSpPr/>
          <p:nvPr/>
        </p:nvSpPr>
        <p:spPr>
          <a:xfrm>
            <a:off x="3477870" y="2502069"/>
            <a:ext cx="153721" cy="821269"/>
          </a:xfrm>
          <a:prstGeom prst="rect">
            <a:avLst/>
          </a:prstGeom>
          <a:solidFill>
            <a:srgbClr val="C08D7C"/>
          </a:solidFill>
          <a:ln w="12700">
            <a:solidFill>
              <a:srgbClr val="C08D7C"/>
            </a:solidFill>
            <a:prstDash val="solid"/>
          </a:ln>
        </p:spPr>
      </p:sp>
      <p:sp>
        <p:nvSpPr>
          <p:cNvPr id="23" name="Shape 21"/>
          <p:cNvSpPr/>
          <p:nvPr/>
        </p:nvSpPr>
        <p:spPr>
          <a:xfrm>
            <a:off x="3703930" y="2367358"/>
            <a:ext cx="153721" cy="955980"/>
          </a:xfrm>
          <a:prstGeom prst="rect">
            <a:avLst/>
          </a:prstGeom>
          <a:solidFill>
            <a:srgbClr val="C08D7C"/>
          </a:solidFill>
          <a:ln w="12700">
            <a:solidFill>
              <a:srgbClr val="C08D7C"/>
            </a:solidFill>
            <a:prstDash val="solid"/>
          </a:ln>
        </p:spPr>
      </p:sp>
      <p:sp>
        <p:nvSpPr>
          <p:cNvPr id="24" name="Shape 22"/>
          <p:cNvSpPr/>
          <p:nvPr/>
        </p:nvSpPr>
        <p:spPr>
          <a:xfrm>
            <a:off x="3929990" y="2232648"/>
            <a:ext cx="153721" cy="1090691"/>
          </a:xfrm>
          <a:prstGeom prst="rect">
            <a:avLst/>
          </a:prstGeom>
          <a:solidFill>
            <a:srgbClr val="C08D7C"/>
          </a:solidFill>
          <a:ln w="12700">
            <a:solidFill>
              <a:srgbClr val="C08D7C"/>
            </a:solidFill>
            <a:prstDash val="solid"/>
          </a:ln>
        </p:spPr>
      </p:sp>
      <p:sp>
        <p:nvSpPr>
          <p:cNvPr id="25" name="Shape 23"/>
          <p:cNvSpPr/>
          <p:nvPr/>
        </p:nvSpPr>
        <p:spPr>
          <a:xfrm>
            <a:off x="4156050" y="2097937"/>
            <a:ext cx="153721" cy="1225402"/>
          </a:xfrm>
          <a:prstGeom prst="rect">
            <a:avLst/>
          </a:prstGeom>
          <a:solidFill>
            <a:srgbClr val="C08D7C"/>
          </a:solidFill>
          <a:ln w="12700">
            <a:solidFill>
              <a:srgbClr val="C08D7C"/>
            </a:solidFill>
            <a:prstDash val="solid"/>
          </a:ln>
        </p:spPr>
      </p:sp>
      <p:sp>
        <p:nvSpPr>
          <p:cNvPr id="26" name="Shape 24"/>
          <p:cNvSpPr/>
          <p:nvPr/>
        </p:nvSpPr>
        <p:spPr>
          <a:xfrm>
            <a:off x="4382110" y="2045420"/>
            <a:ext cx="153721" cy="127791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2903"/>
            <a:ext cx="153721" cy="1330435"/>
          </a:xfrm>
          <a:prstGeom prst="rect">
            <a:avLst/>
          </a:prstGeom>
          <a:solidFill>
            <a:srgbClr val="C08D7C"/>
          </a:solidFill>
          <a:ln w="12700">
            <a:solidFill>
              <a:srgbClr val="C08D7C"/>
            </a:solidFill>
            <a:prstDash val="solid"/>
          </a:ln>
        </p:spPr>
      </p:sp>
      <p:sp>
        <p:nvSpPr>
          <p:cNvPr id="29" name="Shape 27"/>
          <p:cNvSpPr/>
          <p:nvPr/>
        </p:nvSpPr>
        <p:spPr>
          <a:xfrm>
            <a:off x="4834230" y="1940386"/>
            <a:ext cx="153721" cy="1382952"/>
          </a:xfrm>
          <a:prstGeom prst="rect">
            <a:avLst/>
          </a:prstGeom>
          <a:solidFill>
            <a:srgbClr val="C08D7C"/>
          </a:solidFill>
          <a:ln w="12700">
            <a:solidFill>
              <a:srgbClr val="C08D7C"/>
            </a:solidFill>
            <a:prstDash val="solid"/>
          </a:ln>
        </p:spPr>
      </p:sp>
      <p:sp>
        <p:nvSpPr>
          <p:cNvPr id="30" name="Shape 28"/>
          <p:cNvSpPr/>
          <p:nvPr/>
        </p:nvSpPr>
        <p:spPr>
          <a:xfrm>
            <a:off x="5060290" y="1887869"/>
            <a:ext cx="153721" cy="1435469"/>
          </a:xfrm>
          <a:prstGeom prst="rect">
            <a:avLst/>
          </a:prstGeom>
          <a:solidFill>
            <a:srgbClr val="C08D7C"/>
          </a:solidFill>
          <a:ln w="12700">
            <a:solidFill>
              <a:srgbClr val="C08D7C"/>
            </a:solidFill>
            <a:prstDash val="solid"/>
          </a:ln>
        </p:spPr>
      </p:sp>
      <p:sp>
        <p:nvSpPr>
          <p:cNvPr id="31" name="Shape 29"/>
          <p:cNvSpPr/>
          <p:nvPr/>
        </p:nvSpPr>
        <p:spPr>
          <a:xfrm>
            <a:off x="5286350" y="1835352"/>
            <a:ext cx="153721" cy="1487986"/>
          </a:xfrm>
          <a:prstGeom prst="rect">
            <a:avLst/>
          </a:prstGeom>
          <a:solidFill>
            <a:srgbClr val="C08D7C"/>
          </a:solidFill>
          <a:ln w="12700">
            <a:solidFill>
              <a:srgbClr val="C08D7C"/>
            </a:solidFill>
            <a:prstDash val="solid"/>
          </a:ln>
        </p:spPr>
      </p:sp>
      <p:sp>
        <p:nvSpPr>
          <p:cNvPr id="32" name="Shape 30"/>
          <p:cNvSpPr/>
          <p:nvPr/>
        </p:nvSpPr>
        <p:spPr>
          <a:xfrm>
            <a:off x="5512410" y="1800341"/>
            <a:ext cx="153721" cy="1522997"/>
          </a:xfrm>
          <a:prstGeom prst="rect">
            <a:avLst/>
          </a:prstGeom>
          <a:solidFill>
            <a:srgbClr val="C08D7C"/>
          </a:solidFill>
          <a:ln w="12700">
            <a:solidFill>
              <a:srgbClr val="C08D7C"/>
            </a:solidFill>
            <a:prstDash val="solid"/>
          </a:ln>
        </p:spPr>
      </p:sp>
      <p:sp>
        <p:nvSpPr>
          <p:cNvPr id="33" name="Shape 31"/>
          <p:cNvSpPr/>
          <p:nvPr/>
        </p:nvSpPr>
        <p:spPr>
          <a:xfrm>
            <a:off x="5738470" y="1765330"/>
            <a:ext cx="153721" cy="155800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30319"/>
            <a:ext cx="153721" cy="1593020"/>
          </a:xfrm>
          <a:prstGeom prst="rect">
            <a:avLst/>
          </a:prstGeom>
          <a:solidFill>
            <a:srgbClr val="C08D7C"/>
          </a:solidFill>
          <a:ln w="12700">
            <a:solidFill>
              <a:srgbClr val="C08D7C"/>
            </a:solidFill>
            <a:prstDash val="solid"/>
          </a:ln>
        </p:spPr>
      </p:sp>
      <p:sp>
        <p:nvSpPr>
          <p:cNvPr id="36" name="Shape 34"/>
          <p:cNvSpPr/>
          <p:nvPr/>
        </p:nvSpPr>
        <p:spPr>
          <a:xfrm>
            <a:off x="6190590" y="1695307"/>
            <a:ext cx="153721" cy="1628031"/>
          </a:xfrm>
          <a:prstGeom prst="rect">
            <a:avLst/>
          </a:prstGeom>
          <a:solidFill>
            <a:srgbClr val="C08D7C"/>
          </a:solidFill>
          <a:ln w="12700">
            <a:solidFill>
              <a:srgbClr val="C08D7C"/>
            </a:solidFill>
            <a:prstDash val="solid"/>
          </a:ln>
        </p:spPr>
      </p:sp>
      <p:sp>
        <p:nvSpPr>
          <p:cNvPr id="37" name="Shape 35"/>
          <p:cNvSpPr/>
          <p:nvPr/>
        </p:nvSpPr>
        <p:spPr>
          <a:xfrm>
            <a:off x="6416650" y="1677802"/>
            <a:ext cx="153721" cy="1645537"/>
          </a:xfrm>
          <a:prstGeom prst="rect">
            <a:avLst/>
          </a:prstGeom>
          <a:solidFill>
            <a:srgbClr val="C08D7C"/>
          </a:solidFill>
          <a:ln w="12700">
            <a:solidFill>
              <a:srgbClr val="C08D7C"/>
            </a:solidFill>
            <a:prstDash val="solid"/>
          </a:ln>
        </p:spPr>
      </p:sp>
      <p:sp>
        <p:nvSpPr>
          <p:cNvPr id="38" name="Shape 36"/>
          <p:cNvSpPr/>
          <p:nvPr/>
        </p:nvSpPr>
        <p:spPr>
          <a:xfrm>
            <a:off x="6642710" y="1642791"/>
            <a:ext cx="153721" cy="1680548"/>
          </a:xfrm>
          <a:prstGeom prst="rect">
            <a:avLst/>
          </a:prstGeom>
          <a:solidFill>
            <a:srgbClr val="C08D7C"/>
          </a:solidFill>
          <a:ln w="12700">
            <a:solidFill>
              <a:srgbClr val="C08D7C"/>
            </a:solidFill>
            <a:prstDash val="solid"/>
          </a:ln>
        </p:spPr>
      </p:sp>
      <p:sp>
        <p:nvSpPr>
          <p:cNvPr id="39" name="Shape 37"/>
          <p:cNvSpPr/>
          <p:nvPr/>
        </p:nvSpPr>
        <p:spPr>
          <a:xfrm>
            <a:off x="6868770" y="1625285"/>
            <a:ext cx="153721" cy="1698054"/>
          </a:xfrm>
          <a:prstGeom prst="rect">
            <a:avLst/>
          </a:prstGeom>
          <a:solidFill>
            <a:srgbClr val="C08D7C"/>
          </a:solidFill>
          <a:ln w="12700">
            <a:solidFill>
              <a:srgbClr val="C08D7C"/>
            </a:solidFill>
            <a:prstDash val="solid"/>
          </a:ln>
        </p:spPr>
      </p:sp>
      <p:sp>
        <p:nvSpPr>
          <p:cNvPr id="40" name="Shape 38"/>
          <p:cNvSpPr/>
          <p:nvPr/>
        </p:nvSpPr>
        <p:spPr>
          <a:xfrm>
            <a:off x="7094830" y="1607779"/>
            <a:ext cx="153721" cy="171555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74"/>
            <a:ext cx="153721" cy="173306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5057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5057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5057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5057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5057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$224,801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$-80,500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-$184,543 at month 10, against a $1,105,800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$598,036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-$146,803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$432,473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(4,925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-$27,088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-$207,673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$224,801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$430,586</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$311,381</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$103,708</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2.63x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$2.70M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$598,036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$432,473</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$224,801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5.71x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$765,486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$553,566</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$345,893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8.78x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$2.75M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4,925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5.71x.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$184,543 at month 10, not to a round number.</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$1,105,800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$21,771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$39,397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731520"/>
                <a:gridCol w="1188720"/>
                <a:gridCol w="114300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-$473,662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$195,936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$1,897,430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$367,008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$2,625,676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$472,758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5.71x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5.71x at 9.5%   ·   5.50x at 10.5%   ·   5.31x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$1,105,800 reserve inside use of funds is sized against a modeled cash trough of $184,543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5.17x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5.71x at 9.5%, 5.50x at 10.5%, 5.31x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$4.75M project  ·  4,925 SF  ·  5.71x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$207,673 a month. Rent is 4,925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(IV, regenerative, recovery):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$165,563 a month against $598,036 of revenue, a blended 72.3% margin.</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$1,105,800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3).</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(4,925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8" name="Text 6"/>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9" name="Text 7"/>
          <p:cNvSpPr/>
          <p:nvPr/>
        </p:nvSpPr>
        <p:spPr>
          <a:xfrm>
            <a:off x="502920" y="2900477"/>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0" name="Text 8"/>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1" name="Text 9"/>
          <p:cNvSpPr/>
          <p:nvPr/>
        </p:nvSpPr>
        <p:spPr>
          <a:xfrm>
            <a:off x="502920" y="332293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2" name="Text 10"/>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3" name="Text 11"/>
          <p:cNvSpPr/>
          <p:nvPr/>
        </p:nvSpPr>
        <p:spPr>
          <a:xfrm>
            <a:off x="502920" y="386608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14" name="Text 12"/>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AND COMPLIANCE</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 $250/SF)</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11" name="Text 9"/>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5" name="Text 3"/>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6" name="Text 4"/>
          <p:cNvSpPr/>
          <p:nvPr/>
        </p:nvSpPr>
        <p:spPr>
          <a:xfrm>
            <a:off x="502920" y="208300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7" name="Text 5"/>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11" name="Text 9"/>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AND DEBT SERVICE RESERVE</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5.71x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$222,338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$2,668,061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$219,876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$2,638,511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$34,475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$217,413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$2,608,961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39</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Investor and SBA Brief</dc:subject>
  <dc:creator>LK Wellness</dc:creator>
  <cp:lastModifiedBy>LK Wellness</cp:lastModifiedBy>
  <cp:revision>1</cp:revision>
  <dcterms:created xsi:type="dcterms:W3CDTF">2026-08-20T02:33:30Z</dcterms:created>
  <dcterms:modified xsi:type="dcterms:W3CDTF">2026-08-20T02:33:30Z</dcterms:modified>
</cp:coreProperties>
</file>
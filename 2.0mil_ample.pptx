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4,800 SF   ·   Est. 2026   ·   Ample · $2.0M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(joints)  ·  Compression / NeuFit  ·  Hormone / Peptide / GLP  ·  IV Therapy — NAD+ 100mg  ·  IV Therapy — NAD+ 250mg  ·  IV Therapy — NAD+ 500mg  ·  Botox ($16/unit, 15-unit minimum)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965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4,800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Shape 3"/>
          <p:cNvSpPr/>
          <p:nvPr/>
        </p:nvSpPr>
        <p:spPr>
          <a:xfrm>
            <a:off x="4754880" y="1645920"/>
            <a:ext cx="3520440" cy="2011680"/>
          </a:xfrm>
          <a:prstGeom prst="roundRect">
            <a:avLst>
              <a:gd name="adj" fmla="val 2727"/>
            </a:avLst>
          </a:prstGeom>
          <a:solidFill>
            <a:srgbClr val="16241C"/>
          </a:solidFill>
          <a:ln w="12700">
            <a:solidFill>
              <a:srgbClr val="2E4237"/>
            </a:solidFill>
            <a:prstDash val="solid"/>
          </a:ln>
        </p:spPr>
      </p:sp>
      <p:sp>
        <p:nvSpPr>
          <p:cNvPr id="7" name="Text 4"/>
          <p:cNvSpPr/>
          <p:nvPr/>
        </p:nvSpPr>
        <p:spPr>
          <a:xfrm>
            <a:off x="4901184" y="1773936"/>
            <a:ext cx="3246120"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8" name="Text 5"/>
          <p:cNvSpPr/>
          <p:nvPr/>
        </p:nvSpPr>
        <p:spPr>
          <a:xfrm>
            <a:off x="4901184" y="1993392"/>
            <a:ext cx="3246120" cy="15544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 plunges, saunas and steam carry a materially higher per-SF buildout than a dry medspa, which is why the lean case trims the contrast suite before it trims treatment rooms.</a:t>
            </a:r>
            <a:endParaRPr lang="en-US" sz="9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39%</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200 procedures against 507 practical capacity, leaving 307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16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 (joints)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 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($16/unit,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1,215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$478,740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$478,740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-$27,939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$321,301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$571,926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18253"/>
            <a:ext cx="8138160" cy="10973"/>
          </a:xfrm>
          <a:prstGeom prst="rect">
            <a:avLst/>
          </a:prstGeom>
          <a:solidFill>
            <a:srgbClr val="2E4237"/>
          </a:solidFill>
          <a:ln w="12700">
            <a:solidFill>
              <a:srgbClr val="2E4237"/>
            </a:solidFill>
            <a:prstDash val="solid"/>
          </a:ln>
        </p:spPr>
      </p:sp>
      <p:sp>
        <p:nvSpPr>
          <p:cNvPr id="7" name="Shape 5"/>
          <p:cNvSpPr/>
          <p:nvPr/>
        </p:nvSpPr>
        <p:spPr>
          <a:xfrm>
            <a:off x="539090" y="3318253"/>
            <a:ext cx="153721" cy="568766"/>
          </a:xfrm>
          <a:prstGeom prst="rect">
            <a:avLst/>
          </a:prstGeom>
          <a:solidFill>
            <a:srgbClr val="2E4237"/>
          </a:solidFill>
          <a:ln w="12700">
            <a:solidFill>
              <a:srgbClr val="2E4237"/>
            </a:solidFill>
            <a:prstDash val="solid"/>
          </a:ln>
        </p:spPr>
      </p:sp>
      <p:sp>
        <p:nvSpPr>
          <p:cNvPr id="8" name="Shape 6"/>
          <p:cNvSpPr/>
          <p:nvPr/>
        </p:nvSpPr>
        <p:spPr>
          <a:xfrm>
            <a:off x="765150" y="3318253"/>
            <a:ext cx="153721" cy="568766"/>
          </a:xfrm>
          <a:prstGeom prst="rect">
            <a:avLst/>
          </a:prstGeom>
          <a:solidFill>
            <a:srgbClr val="2E4237"/>
          </a:solidFill>
          <a:ln w="12700">
            <a:solidFill>
              <a:srgbClr val="2E4237"/>
            </a:solidFill>
            <a:prstDash val="solid"/>
          </a:ln>
        </p:spPr>
      </p:sp>
      <p:sp>
        <p:nvSpPr>
          <p:cNvPr id="9" name="Shape 7"/>
          <p:cNvSpPr/>
          <p:nvPr/>
        </p:nvSpPr>
        <p:spPr>
          <a:xfrm>
            <a:off x="991210" y="3318253"/>
            <a:ext cx="153721" cy="568766"/>
          </a:xfrm>
          <a:prstGeom prst="rect">
            <a:avLst/>
          </a:prstGeom>
          <a:solidFill>
            <a:srgbClr val="2E4237"/>
          </a:solidFill>
          <a:ln w="12700">
            <a:solidFill>
              <a:srgbClr val="2E4237"/>
            </a:solidFill>
            <a:prstDash val="solid"/>
          </a:ln>
        </p:spPr>
      </p:sp>
      <p:sp>
        <p:nvSpPr>
          <p:cNvPr id="10" name="Shape 8"/>
          <p:cNvSpPr/>
          <p:nvPr/>
        </p:nvSpPr>
        <p:spPr>
          <a:xfrm>
            <a:off x="1217270" y="3318253"/>
            <a:ext cx="153721" cy="568766"/>
          </a:xfrm>
          <a:prstGeom prst="rect">
            <a:avLst/>
          </a:prstGeom>
          <a:solidFill>
            <a:srgbClr val="2E4237"/>
          </a:solidFill>
          <a:ln w="12700">
            <a:solidFill>
              <a:srgbClr val="2E4237"/>
            </a:solidFill>
            <a:prstDash val="solid"/>
          </a:ln>
        </p:spPr>
      </p:sp>
      <p:sp>
        <p:nvSpPr>
          <p:cNvPr id="11" name="Shape 9"/>
          <p:cNvSpPr/>
          <p:nvPr/>
        </p:nvSpPr>
        <p:spPr>
          <a:xfrm>
            <a:off x="1443330" y="3318253"/>
            <a:ext cx="153721" cy="568766"/>
          </a:xfrm>
          <a:prstGeom prst="rect">
            <a:avLst/>
          </a:prstGeom>
          <a:solidFill>
            <a:srgbClr val="2E4237"/>
          </a:solidFill>
          <a:ln w="12700">
            <a:solidFill>
              <a:srgbClr val="2E4237"/>
            </a:solidFill>
            <a:prstDash val="solid"/>
          </a:ln>
        </p:spPr>
      </p:sp>
      <p:sp>
        <p:nvSpPr>
          <p:cNvPr id="12" name="Shape 10"/>
          <p:cNvSpPr/>
          <p:nvPr/>
        </p:nvSpPr>
        <p:spPr>
          <a:xfrm>
            <a:off x="1669390" y="3318253"/>
            <a:ext cx="153721" cy="568766"/>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18253"/>
            <a:ext cx="153721" cy="631955"/>
          </a:xfrm>
          <a:prstGeom prst="rect">
            <a:avLst/>
          </a:prstGeom>
          <a:solidFill>
            <a:srgbClr val="2E4237"/>
          </a:solidFill>
          <a:ln w="12700">
            <a:solidFill>
              <a:srgbClr val="2E4237"/>
            </a:solidFill>
            <a:prstDash val="solid"/>
          </a:ln>
        </p:spPr>
      </p:sp>
      <p:sp>
        <p:nvSpPr>
          <p:cNvPr id="15" name="Shape 13"/>
          <p:cNvSpPr/>
          <p:nvPr/>
        </p:nvSpPr>
        <p:spPr>
          <a:xfrm>
            <a:off x="2121510" y="3318253"/>
            <a:ext cx="153721" cy="396017"/>
          </a:xfrm>
          <a:prstGeom prst="rect">
            <a:avLst/>
          </a:prstGeom>
          <a:solidFill>
            <a:srgbClr val="2E4237"/>
          </a:solidFill>
          <a:ln w="12700">
            <a:solidFill>
              <a:srgbClr val="2E4237"/>
            </a:solidFill>
            <a:prstDash val="solid"/>
          </a:ln>
        </p:spPr>
      </p:sp>
      <p:sp>
        <p:nvSpPr>
          <p:cNvPr id="16" name="Shape 14"/>
          <p:cNvSpPr/>
          <p:nvPr/>
        </p:nvSpPr>
        <p:spPr>
          <a:xfrm>
            <a:off x="2347570" y="3318253"/>
            <a:ext cx="153721" cy="126378"/>
          </a:xfrm>
          <a:prstGeom prst="rect">
            <a:avLst/>
          </a:prstGeom>
          <a:solidFill>
            <a:srgbClr val="2E4237"/>
          </a:solidFill>
          <a:ln w="12700">
            <a:solidFill>
              <a:srgbClr val="2E4237"/>
            </a:solidFill>
            <a:prstDash val="solid"/>
          </a:ln>
        </p:spPr>
      </p:sp>
      <p:sp>
        <p:nvSpPr>
          <p:cNvPr id="17" name="Shape 15"/>
          <p:cNvSpPr/>
          <p:nvPr/>
        </p:nvSpPr>
        <p:spPr>
          <a:xfrm>
            <a:off x="2573630" y="3242394"/>
            <a:ext cx="153721" cy="75859"/>
          </a:xfrm>
          <a:prstGeom prst="rect">
            <a:avLst/>
          </a:prstGeom>
          <a:solidFill>
            <a:srgbClr val="C08D7C"/>
          </a:solidFill>
          <a:ln w="12700">
            <a:solidFill>
              <a:srgbClr val="C08D7C"/>
            </a:solidFill>
            <a:prstDash val="solid"/>
          </a:ln>
        </p:spPr>
      </p:sp>
      <p:sp>
        <p:nvSpPr>
          <p:cNvPr id="18" name="Shape 16"/>
          <p:cNvSpPr/>
          <p:nvPr/>
        </p:nvSpPr>
        <p:spPr>
          <a:xfrm>
            <a:off x="2799690" y="3040165"/>
            <a:ext cx="153721" cy="278088"/>
          </a:xfrm>
          <a:prstGeom prst="rect">
            <a:avLst/>
          </a:prstGeom>
          <a:solidFill>
            <a:srgbClr val="C08D7C"/>
          </a:solidFill>
          <a:ln w="12700">
            <a:solidFill>
              <a:srgbClr val="C08D7C"/>
            </a:solidFill>
            <a:prstDash val="solid"/>
          </a:ln>
        </p:spPr>
      </p:sp>
      <p:sp>
        <p:nvSpPr>
          <p:cNvPr id="19" name="Shape 17"/>
          <p:cNvSpPr/>
          <p:nvPr/>
        </p:nvSpPr>
        <p:spPr>
          <a:xfrm>
            <a:off x="3025750" y="2837935"/>
            <a:ext cx="153721" cy="480317"/>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5698"/>
            <a:ext cx="153721" cy="682554"/>
          </a:xfrm>
          <a:prstGeom prst="rect">
            <a:avLst/>
          </a:prstGeom>
          <a:solidFill>
            <a:srgbClr val="C08D7C"/>
          </a:solidFill>
          <a:ln w="12700">
            <a:solidFill>
              <a:srgbClr val="C08D7C"/>
            </a:solidFill>
            <a:prstDash val="solid"/>
          </a:ln>
        </p:spPr>
      </p:sp>
      <p:sp>
        <p:nvSpPr>
          <p:cNvPr id="22" name="Shape 20"/>
          <p:cNvSpPr/>
          <p:nvPr/>
        </p:nvSpPr>
        <p:spPr>
          <a:xfrm>
            <a:off x="3477870" y="2500879"/>
            <a:ext cx="153721" cy="817374"/>
          </a:xfrm>
          <a:prstGeom prst="rect">
            <a:avLst/>
          </a:prstGeom>
          <a:solidFill>
            <a:srgbClr val="C08D7C"/>
          </a:solidFill>
          <a:ln w="12700">
            <a:solidFill>
              <a:srgbClr val="C08D7C"/>
            </a:solidFill>
            <a:prstDash val="solid"/>
          </a:ln>
        </p:spPr>
      </p:sp>
      <p:sp>
        <p:nvSpPr>
          <p:cNvPr id="23" name="Shape 21"/>
          <p:cNvSpPr/>
          <p:nvPr/>
        </p:nvSpPr>
        <p:spPr>
          <a:xfrm>
            <a:off x="3703930" y="2366059"/>
            <a:ext cx="153721" cy="952193"/>
          </a:xfrm>
          <a:prstGeom prst="rect">
            <a:avLst/>
          </a:prstGeom>
          <a:solidFill>
            <a:srgbClr val="C08D7C"/>
          </a:solidFill>
          <a:ln w="12700">
            <a:solidFill>
              <a:srgbClr val="C08D7C"/>
            </a:solidFill>
            <a:prstDash val="solid"/>
          </a:ln>
        </p:spPr>
      </p:sp>
      <p:sp>
        <p:nvSpPr>
          <p:cNvPr id="24" name="Shape 22"/>
          <p:cNvSpPr/>
          <p:nvPr/>
        </p:nvSpPr>
        <p:spPr>
          <a:xfrm>
            <a:off x="3929990" y="2231232"/>
            <a:ext cx="153721" cy="1087021"/>
          </a:xfrm>
          <a:prstGeom prst="rect">
            <a:avLst/>
          </a:prstGeom>
          <a:solidFill>
            <a:srgbClr val="C08D7C"/>
          </a:solidFill>
          <a:ln w="12700">
            <a:solidFill>
              <a:srgbClr val="C08D7C"/>
            </a:solidFill>
            <a:prstDash val="solid"/>
          </a:ln>
        </p:spPr>
      </p:sp>
      <p:sp>
        <p:nvSpPr>
          <p:cNvPr id="25" name="Shape 23"/>
          <p:cNvSpPr/>
          <p:nvPr/>
        </p:nvSpPr>
        <p:spPr>
          <a:xfrm>
            <a:off x="4156050" y="2096413"/>
            <a:ext cx="153721" cy="1221840"/>
          </a:xfrm>
          <a:prstGeom prst="rect">
            <a:avLst/>
          </a:prstGeom>
          <a:solidFill>
            <a:srgbClr val="C08D7C"/>
          </a:solidFill>
          <a:ln w="12700">
            <a:solidFill>
              <a:srgbClr val="C08D7C"/>
            </a:solidFill>
            <a:prstDash val="solid"/>
          </a:ln>
        </p:spPr>
      </p:sp>
      <p:sp>
        <p:nvSpPr>
          <p:cNvPr id="26" name="Shape 24"/>
          <p:cNvSpPr/>
          <p:nvPr/>
        </p:nvSpPr>
        <p:spPr>
          <a:xfrm>
            <a:off x="4382110" y="2044051"/>
            <a:ext cx="153721" cy="1274201"/>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1682"/>
            <a:ext cx="153721" cy="1326571"/>
          </a:xfrm>
          <a:prstGeom prst="rect">
            <a:avLst/>
          </a:prstGeom>
          <a:solidFill>
            <a:srgbClr val="C08D7C"/>
          </a:solidFill>
          <a:ln w="12700">
            <a:solidFill>
              <a:srgbClr val="C08D7C"/>
            </a:solidFill>
            <a:prstDash val="solid"/>
          </a:ln>
        </p:spPr>
      </p:sp>
      <p:sp>
        <p:nvSpPr>
          <p:cNvPr id="29" name="Shape 27"/>
          <p:cNvSpPr/>
          <p:nvPr/>
        </p:nvSpPr>
        <p:spPr>
          <a:xfrm>
            <a:off x="4834230" y="1939321"/>
            <a:ext cx="153721" cy="1378932"/>
          </a:xfrm>
          <a:prstGeom prst="rect">
            <a:avLst/>
          </a:prstGeom>
          <a:solidFill>
            <a:srgbClr val="C08D7C"/>
          </a:solidFill>
          <a:ln w="12700">
            <a:solidFill>
              <a:srgbClr val="C08D7C"/>
            </a:solidFill>
            <a:prstDash val="solid"/>
          </a:ln>
        </p:spPr>
      </p:sp>
      <p:sp>
        <p:nvSpPr>
          <p:cNvPr id="30" name="Shape 28"/>
          <p:cNvSpPr/>
          <p:nvPr/>
        </p:nvSpPr>
        <p:spPr>
          <a:xfrm>
            <a:off x="5060290" y="1886952"/>
            <a:ext cx="153721" cy="1431301"/>
          </a:xfrm>
          <a:prstGeom prst="rect">
            <a:avLst/>
          </a:prstGeom>
          <a:solidFill>
            <a:srgbClr val="C08D7C"/>
          </a:solidFill>
          <a:ln w="12700">
            <a:solidFill>
              <a:srgbClr val="C08D7C"/>
            </a:solidFill>
            <a:prstDash val="solid"/>
          </a:ln>
        </p:spPr>
      </p:sp>
      <p:sp>
        <p:nvSpPr>
          <p:cNvPr id="31" name="Shape 29"/>
          <p:cNvSpPr/>
          <p:nvPr/>
        </p:nvSpPr>
        <p:spPr>
          <a:xfrm>
            <a:off x="5286350" y="1834590"/>
            <a:ext cx="153721" cy="1483662"/>
          </a:xfrm>
          <a:prstGeom prst="rect">
            <a:avLst/>
          </a:prstGeom>
          <a:solidFill>
            <a:srgbClr val="C08D7C"/>
          </a:solidFill>
          <a:ln w="12700">
            <a:solidFill>
              <a:srgbClr val="C08D7C"/>
            </a:solidFill>
            <a:prstDash val="solid"/>
          </a:ln>
        </p:spPr>
      </p:sp>
      <p:sp>
        <p:nvSpPr>
          <p:cNvPr id="32" name="Shape 30"/>
          <p:cNvSpPr/>
          <p:nvPr/>
        </p:nvSpPr>
        <p:spPr>
          <a:xfrm>
            <a:off x="5512410" y="1799680"/>
            <a:ext cx="153721" cy="1518572"/>
          </a:xfrm>
          <a:prstGeom prst="rect">
            <a:avLst/>
          </a:prstGeom>
          <a:solidFill>
            <a:srgbClr val="C08D7C"/>
          </a:solidFill>
          <a:ln w="12700">
            <a:solidFill>
              <a:srgbClr val="C08D7C"/>
            </a:solidFill>
            <a:prstDash val="solid"/>
          </a:ln>
        </p:spPr>
      </p:sp>
      <p:sp>
        <p:nvSpPr>
          <p:cNvPr id="33" name="Shape 31"/>
          <p:cNvSpPr/>
          <p:nvPr/>
        </p:nvSpPr>
        <p:spPr>
          <a:xfrm>
            <a:off x="5738470" y="1764770"/>
            <a:ext cx="153721" cy="1553483"/>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29860"/>
            <a:ext cx="153721" cy="1588393"/>
          </a:xfrm>
          <a:prstGeom prst="rect">
            <a:avLst/>
          </a:prstGeom>
          <a:solidFill>
            <a:srgbClr val="C08D7C"/>
          </a:solidFill>
          <a:ln w="12700">
            <a:solidFill>
              <a:srgbClr val="C08D7C"/>
            </a:solidFill>
            <a:prstDash val="solid"/>
          </a:ln>
        </p:spPr>
      </p:sp>
      <p:sp>
        <p:nvSpPr>
          <p:cNvPr id="36" name="Shape 34"/>
          <p:cNvSpPr/>
          <p:nvPr/>
        </p:nvSpPr>
        <p:spPr>
          <a:xfrm>
            <a:off x="6190590" y="1694950"/>
            <a:ext cx="153721" cy="1623303"/>
          </a:xfrm>
          <a:prstGeom prst="rect">
            <a:avLst/>
          </a:prstGeom>
          <a:solidFill>
            <a:srgbClr val="C08D7C"/>
          </a:solidFill>
          <a:ln w="12700">
            <a:solidFill>
              <a:srgbClr val="C08D7C"/>
            </a:solidFill>
            <a:prstDash val="solid"/>
          </a:ln>
        </p:spPr>
      </p:sp>
      <p:sp>
        <p:nvSpPr>
          <p:cNvPr id="37" name="Shape 35"/>
          <p:cNvSpPr/>
          <p:nvPr/>
        </p:nvSpPr>
        <p:spPr>
          <a:xfrm>
            <a:off x="6416650" y="1677498"/>
            <a:ext cx="153721" cy="1640754"/>
          </a:xfrm>
          <a:prstGeom prst="rect">
            <a:avLst/>
          </a:prstGeom>
          <a:solidFill>
            <a:srgbClr val="C08D7C"/>
          </a:solidFill>
          <a:ln w="12700">
            <a:solidFill>
              <a:srgbClr val="C08D7C"/>
            </a:solidFill>
            <a:prstDash val="solid"/>
          </a:ln>
        </p:spPr>
      </p:sp>
      <p:sp>
        <p:nvSpPr>
          <p:cNvPr id="38" name="Shape 36"/>
          <p:cNvSpPr/>
          <p:nvPr/>
        </p:nvSpPr>
        <p:spPr>
          <a:xfrm>
            <a:off x="6642710" y="1642588"/>
            <a:ext cx="153721" cy="1675664"/>
          </a:xfrm>
          <a:prstGeom prst="rect">
            <a:avLst/>
          </a:prstGeom>
          <a:solidFill>
            <a:srgbClr val="C08D7C"/>
          </a:solidFill>
          <a:ln w="12700">
            <a:solidFill>
              <a:srgbClr val="C08D7C"/>
            </a:solidFill>
            <a:prstDash val="solid"/>
          </a:ln>
        </p:spPr>
      </p:sp>
      <p:sp>
        <p:nvSpPr>
          <p:cNvPr id="39" name="Shape 37"/>
          <p:cNvSpPr/>
          <p:nvPr/>
        </p:nvSpPr>
        <p:spPr>
          <a:xfrm>
            <a:off x="6868770" y="1625129"/>
            <a:ext cx="153721" cy="1693123"/>
          </a:xfrm>
          <a:prstGeom prst="rect">
            <a:avLst/>
          </a:prstGeom>
          <a:solidFill>
            <a:srgbClr val="C08D7C"/>
          </a:solidFill>
          <a:ln w="12700">
            <a:solidFill>
              <a:srgbClr val="C08D7C"/>
            </a:solidFill>
            <a:prstDash val="solid"/>
          </a:ln>
        </p:spPr>
      </p:sp>
      <p:sp>
        <p:nvSpPr>
          <p:cNvPr id="40" name="Shape 38"/>
          <p:cNvSpPr/>
          <p:nvPr/>
        </p:nvSpPr>
        <p:spPr>
          <a:xfrm>
            <a:off x="7094830" y="1607678"/>
            <a:ext cx="153721" cy="1710574"/>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19"/>
            <a:ext cx="153721" cy="1728033"/>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45485"/>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45485"/>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45485"/>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45485"/>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45485"/>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$220,847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$-79,958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-$180,634 at month 10, against a $1,146,000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$571,926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-$126,709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$426,457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-$26,400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-$205,610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$220,847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$1.22M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$411,787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$307,049</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$101,439</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2.57x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$2.65M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$571,926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$426,457</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$220,847</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5.61x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$4.08M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$732,065</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$545,865</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$340,255</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8.64x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$2.0M private against a $2.75M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$2,750,000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5.61x.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$180,634 at month 10, not to a round number.</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$1,146,000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$2,000,000  (42%)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$21,771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$39,397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$1,146,000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-$472,277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$195,936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$1,863,419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$367,008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5.08x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$2,579,494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5.46x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$2,650,164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$472,758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5.61x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5.61x at 9.5%   ·   5.40x at 10.5%   ·   5.21x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$1,146,000 reserve inside use of funds is sized against a modeled cash trough of $180,634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5.08x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5.61x at 9.5%, 5.40x at 10.5%, 5.21x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$2.0M private case  ·  $4.75M project  ·  4,800 SF  ·  5.61x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 rent — turns out to be wrong.</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$205,610 a month. Rent is 4,800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$15,180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Ample carries one Ammortal chamber, not two: $159,500 list including delivery, install and onboarding, a 10% deposit, and roughly $3,000 a month on vendor financing. Aescape cannot be purchased — the single unit runs $5,000 a month on enterprise terms, plus $10 for every completed massage, which is a variable cost and already sits inside that service line’s margin rather than here.</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 IV, regenerative, recovery —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$145,469 a month against $571,926 of revenue, a blended 74.6% margin.</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72–78%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 kits and centrifuge consumables, IV bags, vitamins and NAD+, peptides and pharmacy cost, tubing and sharps.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laser tips and consumables, RF and cryo applicators, topicals. The lowest wellness margins because product cost dominates.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62–70%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 towels, laundry, water and amenities —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chambers (2 units, $160,000 each),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(2 units),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(4,800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 waterproofing…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$182,000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chambers are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$1,146,000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$220,847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$2,650,164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5.61x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$28,800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$218,447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$2,621,364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5.54x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$216,047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$2,592,564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$33,600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$213,647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$2,563,764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$2.0M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2026-08-14T04:00:13Z</dcterms:created>
  <dcterms:modified xsi:type="dcterms:W3CDTF">2026-08-14T04:00:13Z</dcterms:modified>
</cp:coreProperties>
</file>
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4,800 SF   ·   Est. 2026   ·   Ample · $2.0M private case, $4.75M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(joints)  ·  Compression / NeuFit  ·  Hormone / Peptide / GLP  ·  IV Therapy — NAD+ 100mg  ·  IV Therapy — NAD+ 250mg  ·  IV Therapy — NAD+ 500mg  ·  Botox ($16/unit, 15-unit minimum)  ·  Laser Platform  ·  Advanced Biometrics  ·  DNA Analysis  ·  DUTCH Plus Test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4,800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room (seated)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 light bed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 bathrooms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Admin offices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Kitchen and breakroom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Biohazard and linen closets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Circulation and grossing factor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965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4,800 square feet, and how it is paid for.</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Shape 3"/>
          <p:cNvSpPr/>
          <p:nvPr/>
        </p:nvSpPr>
        <p:spPr>
          <a:xfrm>
            <a:off x="4754880" y="1645920"/>
            <a:ext cx="3520440" cy="2011680"/>
          </a:xfrm>
          <a:prstGeom prst="roundRect">
            <a:avLst>
              <a:gd name="adj" fmla="val 2727"/>
            </a:avLst>
          </a:prstGeom>
          <a:solidFill>
            <a:srgbClr val="16241C"/>
          </a:solidFill>
          <a:ln w="12700">
            <a:solidFill>
              <a:srgbClr val="2E4237"/>
            </a:solidFill>
            <a:prstDash val="solid"/>
          </a:ln>
        </p:spPr>
      </p:sp>
      <p:sp>
        <p:nvSpPr>
          <p:cNvPr id="7" name="Text 4"/>
          <p:cNvSpPr/>
          <p:nvPr/>
        </p:nvSpPr>
        <p:spPr>
          <a:xfrm>
            <a:off x="4901184" y="1773936"/>
            <a:ext cx="3246120"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8" name="Text 5"/>
          <p:cNvSpPr/>
          <p:nvPr/>
        </p:nvSpPr>
        <p:spPr>
          <a:xfrm>
            <a:off x="4901184" y="1993392"/>
            <a:ext cx="3246120" cy="15544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Wet areas drive cost — plunges, saunas and steam carry a materially higher per-SF buildout than a dry medspa, which is why the lean case trims the contrast suite before it trims treatment rooms.</a:t>
            </a:r>
            <a:endParaRPr lang="en-US" sz="9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65%</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2,070 modeled visits against 3,192 practical capacity, leaving 1,122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39%</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200 procedures against 507 practical capacity, leaving 307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16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 (joints)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 NAD+ 100mg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$71,400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 NAD+ 250mg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$83,400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 NAD+ 500mg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($16/unit, 15-unit minimum)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Plus Test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1,215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$478,740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$478,740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-$27,939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$321,301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$551,301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10.</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3260498"/>
            <a:ext cx="8138160" cy="10973"/>
          </a:xfrm>
          <a:prstGeom prst="rect">
            <a:avLst/>
          </a:prstGeom>
          <a:solidFill>
            <a:srgbClr val="2E4237"/>
          </a:solidFill>
          <a:ln w="12700">
            <a:solidFill>
              <a:srgbClr val="2E4237"/>
            </a:solidFill>
            <a:prstDash val="solid"/>
          </a:ln>
        </p:spPr>
      </p:sp>
      <p:sp>
        <p:nvSpPr>
          <p:cNvPr id="7" name="Shape 5"/>
          <p:cNvSpPr/>
          <p:nvPr/>
        </p:nvSpPr>
        <p:spPr>
          <a:xfrm>
            <a:off x="539090" y="3260498"/>
            <a:ext cx="153721" cy="600005"/>
          </a:xfrm>
          <a:prstGeom prst="rect">
            <a:avLst/>
          </a:prstGeom>
          <a:solidFill>
            <a:srgbClr val="2E4237"/>
          </a:solidFill>
          <a:ln w="12700">
            <a:solidFill>
              <a:srgbClr val="2E4237"/>
            </a:solidFill>
            <a:prstDash val="solid"/>
          </a:ln>
        </p:spPr>
      </p:sp>
      <p:sp>
        <p:nvSpPr>
          <p:cNvPr id="8" name="Shape 6"/>
          <p:cNvSpPr/>
          <p:nvPr/>
        </p:nvSpPr>
        <p:spPr>
          <a:xfrm>
            <a:off x="765150" y="3260498"/>
            <a:ext cx="153721" cy="600005"/>
          </a:xfrm>
          <a:prstGeom prst="rect">
            <a:avLst/>
          </a:prstGeom>
          <a:solidFill>
            <a:srgbClr val="2E4237"/>
          </a:solidFill>
          <a:ln w="12700">
            <a:solidFill>
              <a:srgbClr val="2E4237"/>
            </a:solidFill>
            <a:prstDash val="solid"/>
          </a:ln>
        </p:spPr>
      </p:sp>
      <p:sp>
        <p:nvSpPr>
          <p:cNvPr id="9" name="Shape 7"/>
          <p:cNvSpPr/>
          <p:nvPr/>
        </p:nvSpPr>
        <p:spPr>
          <a:xfrm>
            <a:off x="991210" y="3260498"/>
            <a:ext cx="153721" cy="600005"/>
          </a:xfrm>
          <a:prstGeom prst="rect">
            <a:avLst/>
          </a:prstGeom>
          <a:solidFill>
            <a:srgbClr val="2E4237"/>
          </a:solidFill>
          <a:ln w="12700">
            <a:solidFill>
              <a:srgbClr val="2E4237"/>
            </a:solidFill>
            <a:prstDash val="solid"/>
          </a:ln>
        </p:spPr>
      </p:sp>
      <p:sp>
        <p:nvSpPr>
          <p:cNvPr id="10" name="Shape 8"/>
          <p:cNvSpPr/>
          <p:nvPr/>
        </p:nvSpPr>
        <p:spPr>
          <a:xfrm>
            <a:off x="1217270" y="3260498"/>
            <a:ext cx="153721" cy="600005"/>
          </a:xfrm>
          <a:prstGeom prst="rect">
            <a:avLst/>
          </a:prstGeom>
          <a:solidFill>
            <a:srgbClr val="2E4237"/>
          </a:solidFill>
          <a:ln w="12700">
            <a:solidFill>
              <a:srgbClr val="2E4237"/>
            </a:solidFill>
            <a:prstDash val="solid"/>
          </a:ln>
        </p:spPr>
      </p:sp>
      <p:sp>
        <p:nvSpPr>
          <p:cNvPr id="11" name="Shape 9"/>
          <p:cNvSpPr/>
          <p:nvPr/>
        </p:nvSpPr>
        <p:spPr>
          <a:xfrm>
            <a:off x="1443330" y="3260498"/>
            <a:ext cx="153721" cy="600005"/>
          </a:xfrm>
          <a:prstGeom prst="rect">
            <a:avLst/>
          </a:prstGeom>
          <a:solidFill>
            <a:srgbClr val="2E4237"/>
          </a:solidFill>
          <a:ln w="12700">
            <a:solidFill>
              <a:srgbClr val="2E4237"/>
            </a:solidFill>
            <a:prstDash val="solid"/>
          </a:ln>
        </p:spPr>
      </p:sp>
      <p:sp>
        <p:nvSpPr>
          <p:cNvPr id="12" name="Shape 10"/>
          <p:cNvSpPr/>
          <p:nvPr/>
        </p:nvSpPr>
        <p:spPr>
          <a:xfrm>
            <a:off x="1669390" y="3260498"/>
            <a:ext cx="153721" cy="600005"/>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3260498"/>
            <a:ext cx="153721" cy="689710"/>
          </a:xfrm>
          <a:prstGeom prst="rect">
            <a:avLst/>
          </a:prstGeom>
          <a:solidFill>
            <a:srgbClr val="2E4237"/>
          </a:solidFill>
          <a:ln w="12700">
            <a:solidFill>
              <a:srgbClr val="2E4237"/>
            </a:solidFill>
            <a:prstDash val="solid"/>
          </a:ln>
        </p:spPr>
      </p:sp>
      <p:sp>
        <p:nvSpPr>
          <p:cNvPr id="15" name="Shape 13"/>
          <p:cNvSpPr/>
          <p:nvPr/>
        </p:nvSpPr>
        <p:spPr>
          <a:xfrm>
            <a:off x="2121510" y="3260498"/>
            <a:ext cx="153721" cy="451569"/>
          </a:xfrm>
          <a:prstGeom prst="rect">
            <a:avLst/>
          </a:prstGeom>
          <a:solidFill>
            <a:srgbClr val="2E4237"/>
          </a:solidFill>
          <a:ln w="12700">
            <a:solidFill>
              <a:srgbClr val="2E4237"/>
            </a:solidFill>
            <a:prstDash val="solid"/>
          </a:ln>
        </p:spPr>
      </p:sp>
      <p:sp>
        <p:nvSpPr>
          <p:cNvPr id="16" name="Shape 14"/>
          <p:cNvSpPr/>
          <p:nvPr/>
        </p:nvSpPr>
        <p:spPr>
          <a:xfrm>
            <a:off x="2347570" y="3260498"/>
            <a:ext cx="153721" cy="179402"/>
          </a:xfrm>
          <a:prstGeom prst="rect">
            <a:avLst/>
          </a:prstGeom>
          <a:solidFill>
            <a:srgbClr val="2E4237"/>
          </a:solidFill>
          <a:ln w="12700">
            <a:solidFill>
              <a:srgbClr val="2E4237"/>
            </a:solidFill>
            <a:prstDash val="solid"/>
          </a:ln>
        </p:spPr>
      </p:sp>
      <p:sp>
        <p:nvSpPr>
          <p:cNvPr id="17" name="Shape 15"/>
          <p:cNvSpPr/>
          <p:nvPr/>
        </p:nvSpPr>
        <p:spPr>
          <a:xfrm>
            <a:off x="2573630" y="3235777"/>
            <a:ext cx="153721" cy="24721"/>
          </a:xfrm>
          <a:prstGeom prst="rect">
            <a:avLst/>
          </a:prstGeom>
          <a:solidFill>
            <a:srgbClr val="C08D7C"/>
          </a:solidFill>
          <a:ln w="12700">
            <a:solidFill>
              <a:srgbClr val="C08D7C"/>
            </a:solidFill>
            <a:prstDash val="solid"/>
          </a:ln>
        </p:spPr>
      </p:sp>
      <p:sp>
        <p:nvSpPr>
          <p:cNvPr id="18" name="Shape 16"/>
          <p:cNvSpPr/>
          <p:nvPr/>
        </p:nvSpPr>
        <p:spPr>
          <a:xfrm>
            <a:off x="2799690" y="3031662"/>
            <a:ext cx="153721" cy="228836"/>
          </a:xfrm>
          <a:prstGeom prst="rect">
            <a:avLst/>
          </a:prstGeom>
          <a:solidFill>
            <a:srgbClr val="C08D7C"/>
          </a:solidFill>
          <a:ln w="12700">
            <a:solidFill>
              <a:srgbClr val="C08D7C"/>
            </a:solidFill>
            <a:prstDash val="solid"/>
          </a:ln>
        </p:spPr>
      </p:sp>
      <p:sp>
        <p:nvSpPr>
          <p:cNvPr id="19" name="Shape 17"/>
          <p:cNvSpPr/>
          <p:nvPr/>
        </p:nvSpPr>
        <p:spPr>
          <a:xfrm>
            <a:off x="3025750" y="2827539"/>
            <a:ext cx="153721" cy="432959"/>
          </a:xfrm>
          <a:prstGeom prst="rect">
            <a:avLst/>
          </a:prstGeom>
          <a:solidFill>
            <a:srgbClr val="C08D7C"/>
          </a:solidFill>
          <a:ln w="12700">
            <a:solidFill>
              <a:srgbClr val="C08D7C"/>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623416"/>
            <a:ext cx="153721" cy="637082"/>
          </a:xfrm>
          <a:prstGeom prst="rect">
            <a:avLst/>
          </a:prstGeom>
          <a:solidFill>
            <a:srgbClr val="C08D7C"/>
          </a:solidFill>
          <a:ln w="12700">
            <a:solidFill>
              <a:srgbClr val="C08D7C"/>
            </a:solidFill>
            <a:prstDash val="solid"/>
          </a:ln>
        </p:spPr>
      </p:sp>
      <p:sp>
        <p:nvSpPr>
          <p:cNvPr id="22" name="Shape 20"/>
          <p:cNvSpPr/>
          <p:nvPr/>
        </p:nvSpPr>
        <p:spPr>
          <a:xfrm>
            <a:off x="3477870" y="2487328"/>
            <a:ext cx="153721" cy="773170"/>
          </a:xfrm>
          <a:prstGeom prst="rect">
            <a:avLst/>
          </a:prstGeom>
          <a:solidFill>
            <a:srgbClr val="C08D7C"/>
          </a:solidFill>
          <a:ln w="12700">
            <a:solidFill>
              <a:srgbClr val="C08D7C"/>
            </a:solidFill>
            <a:prstDash val="solid"/>
          </a:ln>
        </p:spPr>
      </p:sp>
      <p:sp>
        <p:nvSpPr>
          <p:cNvPr id="23" name="Shape 21"/>
          <p:cNvSpPr/>
          <p:nvPr/>
        </p:nvSpPr>
        <p:spPr>
          <a:xfrm>
            <a:off x="3703930" y="2351249"/>
            <a:ext cx="153721" cy="909249"/>
          </a:xfrm>
          <a:prstGeom prst="rect">
            <a:avLst/>
          </a:prstGeom>
          <a:solidFill>
            <a:srgbClr val="C08D7C"/>
          </a:solidFill>
          <a:ln w="12700">
            <a:solidFill>
              <a:srgbClr val="C08D7C"/>
            </a:solidFill>
            <a:prstDash val="solid"/>
          </a:ln>
        </p:spPr>
      </p:sp>
      <p:sp>
        <p:nvSpPr>
          <p:cNvPr id="24" name="Shape 22"/>
          <p:cNvSpPr/>
          <p:nvPr/>
        </p:nvSpPr>
        <p:spPr>
          <a:xfrm>
            <a:off x="3929990" y="2215170"/>
            <a:ext cx="153721" cy="1045329"/>
          </a:xfrm>
          <a:prstGeom prst="rect">
            <a:avLst/>
          </a:prstGeom>
          <a:solidFill>
            <a:srgbClr val="C08D7C"/>
          </a:solidFill>
          <a:ln w="12700">
            <a:solidFill>
              <a:srgbClr val="C08D7C"/>
            </a:solidFill>
            <a:prstDash val="solid"/>
          </a:ln>
        </p:spPr>
      </p:sp>
      <p:sp>
        <p:nvSpPr>
          <p:cNvPr id="25" name="Shape 23"/>
          <p:cNvSpPr/>
          <p:nvPr/>
        </p:nvSpPr>
        <p:spPr>
          <a:xfrm>
            <a:off x="4156050" y="2079090"/>
            <a:ext cx="153721" cy="1181408"/>
          </a:xfrm>
          <a:prstGeom prst="rect">
            <a:avLst/>
          </a:prstGeom>
          <a:solidFill>
            <a:srgbClr val="C08D7C"/>
          </a:solidFill>
          <a:ln w="12700">
            <a:solidFill>
              <a:srgbClr val="C08D7C"/>
            </a:solidFill>
            <a:prstDash val="solid"/>
          </a:ln>
        </p:spPr>
      </p:sp>
      <p:sp>
        <p:nvSpPr>
          <p:cNvPr id="26" name="Shape 24"/>
          <p:cNvSpPr/>
          <p:nvPr/>
        </p:nvSpPr>
        <p:spPr>
          <a:xfrm>
            <a:off x="4382110" y="2028456"/>
            <a:ext cx="153721" cy="1232043"/>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977821"/>
            <a:ext cx="153721" cy="1282677"/>
          </a:xfrm>
          <a:prstGeom prst="rect">
            <a:avLst/>
          </a:prstGeom>
          <a:solidFill>
            <a:srgbClr val="C08D7C"/>
          </a:solidFill>
          <a:ln w="12700">
            <a:solidFill>
              <a:srgbClr val="C08D7C"/>
            </a:solidFill>
            <a:prstDash val="solid"/>
          </a:ln>
        </p:spPr>
      </p:sp>
      <p:sp>
        <p:nvSpPr>
          <p:cNvPr id="29" name="Shape 27"/>
          <p:cNvSpPr/>
          <p:nvPr/>
        </p:nvSpPr>
        <p:spPr>
          <a:xfrm>
            <a:off x="4834230" y="1927195"/>
            <a:ext cx="153721" cy="1333304"/>
          </a:xfrm>
          <a:prstGeom prst="rect">
            <a:avLst/>
          </a:prstGeom>
          <a:solidFill>
            <a:srgbClr val="C08D7C"/>
          </a:solidFill>
          <a:ln w="12700">
            <a:solidFill>
              <a:srgbClr val="C08D7C"/>
            </a:solidFill>
            <a:prstDash val="solid"/>
          </a:ln>
        </p:spPr>
      </p:sp>
      <p:sp>
        <p:nvSpPr>
          <p:cNvPr id="30" name="Shape 28"/>
          <p:cNvSpPr/>
          <p:nvPr/>
        </p:nvSpPr>
        <p:spPr>
          <a:xfrm>
            <a:off x="5060290" y="1876560"/>
            <a:ext cx="153721" cy="1383938"/>
          </a:xfrm>
          <a:prstGeom prst="rect">
            <a:avLst/>
          </a:prstGeom>
          <a:solidFill>
            <a:srgbClr val="C08D7C"/>
          </a:solidFill>
          <a:ln w="12700">
            <a:solidFill>
              <a:srgbClr val="C08D7C"/>
            </a:solidFill>
            <a:prstDash val="solid"/>
          </a:ln>
        </p:spPr>
      </p:sp>
      <p:sp>
        <p:nvSpPr>
          <p:cNvPr id="31" name="Shape 29"/>
          <p:cNvSpPr/>
          <p:nvPr/>
        </p:nvSpPr>
        <p:spPr>
          <a:xfrm>
            <a:off x="5286350" y="1825925"/>
            <a:ext cx="153721" cy="1434573"/>
          </a:xfrm>
          <a:prstGeom prst="rect">
            <a:avLst/>
          </a:prstGeom>
          <a:solidFill>
            <a:srgbClr val="C08D7C"/>
          </a:solidFill>
          <a:ln w="12700">
            <a:solidFill>
              <a:srgbClr val="C08D7C"/>
            </a:solidFill>
            <a:prstDash val="solid"/>
          </a:ln>
        </p:spPr>
      </p:sp>
      <p:sp>
        <p:nvSpPr>
          <p:cNvPr id="32" name="Shape 30"/>
          <p:cNvSpPr/>
          <p:nvPr/>
        </p:nvSpPr>
        <p:spPr>
          <a:xfrm>
            <a:off x="5512410" y="1792174"/>
            <a:ext cx="153721" cy="1468324"/>
          </a:xfrm>
          <a:prstGeom prst="rect">
            <a:avLst/>
          </a:prstGeom>
          <a:solidFill>
            <a:srgbClr val="C08D7C"/>
          </a:solidFill>
          <a:ln w="12700">
            <a:solidFill>
              <a:srgbClr val="C08D7C"/>
            </a:solidFill>
            <a:prstDash val="solid"/>
          </a:ln>
        </p:spPr>
      </p:sp>
      <p:sp>
        <p:nvSpPr>
          <p:cNvPr id="33" name="Shape 31"/>
          <p:cNvSpPr/>
          <p:nvPr/>
        </p:nvSpPr>
        <p:spPr>
          <a:xfrm>
            <a:off x="5738470" y="1758415"/>
            <a:ext cx="153721" cy="1502083"/>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724664"/>
            <a:ext cx="153721" cy="1535834"/>
          </a:xfrm>
          <a:prstGeom prst="rect">
            <a:avLst/>
          </a:prstGeom>
          <a:solidFill>
            <a:srgbClr val="C08D7C"/>
          </a:solidFill>
          <a:ln w="12700">
            <a:solidFill>
              <a:srgbClr val="C08D7C"/>
            </a:solidFill>
            <a:prstDash val="solid"/>
          </a:ln>
        </p:spPr>
      </p:sp>
      <p:sp>
        <p:nvSpPr>
          <p:cNvPr id="36" name="Shape 34"/>
          <p:cNvSpPr/>
          <p:nvPr/>
        </p:nvSpPr>
        <p:spPr>
          <a:xfrm>
            <a:off x="6190590" y="1690913"/>
            <a:ext cx="153721" cy="1569585"/>
          </a:xfrm>
          <a:prstGeom prst="rect">
            <a:avLst/>
          </a:prstGeom>
          <a:solidFill>
            <a:srgbClr val="C08D7C"/>
          </a:solidFill>
          <a:ln w="12700">
            <a:solidFill>
              <a:srgbClr val="C08D7C"/>
            </a:solidFill>
            <a:prstDash val="solid"/>
          </a:ln>
        </p:spPr>
      </p:sp>
      <p:sp>
        <p:nvSpPr>
          <p:cNvPr id="37" name="Shape 35"/>
          <p:cNvSpPr/>
          <p:nvPr/>
        </p:nvSpPr>
        <p:spPr>
          <a:xfrm>
            <a:off x="6416650" y="1674029"/>
            <a:ext cx="153721" cy="1586469"/>
          </a:xfrm>
          <a:prstGeom prst="rect">
            <a:avLst/>
          </a:prstGeom>
          <a:solidFill>
            <a:srgbClr val="C08D7C"/>
          </a:solidFill>
          <a:ln w="12700">
            <a:solidFill>
              <a:srgbClr val="C08D7C"/>
            </a:solidFill>
            <a:prstDash val="solid"/>
          </a:ln>
        </p:spPr>
      </p:sp>
      <p:sp>
        <p:nvSpPr>
          <p:cNvPr id="38" name="Shape 36"/>
          <p:cNvSpPr/>
          <p:nvPr/>
        </p:nvSpPr>
        <p:spPr>
          <a:xfrm>
            <a:off x="6642710" y="1640278"/>
            <a:ext cx="153721" cy="1620220"/>
          </a:xfrm>
          <a:prstGeom prst="rect">
            <a:avLst/>
          </a:prstGeom>
          <a:solidFill>
            <a:srgbClr val="C08D7C"/>
          </a:solidFill>
          <a:ln w="12700">
            <a:solidFill>
              <a:srgbClr val="C08D7C"/>
            </a:solidFill>
            <a:prstDash val="solid"/>
          </a:ln>
        </p:spPr>
      </p:sp>
      <p:sp>
        <p:nvSpPr>
          <p:cNvPr id="39" name="Shape 37"/>
          <p:cNvSpPr/>
          <p:nvPr/>
        </p:nvSpPr>
        <p:spPr>
          <a:xfrm>
            <a:off x="6868770" y="1623403"/>
            <a:ext cx="153721" cy="1637096"/>
          </a:xfrm>
          <a:prstGeom prst="rect">
            <a:avLst/>
          </a:prstGeom>
          <a:solidFill>
            <a:srgbClr val="C08D7C"/>
          </a:solidFill>
          <a:ln w="12700">
            <a:solidFill>
              <a:srgbClr val="C08D7C"/>
            </a:solidFill>
            <a:prstDash val="solid"/>
          </a:ln>
        </p:spPr>
      </p:sp>
      <p:sp>
        <p:nvSpPr>
          <p:cNvPr id="40" name="Shape 38"/>
          <p:cNvSpPr/>
          <p:nvPr/>
        </p:nvSpPr>
        <p:spPr>
          <a:xfrm>
            <a:off x="7094830" y="1606519"/>
            <a:ext cx="153721" cy="1653979"/>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9643"/>
            <a:ext cx="153721" cy="1670855"/>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687730"/>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687730"/>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687730"/>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687730"/>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687730"/>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$202,422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$-82,722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-$199,612 at month 10, against a $1,146,000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$551,301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-$126,709</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$408,032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(4,800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-$26,400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-$15,180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-$205,610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$202,422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$1.06M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$396,937</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$293,783</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$88,173</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2.24x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$2.43M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$551,301</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$408,032</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$202,422</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5.14x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$3.80M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$705,665</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$522,281</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$316,671</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8.04x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$2.0M private against a $2.75M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$4.75M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$2,000,000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42%</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$2,750,000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4,800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5.14x.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$4.75M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$199,612 at month 10, not to a round number.</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(4,800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$182,000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$1,146,000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$4,750,000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$2,000,000  (42%)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$21,771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$39,397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$1,146,000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-$507,838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$195,936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-2.59x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$1,701,094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$367,008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4.64x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$2,364,289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$472,764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5.00x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$2,429,064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$472,758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5.14x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5.14x at 9.5%   ·   4.95x at 10.5%   ·   4.78x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$1,146,000 reserve inside use of funds is sized against a modeled cash trough of $199,612 at month 10.</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4.64x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5.14x at 9.5%, 4.95x at 10.5%, 4.78x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Rates move against us before close.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$2.0M private case  ·  $4.75M project  ·  4,800 SF  ·  5.14x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 every overhead line broken into its components, every capital line into what it buys, and the staffing plan named role by role.</a:t>
            </a:r>
            <a:endParaRPr lang="en-US" sz="1200" dirty="0"/>
          </a:p>
        </p:txBody>
      </p:sp>
      <p:sp>
        <p:nvSpPr>
          <p:cNvPr id="7" name="Text 5"/>
          <p:cNvSpPr/>
          <p:nvPr/>
        </p:nvSpPr>
        <p:spPr>
          <a:xfrm>
            <a:off x="502920" y="3310128"/>
            <a:ext cx="6673291" cy="731520"/>
          </a:xfrm>
          <a:prstGeom prst="rect">
            <a:avLst/>
          </a:prstGeom>
          <a:noFill/>
          <a:ln/>
        </p:spPr>
        <p:txBody>
          <a:bodyPr wrap="square" rtlCol="0" anchor="ctr"/>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are generated from the same financial model that produces the rest of the deck, so the appendix cannot disagree with the pages in front of it. Each build-up is checked at build time to sum to the total it explains. The final page shows what happens to debt service coverage if the largest assumption — rent — turns out to be wrong.</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$205,610 a month. Rent is 4,800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 (1 unit)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(1 unit)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Other leased equipment</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equipment financed (~$190,000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$15,180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Ample carries one Ammortal chamber, not two: $159,500 list including delivery, install and onboarding, a 10% deposit, and roughly $3,000 a month on vendor financing. Aescape cannot be purchased — the single unit runs $5,000 a month on enterprise terms, plus $10 for every completed massage, which is a variable cost and already sits inside that service line’s margin rather than here.</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 $85,920/month.</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named roster of nine posts priced off hourly rates at 160 hours a month, carried as fully loaded. Coverage against a 14-hour, 7-day week has not yet been tested.</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Officers (2 @ $150,000/yr)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 — $85/hr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$13,600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 — $100/hr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 — IV, regenerative, recovery — $55/hr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$8,800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LVN — $30/hr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 / technician — $25/hr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Administrator — $45/hr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$7,200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 — $22/hr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umbrella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AND COMPLIANCE</a:t>
            </a:r>
            <a:endParaRPr lang="en-US" sz="7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 (bi-annual, amortised)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$143,269 a month against $551,301 of revenue, a blended 74.0% margin.</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72–78%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 kits and centrifuge consumables, IV bags, vitamins and NAD+, peptides and pharmacy cost, tubing and sharps.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laser tips and consumables, RF and cryo applicators, topicals. The lowest wellness margins because product cost dominates.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62–70%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 towels, laundry, water and amenities — are carried separately at $8 a visit across 2,070 monthly visits, or $16,560.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chambers (2 units, $160,000 each),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(2 units),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$182,000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(4,800 SF @ $250/SF)</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 waterproofing…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$182,000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chambers are financed, so the capital cost is…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$237,000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and debt service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$1,146,000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$26,400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$202,422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$2,429,064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5.14x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$28,800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$200,022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$2,400,264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$31,200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$197,622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$2,371,464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5.02x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$33,600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$195,222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$2,342,664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4.96x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Coverage against the 1.25x underwriting convention.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2026-08-14T03:27:01Z</dcterms:created>
  <dcterms:modified xsi:type="dcterms:W3CDTF">2026-08-14T03:27:01Z</dcterms:modified>
</cp:coreProperties>
</file>
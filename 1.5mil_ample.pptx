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$1.5M private case, $4.75M project</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INVESTOR AND SBA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 Only a licensed facility can deliver it.</a:t>
            </a:r>
            <a:endParaRPr lang="en-US" sz="2600" dirty="0"/>
          </a:p>
        </p:txBody>
      </p:sp>
      <p:sp>
        <p:nvSpPr>
          <p:cNvPr id="4" name="Shape 2"/>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5" name="Text 3"/>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6" name="Text 4"/>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7" name="Shape 5"/>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8" name="Text 6"/>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9" name="Text 7"/>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0" name="Shape 8"/>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1" name="Text 9"/>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2" name="Text 10"/>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3" name="Text 11"/>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463040"/>
          </a:xfrm>
          <a:prstGeom prst="roundRect">
            <a:avLst>
              <a:gd name="adj" fmla="val 3750"/>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310128"/>
            <a:ext cx="7735824"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39312"/>
            <a:ext cx="7735824" cy="731520"/>
          </a:xfrm>
          <a:prstGeom prst="rect">
            <a:avLst/>
          </a:prstGeom>
          <a:noFill/>
          <a:ln/>
        </p:spPr>
        <p:txBody>
          <a:bodyPr wrap="square" rtlCol="0" anchor="ctr"/>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building can serve the memberships being sold.</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Debt service is interest-only through construction and the ramp, then amortizes.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-$212,252 at month 10, against a $1,105,800 working capital and debt service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we are wrong, 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2.23x</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4.83x</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DSCR</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7.43x</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$1.5M private against a $3.25M SBA loan.</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PRIVATE INVESTMENT</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SHARE OF PROJECT</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SBA 7(A) LOAN</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$3,250,000</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4,925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Project cost is unchanged. The private raise replaces the minimum equity injection, so the SBA 7(a) loan shrinks to fill the rest. Less debt against the same operating income is what lifts stabilized coverage to 4.83x.</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and debt service reserve is sized against the modeled cash trough of $212,252 at month 10, not to a round number.</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and debt service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SBA PACKAGE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Structured to the actual rule.</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Loan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Private investment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$1,500,000  (32%)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SBA 7(a) loan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Assumed rate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9.5% (Prime + 2.75%)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 years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Interest-only period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 months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during interest-only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$25,729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Payment once amortizing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$46,560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and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977640" cy="914400"/>
        </p:xfrm>
        <a:graphic>
          <a:graphicData uri="http://schemas.openxmlformats.org/drawingml/2006/table">
            <a:tbl>
              <a:tblPr/>
              <a:tblGrid>
                <a:gridCol w="777240"/>
                <a:gridCol w="1234440"/>
                <a:gridCol w="1188720"/>
                <a:gridCol w="77724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Debt service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-$473,662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$231,564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-2.05x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$1,897,430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$433,734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4.37x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$2,625,676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$558,720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4.70x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$558,714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274320"/>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Rate sensitivity: 4.83x at 9.5%   ·   4.65x at 10.5%   ·   4.49x at 11.5%</a:t>
            </a:r>
            <a:endParaRPr lang="en-US" sz="900" dirty="0"/>
          </a:p>
        </p:txBody>
      </p:sp>
      <p:sp>
        <p:nvSpPr>
          <p:cNvPr id="7" name="Text 3"/>
          <p:cNvSpPr/>
          <p:nvPr/>
        </p:nvSpPr>
        <p:spPr>
          <a:xfrm>
            <a:off x="502920" y="3794760"/>
            <a:ext cx="8138160" cy="777240"/>
          </a:xfrm>
          <a:prstGeom prst="rect">
            <a:avLst/>
          </a:prstGeom>
          <a:noFill/>
          <a:ln/>
        </p:spPr>
        <p:txBody>
          <a:bodyPr wrap="square" rtlCol="0" anchor="ctr"/>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SBA 7(a) caps at a $5,000,000 loan; SBA maximum guarantee exposure is $3,750,000. SOP 50 10 8 requires a minimum 10% equity injection for a startup, and lenders routinely require more of a business with no operating history. An unconditional personal guaranty is required from any owner holding 20% or more. The 1.25x coverage threshold is prevailing lender underwriting convention, not an SBA regulation.</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Debt service is interest-only for the first 18 months, and the $1,105,800 reserve inside use of funds is sized against a modeled cash trough of $212,252 at month 10.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2 coverage of 4.37x already clears the 1.25x convention, before the business reaches stabilization.</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Rate sensitivity: stabilized coverage runs 4.83x at 9.5%, 4.65x at 10.5%, 4.49x at 11.5%. Coverage holds above 1.25x even 200 basis points above the assumed rate.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18-month interest-only period compresses amortization into the remaining 102 months, raising the eventual payment. It buys ramp-year survivability at the cost of stabilized coverage, and both effects are reflected in the figures above.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Loan closes,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Amortization begins at month 19. 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services debt.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Rates move against us before close.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Coverage is stress-tested 200 basis points above assumption and disclosed at each level rather than quoted at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14400"/>
          </a:xfrm>
          <a:prstGeom prst="rect">
            <a:avLst/>
          </a:prstGeom>
          <a:noFill/>
          <a:ln/>
        </p:spPr>
        <p:txBody>
          <a:bodyPr wrap="square" rtlCol="0" anchor="ctr"/>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built to hold it, and fewer are licensed to treat you.</a:t>
            </a:r>
            <a:endParaRPr lang="en-US" sz="2400" dirty="0"/>
          </a:p>
        </p:txBody>
      </p:sp>
      <p:sp>
        <p:nvSpPr>
          <p:cNvPr id="5" name="Text 3"/>
          <p:cNvSpPr/>
          <p:nvPr/>
        </p:nvSpPr>
        <p:spPr>
          <a:xfrm>
            <a:off x="502920" y="269748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$1.5M private case  ·  $4.75M project  ·  4,925 SF  ·  4.83x stabilized coverage</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310128"/>
            <a:ext cx="6673291" cy="731520"/>
          </a:xfrm>
          <a:prstGeom prst="rect">
            <a:avLst/>
          </a:prstGeom>
          <a:noFill/>
          <a:ln/>
        </p:spPr>
        <p:txBody>
          <a:bodyPr wrap="square" rtlCol="0" anchor="ctr"/>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are generated from the same financial model that produces the rest of the deck, so the appendix cannot disagree with the pages in front of it. Each build-up is checked at build time to sum to the total it explains. The final page shows what happens to debt service coverage if the largest assumption, rent, turns out to be wrong.</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and debt service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ctr"/>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DSCR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4.83x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4.78x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4.72x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4.67x</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Coverage against the 1.25x underwriting convention.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$1.5M PRIVATE CASE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Investor and SBA Brief</dc:subject>
  <dc:creator>LK Wellness</dc:creator>
  <cp:lastModifiedBy>LK Wellness</cp:lastModifiedBy>
  <cp:revision>1</cp:revision>
  <dcterms:created xsi:type="dcterms:W3CDTF">2026-08-17T08:17:38Z</dcterms:created>
  <dcterms:modified xsi:type="dcterms:W3CDTF">2026-08-17T08:17:38Z</dcterms:modified>
</cp:coreProperties>
</file>
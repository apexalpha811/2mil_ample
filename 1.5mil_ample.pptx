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5,800 SF   ·   Est. 2026   ·   Ample · $1.5M private case, $5.0M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Facilities on the Westside combining licensed medical care with a genuine social club.</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Two proven models. Neither one is complete.</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Open booking works. Anyone can book a remedy; members get credits, member pricing and guest passes. What they lack is a real ladder of affiliation.</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The ladder works.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GAP</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Nobody has put a licensed medical clinic inside a social club and left the medicine open to everyone.</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Gating clinical care behind a membership is bad business and a bad look. Gating the room where people actually want to spend time is precisely what a club is. L&amp;K separates the two, and that separation is the entire model.</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PRP Injections  ·  Compression / NeuFit  ·  Hormone / Peptide / GLP  ·  IV Therapy (NAD+ / Drips)  ·  Botox &amp; Fillers  ·  Laser Platform  ·  Advanced Biometrics  ·  Morpheus8 RF Microneedling  ·  DNA Analysis  ·  Emsculpt  ·  DUTCH Testing  ·  CoolSculpting  ·  DEXA Scan</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rack rate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Hormone and peptide program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NaN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5,800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Staff, MEP, storage, circulation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Text 3"/>
          <p:cNvSpPr/>
          <p:nvPr/>
        </p:nvSpPr>
        <p:spPr>
          <a:xfrm>
            <a:off x="4754880" y="3931920"/>
            <a:ext cx="3520440" cy="7315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Equipment strategy: Purchased where payback justifies it. Wet areas drive cost — plunges, saunas and steam carry a materially higher per-SF buildout than a dry medspa, which is why the lean case trims the contrast suite before it trims treatment rooms.</a:t>
            </a:r>
            <a:endParaRPr lang="en-US" sz="85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3986784"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4654296" y="2240280"/>
            <a:ext cx="3986784"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4800600"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55%</a:t>
            </a:r>
            <a:endParaRPr lang="en-US" sz="2000" dirty="0"/>
          </a:p>
        </p:txBody>
      </p:sp>
      <p:sp>
        <p:nvSpPr>
          <p:cNvPr id="10" name="Text 8"/>
          <p:cNvSpPr/>
          <p:nvPr/>
        </p:nvSpPr>
        <p:spPr>
          <a:xfrm>
            <a:off x="4800600"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280 procedures against 507 practical capacity, leaving 227 slots of headroom.</a:t>
            </a:r>
            <a:endParaRPr lang="en-US" sz="900" dirty="0"/>
          </a:p>
        </p:txBody>
      </p:sp>
      <p:sp>
        <p:nvSpPr>
          <p:cNvPr id="11" name="Text 9"/>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CATCHMENT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Playa Vista is the right box on the map.</a:t>
            </a:r>
            <a:endParaRPr lang="en-US" sz="2600" dirty="0"/>
          </a:p>
        </p:txBody>
      </p:sp>
      <p:sp>
        <p:nvSpPr>
          <p:cNvPr id="4" name="Shape 2"/>
          <p:cNvSpPr/>
          <p:nvPr/>
        </p:nvSpPr>
        <p:spPr>
          <a:xfrm>
            <a:off x="502920" y="1463040"/>
            <a:ext cx="2602992" cy="1828800"/>
          </a:xfrm>
          <a:prstGeom prst="roundRect">
            <a:avLst>
              <a:gd name="adj" fmla="val 3000"/>
            </a:avLst>
          </a:prstGeom>
          <a:solidFill>
            <a:srgbClr val="16241C"/>
          </a:solidFill>
          <a:ln w="12700">
            <a:solidFill>
              <a:srgbClr val="2E4237"/>
            </a:solidFill>
            <a:prstDash val="solid"/>
          </a:ln>
        </p:spPr>
      </p:sp>
      <p:sp>
        <p:nvSpPr>
          <p:cNvPr id="5" name="Text 3"/>
          <p:cNvSpPr/>
          <p:nvPr/>
        </p:nvSpPr>
        <p:spPr>
          <a:xfrm>
            <a:off x="649224"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6" name="Text 4"/>
          <p:cNvSpPr/>
          <p:nvPr/>
        </p:nvSpPr>
        <p:spPr>
          <a:xfrm>
            <a:off x="649224"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catchment.  (US Census Bureau, via Point2Homes)</a:t>
            </a:r>
            <a:endParaRPr lang="en-US" sz="900" dirty="0"/>
          </a:p>
        </p:txBody>
      </p:sp>
      <p:sp>
        <p:nvSpPr>
          <p:cNvPr id="7" name="Shape 5"/>
          <p:cNvSpPr/>
          <p:nvPr/>
        </p:nvSpPr>
        <p:spPr>
          <a:xfrm>
            <a:off x="3270504" y="1463040"/>
            <a:ext cx="2602992" cy="1828800"/>
          </a:xfrm>
          <a:prstGeom prst="roundRect">
            <a:avLst>
              <a:gd name="adj" fmla="val 3000"/>
            </a:avLst>
          </a:prstGeom>
          <a:solidFill>
            <a:srgbClr val="16241C"/>
          </a:solidFill>
          <a:ln w="12700">
            <a:solidFill>
              <a:srgbClr val="2E4237"/>
            </a:solidFill>
            <a:prstDash val="solid"/>
          </a:ln>
        </p:spPr>
      </p:sp>
      <p:sp>
        <p:nvSpPr>
          <p:cNvPr id="8" name="Text 6"/>
          <p:cNvSpPr/>
          <p:nvPr/>
        </p:nvSpPr>
        <p:spPr>
          <a:xfrm>
            <a:off x="3416808"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9" name="Text 7"/>
          <p:cNvSpPr/>
          <p:nvPr/>
        </p:nvSpPr>
        <p:spPr>
          <a:xfrm>
            <a:off x="3416808"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0" name="Shape 8"/>
          <p:cNvSpPr/>
          <p:nvPr/>
        </p:nvSpPr>
        <p:spPr>
          <a:xfrm>
            <a:off x="6038088" y="1463040"/>
            <a:ext cx="2602992" cy="1828800"/>
          </a:xfrm>
          <a:prstGeom prst="roundRect">
            <a:avLst>
              <a:gd name="adj" fmla="val 3000"/>
            </a:avLst>
          </a:prstGeom>
          <a:solidFill>
            <a:srgbClr val="16241C"/>
          </a:solidFill>
          <a:ln w="12700">
            <a:solidFill>
              <a:srgbClr val="2E4237"/>
            </a:solidFill>
            <a:prstDash val="solid"/>
          </a:ln>
        </p:spPr>
      </p:sp>
      <p:sp>
        <p:nvSpPr>
          <p:cNvPr id="11" name="Text 9"/>
          <p:cNvSpPr/>
          <p:nvPr/>
        </p:nvSpPr>
        <p:spPr>
          <a:xfrm>
            <a:off x="6184392" y="159105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2" name="Text 10"/>
          <p:cNvSpPr/>
          <p:nvPr/>
        </p:nvSpPr>
        <p:spPr>
          <a:xfrm>
            <a:off x="6184392" y="2029968"/>
            <a:ext cx="2310384" cy="11338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3" name="Text 11"/>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4" name="Text 12"/>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Seventeen wellness lines, every one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 is the midpoint of a stated band.</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331720"/>
                <a:gridCol w="1234440"/>
                <a:gridCol w="868680"/>
                <a:gridCol w="777240"/>
                <a:gridCol w="1097280"/>
                <a:gridCol w="13716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Injections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 NeuFit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Hormone / Peptide / GLP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IV Therapy (NAD+ / Drips)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&amp; Fillers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Morpheus8 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Emsculpt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$29,250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Testing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CoolSculpting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rack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1,055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$419,230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rack rate, so redemption is netted out first.</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rack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$419,230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-$23,178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$266,552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$517,177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13.</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2563127"/>
            <a:ext cx="8138160" cy="10973"/>
          </a:xfrm>
          <a:prstGeom prst="rect">
            <a:avLst/>
          </a:prstGeom>
          <a:solidFill>
            <a:srgbClr val="2E4237"/>
          </a:solidFill>
          <a:ln w="12700">
            <a:solidFill>
              <a:srgbClr val="2E4237"/>
            </a:solidFill>
            <a:prstDash val="solid"/>
          </a:ln>
        </p:spPr>
      </p:sp>
      <p:sp>
        <p:nvSpPr>
          <p:cNvPr id="7" name="Shape 5"/>
          <p:cNvSpPr/>
          <p:nvPr/>
        </p:nvSpPr>
        <p:spPr>
          <a:xfrm>
            <a:off x="539090" y="2563127"/>
            <a:ext cx="153721" cy="977223"/>
          </a:xfrm>
          <a:prstGeom prst="rect">
            <a:avLst/>
          </a:prstGeom>
          <a:solidFill>
            <a:srgbClr val="2E4237"/>
          </a:solidFill>
          <a:ln w="12700">
            <a:solidFill>
              <a:srgbClr val="2E4237"/>
            </a:solidFill>
            <a:prstDash val="solid"/>
          </a:ln>
        </p:spPr>
      </p:sp>
      <p:sp>
        <p:nvSpPr>
          <p:cNvPr id="8" name="Shape 6"/>
          <p:cNvSpPr/>
          <p:nvPr/>
        </p:nvSpPr>
        <p:spPr>
          <a:xfrm>
            <a:off x="765150" y="2563127"/>
            <a:ext cx="153721" cy="977223"/>
          </a:xfrm>
          <a:prstGeom prst="rect">
            <a:avLst/>
          </a:prstGeom>
          <a:solidFill>
            <a:srgbClr val="2E4237"/>
          </a:solidFill>
          <a:ln w="12700">
            <a:solidFill>
              <a:srgbClr val="2E4237"/>
            </a:solidFill>
            <a:prstDash val="solid"/>
          </a:ln>
        </p:spPr>
      </p:sp>
      <p:sp>
        <p:nvSpPr>
          <p:cNvPr id="9" name="Shape 7"/>
          <p:cNvSpPr/>
          <p:nvPr/>
        </p:nvSpPr>
        <p:spPr>
          <a:xfrm>
            <a:off x="991210" y="2563127"/>
            <a:ext cx="153721" cy="977223"/>
          </a:xfrm>
          <a:prstGeom prst="rect">
            <a:avLst/>
          </a:prstGeom>
          <a:solidFill>
            <a:srgbClr val="2E4237"/>
          </a:solidFill>
          <a:ln w="12700">
            <a:solidFill>
              <a:srgbClr val="2E4237"/>
            </a:solidFill>
            <a:prstDash val="solid"/>
          </a:ln>
        </p:spPr>
      </p:sp>
      <p:sp>
        <p:nvSpPr>
          <p:cNvPr id="10" name="Shape 8"/>
          <p:cNvSpPr/>
          <p:nvPr/>
        </p:nvSpPr>
        <p:spPr>
          <a:xfrm>
            <a:off x="1217270" y="2563127"/>
            <a:ext cx="153721" cy="977223"/>
          </a:xfrm>
          <a:prstGeom prst="rect">
            <a:avLst/>
          </a:prstGeom>
          <a:solidFill>
            <a:srgbClr val="2E4237"/>
          </a:solidFill>
          <a:ln w="12700">
            <a:solidFill>
              <a:srgbClr val="2E4237"/>
            </a:solidFill>
            <a:prstDash val="solid"/>
          </a:ln>
        </p:spPr>
      </p:sp>
      <p:sp>
        <p:nvSpPr>
          <p:cNvPr id="11" name="Shape 9"/>
          <p:cNvSpPr/>
          <p:nvPr/>
        </p:nvSpPr>
        <p:spPr>
          <a:xfrm>
            <a:off x="1443330" y="2563127"/>
            <a:ext cx="153721" cy="977223"/>
          </a:xfrm>
          <a:prstGeom prst="rect">
            <a:avLst/>
          </a:prstGeom>
          <a:solidFill>
            <a:srgbClr val="2E4237"/>
          </a:solidFill>
          <a:ln w="12700">
            <a:solidFill>
              <a:srgbClr val="2E4237"/>
            </a:solidFill>
            <a:prstDash val="solid"/>
          </a:ln>
        </p:spPr>
      </p:sp>
      <p:sp>
        <p:nvSpPr>
          <p:cNvPr id="12" name="Shape 10"/>
          <p:cNvSpPr/>
          <p:nvPr/>
        </p:nvSpPr>
        <p:spPr>
          <a:xfrm>
            <a:off x="1669390" y="2563127"/>
            <a:ext cx="153721" cy="977223"/>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2563127"/>
            <a:ext cx="153721" cy="1387081"/>
          </a:xfrm>
          <a:prstGeom prst="rect">
            <a:avLst/>
          </a:prstGeom>
          <a:solidFill>
            <a:srgbClr val="2E4237"/>
          </a:solidFill>
          <a:ln w="12700">
            <a:solidFill>
              <a:srgbClr val="2E4237"/>
            </a:solidFill>
            <a:prstDash val="solid"/>
          </a:ln>
        </p:spPr>
      </p:sp>
      <p:sp>
        <p:nvSpPr>
          <p:cNvPr id="15" name="Shape 13"/>
          <p:cNvSpPr/>
          <p:nvPr/>
        </p:nvSpPr>
        <p:spPr>
          <a:xfrm>
            <a:off x="2121510" y="2563127"/>
            <a:ext cx="153721" cy="1122313"/>
          </a:xfrm>
          <a:prstGeom prst="rect">
            <a:avLst/>
          </a:prstGeom>
          <a:solidFill>
            <a:srgbClr val="2E4237"/>
          </a:solidFill>
          <a:ln w="12700">
            <a:solidFill>
              <a:srgbClr val="2E4237"/>
            </a:solidFill>
            <a:prstDash val="solid"/>
          </a:ln>
        </p:spPr>
      </p:sp>
      <p:sp>
        <p:nvSpPr>
          <p:cNvPr id="16" name="Shape 14"/>
          <p:cNvSpPr/>
          <p:nvPr/>
        </p:nvSpPr>
        <p:spPr>
          <a:xfrm>
            <a:off x="2347570" y="2563127"/>
            <a:ext cx="153721" cy="819716"/>
          </a:xfrm>
          <a:prstGeom prst="rect">
            <a:avLst/>
          </a:prstGeom>
          <a:solidFill>
            <a:srgbClr val="2E4237"/>
          </a:solidFill>
          <a:ln w="12700">
            <a:solidFill>
              <a:srgbClr val="2E4237"/>
            </a:solidFill>
            <a:prstDash val="solid"/>
          </a:ln>
        </p:spPr>
      </p:sp>
      <p:sp>
        <p:nvSpPr>
          <p:cNvPr id="17" name="Shape 15"/>
          <p:cNvSpPr/>
          <p:nvPr/>
        </p:nvSpPr>
        <p:spPr>
          <a:xfrm>
            <a:off x="2573630" y="2563127"/>
            <a:ext cx="153721" cy="592778"/>
          </a:xfrm>
          <a:prstGeom prst="rect">
            <a:avLst/>
          </a:prstGeom>
          <a:solidFill>
            <a:srgbClr val="2E4237"/>
          </a:solidFill>
          <a:ln w="12700">
            <a:solidFill>
              <a:srgbClr val="2E4237"/>
            </a:solidFill>
            <a:prstDash val="solid"/>
          </a:ln>
        </p:spPr>
      </p:sp>
      <p:sp>
        <p:nvSpPr>
          <p:cNvPr id="18" name="Shape 16"/>
          <p:cNvSpPr/>
          <p:nvPr/>
        </p:nvSpPr>
        <p:spPr>
          <a:xfrm>
            <a:off x="2799690" y="2563127"/>
            <a:ext cx="153721" cy="365831"/>
          </a:xfrm>
          <a:prstGeom prst="rect">
            <a:avLst/>
          </a:prstGeom>
          <a:solidFill>
            <a:srgbClr val="2E4237"/>
          </a:solidFill>
          <a:ln w="12700">
            <a:solidFill>
              <a:srgbClr val="2E4237"/>
            </a:solidFill>
            <a:prstDash val="solid"/>
          </a:ln>
        </p:spPr>
      </p:sp>
      <p:sp>
        <p:nvSpPr>
          <p:cNvPr id="19" name="Shape 17"/>
          <p:cNvSpPr/>
          <p:nvPr/>
        </p:nvSpPr>
        <p:spPr>
          <a:xfrm>
            <a:off x="3025750" y="2563127"/>
            <a:ext cx="153721" cy="138883"/>
          </a:xfrm>
          <a:prstGeom prst="rect">
            <a:avLst/>
          </a:prstGeom>
          <a:solidFill>
            <a:srgbClr val="2E4237"/>
          </a:solidFill>
          <a:ln w="12700">
            <a:solidFill>
              <a:srgbClr val="2E4237"/>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475062"/>
            <a:ext cx="153721" cy="88065"/>
          </a:xfrm>
          <a:prstGeom prst="rect">
            <a:avLst/>
          </a:prstGeom>
          <a:solidFill>
            <a:srgbClr val="C08D7C"/>
          </a:solidFill>
          <a:ln w="12700">
            <a:solidFill>
              <a:srgbClr val="C08D7C"/>
            </a:solidFill>
            <a:prstDash val="solid"/>
          </a:ln>
        </p:spPr>
      </p:sp>
      <p:sp>
        <p:nvSpPr>
          <p:cNvPr id="22" name="Shape 20"/>
          <p:cNvSpPr/>
          <p:nvPr/>
        </p:nvSpPr>
        <p:spPr>
          <a:xfrm>
            <a:off x="3477870" y="2323773"/>
            <a:ext cx="153721" cy="239354"/>
          </a:xfrm>
          <a:prstGeom prst="rect">
            <a:avLst/>
          </a:prstGeom>
          <a:solidFill>
            <a:srgbClr val="C08D7C"/>
          </a:solidFill>
          <a:ln w="12700">
            <a:solidFill>
              <a:srgbClr val="C08D7C"/>
            </a:solidFill>
            <a:prstDash val="solid"/>
          </a:ln>
        </p:spPr>
      </p:sp>
      <p:sp>
        <p:nvSpPr>
          <p:cNvPr id="23" name="Shape 21"/>
          <p:cNvSpPr/>
          <p:nvPr/>
        </p:nvSpPr>
        <p:spPr>
          <a:xfrm>
            <a:off x="3703930" y="2172475"/>
            <a:ext cx="153721" cy="390652"/>
          </a:xfrm>
          <a:prstGeom prst="rect">
            <a:avLst/>
          </a:prstGeom>
          <a:solidFill>
            <a:srgbClr val="C08D7C"/>
          </a:solidFill>
          <a:ln w="12700">
            <a:solidFill>
              <a:srgbClr val="C08D7C"/>
            </a:solidFill>
            <a:prstDash val="solid"/>
          </a:ln>
        </p:spPr>
      </p:sp>
      <p:sp>
        <p:nvSpPr>
          <p:cNvPr id="24" name="Shape 22"/>
          <p:cNvSpPr/>
          <p:nvPr/>
        </p:nvSpPr>
        <p:spPr>
          <a:xfrm>
            <a:off x="3929990" y="2021176"/>
            <a:ext cx="153721" cy="541951"/>
          </a:xfrm>
          <a:prstGeom prst="rect">
            <a:avLst/>
          </a:prstGeom>
          <a:solidFill>
            <a:srgbClr val="C08D7C"/>
          </a:solidFill>
          <a:ln w="12700">
            <a:solidFill>
              <a:srgbClr val="C08D7C"/>
            </a:solidFill>
            <a:prstDash val="solid"/>
          </a:ln>
        </p:spPr>
      </p:sp>
      <p:sp>
        <p:nvSpPr>
          <p:cNvPr id="25" name="Shape 23"/>
          <p:cNvSpPr/>
          <p:nvPr/>
        </p:nvSpPr>
        <p:spPr>
          <a:xfrm>
            <a:off x="4156050" y="1869878"/>
            <a:ext cx="153721" cy="693249"/>
          </a:xfrm>
          <a:prstGeom prst="rect">
            <a:avLst/>
          </a:prstGeom>
          <a:solidFill>
            <a:srgbClr val="C08D7C"/>
          </a:solidFill>
          <a:ln w="12700">
            <a:solidFill>
              <a:srgbClr val="C08D7C"/>
            </a:solidFill>
            <a:prstDash val="solid"/>
          </a:ln>
        </p:spPr>
      </p:sp>
      <p:sp>
        <p:nvSpPr>
          <p:cNvPr id="26" name="Shape 24"/>
          <p:cNvSpPr/>
          <p:nvPr/>
        </p:nvSpPr>
        <p:spPr>
          <a:xfrm>
            <a:off x="4382110" y="1840171"/>
            <a:ext cx="153721" cy="722956"/>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810454"/>
            <a:ext cx="153721" cy="752673"/>
          </a:xfrm>
          <a:prstGeom prst="rect">
            <a:avLst/>
          </a:prstGeom>
          <a:solidFill>
            <a:srgbClr val="C08D7C"/>
          </a:solidFill>
          <a:ln w="12700">
            <a:solidFill>
              <a:srgbClr val="C08D7C"/>
            </a:solidFill>
            <a:prstDash val="solid"/>
          </a:ln>
        </p:spPr>
      </p:sp>
      <p:sp>
        <p:nvSpPr>
          <p:cNvPr id="29" name="Shape 27"/>
          <p:cNvSpPr/>
          <p:nvPr/>
        </p:nvSpPr>
        <p:spPr>
          <a:xfrm>
            <a:off x="4834230" y="1780747"/>
            <a:ext cx="153721" cy="782380"/>
          </a:xfrm>
          <a:prstGeom prst="rect">
            <a:avLst/>
          </a:prstGeom>
          <a:solidFill>
            <a:srgbClr val="C08D7C"/>
          </a:solidFill>
          <a:ln w="12700">
            <a:solidFill>
              <a:srgbClr val="C08D7C"/>
            </a:solidFill>
            <a:prstDash val="solid"/>
          </a:ln>
        </p:spPr>
      </p:sp>
      <p:sp>
        <p:nvSpPr>
          <p:cNvPr id="30" name="Shape 28"/>
          <p:cNvSpPr/>
          <p:nvPr/>
        </p:nvSpPr>
        <p:spPr>
          <a:xfrm>
            <a:off x="5060290" y="1751040"/>
            <a:ext cx="153721" cy="812087"/>
          </a:xfrm>
          <a:prstGeom prst="rect">
            <a:avLst/>
          </a:prstGeom>
          <a:solidFill>
            <a:srgbClr val="C08D7C"/>
          </a:solidFill>
          <a:ln w="12700">
            <a:solidFill>
              <a:srgbClr val="C08D7C"/>
            </a:solidFill>
            <a:prstDash val="solid"/>
          </a:ln>
        </p:spPr>
      </p:sp>
      <p:sp>
        <p:nvSpPr>
          <p:cNvPr id="31" name="Shape 29"/>
          <p:cNvSpPr/>
          <p:nvPr/>
        </p:nvSpPr>
        <p:spPr>
          <a:xfrm>
            <a:off x="5286350" y="1721323"/>
            <a:ext cx="153721" cy="841804"/>
          </a:xfrm>
          <a:prstGeom prst="rect">
            <a:avLst/>
          </a:prstGeom>
          <a:solidFill>
            <a:srgbClr val="C08D7C"/>
          </a:solidFill>
          <a:ln w="12700">
            <a:solidFill>
              <a:srgbClr val="C08D7C"/>
            </a:solidFill>
            <a:prstDash val="solid"/>
          </a:ln>
        </p:spPr>
      </p:sp>
      <p:sp>
        <p:nvSpPr>
          <p:cNvPr id="32" name="Shape 30"/>
          <p:cNvSpPr/>
          <p:nvPr/>
        </p:nvSpPr>
        <p:spPr>
          <a:xfrm>
            <a:off x="5512410" y="1701515"/>
            <a:ext cx="153721" cy="861612"/>
          </a:xfrm>
          <a:prstGeom prst="rect">
            <a:avLst/>
          </a:prstGeom>
          <a:solidFill>
            <a:srgbClr val="C08D7C"/>
          </a:solidFill>
          <a:ln w="12700">
            <a:solidFill>
              <a:srgbClr val="C08D7C"/>
            </a:solidFill>
            <a:prstDash val="solid"/>
          </a:ln>
        </p:spPr>
      </p:sp>
      <p:sp>
        <p:nvSpPr>
          <p:cNvPr id="33" name="Shape 31"/>
          <p:cNvSpPr/>
          <p:nvPr/>
        </p:nvSpPr>
        <p:spPr>
          <a:xfrm>
            <a:off x="5738470" y="1681717"/>
            <a:ext cx="153721" cy="881410"/>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661909"/>
            <a:ext cx="153721" cy="901218"/>
          </a:xfrm>
          <a:prstGeom prst="rect">
            <a:avLst/>
          </a:prstGeom>
          <a:solidFill>
            <a:srgbClr val="C08D7C"/>
          </a:solidFill>
          <a:ln w="12700">
            <a:solidFill>
              <a:srgbClr val="C08D7C"/>
            </a:solidFill>
            <a:prstDash val="solid"/>
          </a:ln>
        </p:spPr>
      </p:sp>
      <p:sp>
        <p:nvSpPr>
          <p:cNvPr id="36" name="Shape 34"/>
          <p:cNvSpPr/>
          <p:nvPr/>
        </p:nvSpPr>
        <p:spPr>
          <a:xfrm>
            <a:off x="6190590" y="1642101"/>
            <a:ext cx="153721" cy="921026"/>
          </a:xfrm>
          <a:prstGeom prst="rect">
            <a:avLst/>
          </a:prstGeom>
          <a:solidFill>
            <a:srgbClr val="C08D7C"/>
          </a:solidFill>
          <a:ln w="12700">
            <a:solidFill>
              <a:srgbClr val="C08D7C"/>
            </a:solidFill>
            <a:prstDash val="solid"/>
          </a:ln>
        </p:spPr>
      </p:sp>
      <p:sp>
        <p:nvSpPr>
          <p:cNvPr id="37" name="Shape 35"/>
          <p:cNvSpPr/>
          <p:nvPr/>
        </p:nvSpPr>
        <p:spPr>
          <a:xfrm>
            <a:off x="6416650" y="1632192"/>
            <a:ext cx="153721" cy="930935"/>
          </a:xfrm>
          <a:prstGeom prst="rect">
            <a:avLst/>
          </a:prstGeom>
          <a:solidFill>
            <a:srgbClr val="C08D7C"/>
          </a:solidFill>
          <a:ln w="12700">
            <a:solidFill>
              <a:srgbClr val="C08D7C"/>
            </a:solidFill>
            <a:prstDash val="solid"/>
          </a:ln>
        </p:spPr>
      </p:sp>
      <p:sp>
        <p:nvSpPr>
          <p:cNvPr id="38" name="Shape 36"/>
          <p:cNvSpPr/>
          <p:nvPr/>
        </p:nvSpPr>
        <p:spPr>
          <a:xfrm>
            <a:off x="6642710" y="1612384"/>
            <a:ext cx="153721" cy="950743"/>
          </a:xfrm>
          <a:prstGeom prst="rect">
            <a:avLst/>
          </a:prstGeom>
          <a:solidFill>
            <a:srgbClr val="C08D7C"/>
          </a:solidFill>
          <a:ln w="12700">
            <a:solidFill>
              <a:srgbClr val="C08D7C"/>
            </a:solidFill>
            <a:prstDash val="solid"/>
          </a:ln>
        </p:spPr>
      </p:sp>
      <p:sp>
        <p:nvSpPr>
          <p:cNvPr id="39" name="Shape 37"/>
          <p:cNvSpPr/>
          <p:nvPr/>
        </p:nvSpPr>
        <p:spPr>
          <a:xfrm>
            <a:off x="6868770" y="1602485"/>
            <a:ext cx="153721" cy="960642"/>
          </a:xfrm>
          <a:prstGeom prst="rect">
            <a:avLst/>
          </a:prstGeom>
          <a:solidFill>
            <a:srgbClr val="C08D7C"/>
          </a:solidFill>
          <a:ln w="12700">
            <a:solidFill>
              <a:srgbClr val="C08D7C"/>
            </a:solidFill>
            <a:prstDash val="solid"/>
          </a:ln>
        </p:spPr>
      </p:sp>
      <p:sp>
        <p:nvSpPr>
          <p:cNvPr id="40" name="Shape 38"/>
          <p:cNvSpPr/>
          <p:nvPr/>
        </p:nvSpPr>
        <p:spPr>
          <a:xfrm>
            <a:off x="7094830" y="1592576"/>
            <a:ext cx="153721" cy="970551"/>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2677"/>
            <a:ext cx="153721" cy="980450"/>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990359"/>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990359"/>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990359"/>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990359"/>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990359"/>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$100,346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$-140,543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-$774,223 at month 14, against a $1,146,000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$517,177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-$115,171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$383,246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(5,800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-$31,900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-$135,000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-$28,000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and compliance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-$282,900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$100,346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19%</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$-0.08M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$372,367</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$275,937</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$-6,963</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-0.14x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$1.20M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$517,177</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$383,246</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$100,346</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2.00x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$2.49M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$661,986</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$490,554</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$207,654</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4.14x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$1.5M private against a $3.5M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$5.0M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$1,500,000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30%</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$3,500,000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5,800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2.00x.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$5.0M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$774,223 at month 14, not to a round number.</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(5,800 SF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$182,000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$430,000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$1,146,000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$5,000,000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$1,500,000  (30%)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$27,708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$50,141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$1,146,000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-$1,042,606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$249,372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-4.18x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$770,884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$467,094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1.65x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$1,172,038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$601,692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1.95x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$1,204,146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$601,692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2.00x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2.00x at 9.5%   ·   1.93x at 10.5%   ·   1.86x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$1,146,000 reserve inside use of funds is sized against a modeled cash trough of $774,223 at month 14.</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1.65x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2.00x at 9.5%, 1.93x at 10.5%, 1.86x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Hormone, peptide,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43200"/>
                <a:gridCol w="5394960"/>
              </a:tblGrid>
              <a:tr h="36576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Risk</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Mitigation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fills slower than modeled.</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 redeem more than their fees cover.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key clinical seat turns over during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club layer, recovery floor and IV lounge run on materially less scarce staffing than the injectable and physician-led lines, so a temporary gap narrows the offering without closing the building. Clinical compensation carries retention terms through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Rates move against us before close.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national brand opens nearby.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defensible asset is the licensed medical practice, not the sauna. A recovery studio cannot add injectables, hormones and physician oversight without becoming a medical practice.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Wet-area construction overruns.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Nobody has built the room for it.</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Ample · $1.5M private case  ·  $5.0M project  ·  5,800 SF  ·  2.00x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 Investor and SBA Brief</dc:subject>
  <dc:creator>LK Wellness</dc:creator>
  <cp:lastModifiedBy>LK Wellness</cp:lastModifiedBy>
  <cp:revision>1</cp:revision>
  <dcterms:created xsi:type="dcterms:W3CDTF">2026-08-12T09:35:55Z</dcterms:created>
  <dcterms:modified xsi:type="dcterms:W3CDTF">2026-08-12T09:35:55Z</dcterms:modified>
</cp:coreProperties>
</file>
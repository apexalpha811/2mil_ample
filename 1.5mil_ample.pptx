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4,925 SF   ·   Est. 2026   ·   Ample · $1.5M private case, $4.75M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24 of 30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Services on the L&amp;K menu that require a physician, nurse practitioner or nurse. A recovery studio without a physician can offer 6.</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Others proved the format.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Only a licensed facility can deliver it.</a:t>
            </a:r>
            <a:endParaRPr lang="en-US" sz="1150" dirty="0"/>
          </a:p>
        </p:txBody>
      </p:sp>
      <p:sp>
        <p:nvSpPr>
          <p:cNvPr id="5" name="Shape 3"/>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6" name="Text 4"/>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7" name="Text 5"/>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a non-medical operator stops. No physician on site means no PRP, no IV therapy, no neuromodulators, no filler, no laser. Not features they skipped: the other side of a licensing threshold.</a:t>
            </a:r>
            <a:endParaRPr lang="en-US" sz="900" dirty="0"/>
          </a:p>
        </p:txBody>
      </p:sp>
      <p:sp>
        <p:nvSpPr>
          <p:cNvPr id="8" name="Shape 6"/>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9" name="Text 7"/>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10" name="Text 8"/>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the ladder was proven. Soho Friends is a published annual tier buying discounts and event invitations but no club access. What they lack is medicine.</a:t>
            </a:r>
            <a:endParaRPr lang="en-US" sz="900" dirty="0"/>
          </a:p>
        </p:txBody>
      </p:sp>
      <p:sp>
        <p:nvSpPr>
          <p:cNvPr id="11" name="Shape 9"/>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2" name="Text 10"/>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DIFFERENCE</a:t>
            </a:r>
            <a:endParaRPr lang="en-US" sz="850" dirty="0"/>
          </a:p>
        </p:txBody>
      </p:sp>
      <p:sp>
        <p:nvSpPr>
          <p:cNvPr id="13" name="Text 11"/>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L&amp;K is not a practice built around a doctor. It is the facility a doctor needs.</a:t>
            </a:r>
            <a:endParaRPr lang="en-US" sz="1450" dirty="0"/>
          </a:p>
        </p:txBody>
      </p:sp>
      <p:sp>
        <p:nvSpPr>
          <p:cNvPr id="14" name="Text 12"/>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The rooms, the diagnostics, the infusion suite, the operating suite, the staff and the accreditation, already standing. Physicians practice here. Investors own the building they practice in, which is why the surgical lines bill a facility fee while the surgeon bills their own patients directly.</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600200"/>
          </a:xfrm>
          <a:prstGeom prst="roundRect">
            <a:avLst>
              <a:gd name="adj" fmla="val 3429"/>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291840"/>
            <a:ext cx="7735824" cy="274320"/>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02736"/>
            <a:ext cx="7735824" cy="932688"/>
          </a:xfrm>
          <a:prstGeom prst="rect">
            <a:avLst/>
          </a:prstGeom>
          <a:noFill/>
          <a:ln/>
        </p:spPr>
        <p:txBody>
          <a:bodyPr wrap="square" rtlCol="0" anchor="t"/>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OFFERING</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Five verbs, not a billing menu.</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information architecture borrows from how a health club organizes itself rather than how a clinic does. Patients do not shop by billing code; they arrive wanting to feel a specific way.</a:t>
            </a:r>
            <a:endParaRPr lang="en-US" sz="1150" dirty="0"/>
          </a:p>
        </p:txBody>
      </p:sp>
      <p:sp>
        <p:nvSpPr>
          <p:cNvPr id="5" name="Shape 3"/>
          <p:cNvSpPr/>
          <p:nvPr/>
        </p:nvSpPr>
        <p:spPr>
          <a:xfrm>
            <a:off x="502920" y="1965960"/>
            <a:ext cx="1525219" cy="2286000"/>
          </a:xfrm>
          <a:prstGeom prst="roundRect">
            <a:avLst>
              <a:gd name="adj" fmla="val 3597"/>
            </a:avLst>
          </a:prstGeom>
          <a:solidFill>
            <a:srgbClr val="16241C"/>
          </a:solidFill>
          <a:ln w="12700">
            <a:solidFill>
              <a:srgbClr val="2E4237"/>
            </a:solidFill>
            <a:prstDash val="solid"/>
          </a:ln>
        </p:spPr>
      </p:sp>
      <p:sp>
        <p:nvSpPr>
          <p:cNvPr id="6" name="Text 4"/>
          <p:cNvSpPr/>
          <p:nvPr/>
        </p:nvSpPr>
        <p:spPr>
          <a:xfrm>
            <a:off x="621792"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RESTORE</a:t>
            </a:r>
            <a:endParaRPr lang="en-US" sz="750" dirty="0"/>
          </a:p>
        </p:txBody>
      </p:sp>
      <p:sp>
        <p:nvSpPr>
          <p:cNvPr id="7" name="Text 5"/>
          <p:cNvSpPr/>
          <p:nvPr/>
        </p:nvSpPr>
        <p:spPr>
          <a:xfrm>
            <a:off x="621792"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Regenerative</a:t>
            </a:r>
            <a:endParaRPr lang="en-US" sz="1200" dirty="0"/>
          </a:p>
        </p:txBody>
      </p:sp>
      <p:sp>
        <p:nvSpPr>
          <p:cNvPr id="8" name="Text 6"/>
          <p:cNvSpPr/>
          <p:nvPr/>
        </p:nvSpPr>
        <p:spPr>
          <a:xfrm>
            <a:off x="621792"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Six PRP protocols, therapeutic medications, a ten-drip infusion menu and NAD+ by dose.</a:t>
            </a:r>
            <a:endParaRPr lang="en-US" sz="800" dirty="0"/>
          </a:p>
        </p:txBody>
      </p:sp>
      <p:sp>
        <p:nvSpPr>
          <p:cNvPr id="9" name="Shape 7"/>
          <p:cNvSpPr/>
          <p:nvPr/>
        </p:nvSpPr>
        <p:spPr>
          <a:xfrm>
            <a:off x="2156155" y="1965960"/>
            <a:ext cx="1525219" cy="2286000"/>
          </a:xfrm>
          <a:prstGeom prst="roundRect">
            <a:avLst>
              <a:gd name="adj" fmla="val 3597"/>
            </a:avLst>
          </a:prstGeom>
          <a:solidFill>
            <a:srgbClr val="16241C"/>
          </a:solidFill>
          <a:ln w="12700">
            <a:solidFill>
              <a:srgbClr val="2E4237"/>
            </a:solidFill>
            <a:prstDash val="solid"/>
          </a:ln>
        </p:spPr>
      </p:sp>
      <p:sp>
        <p:nvSpPr>
          <p:cNvPr id="10" name="Text 8"/>
          <p:cNvSpPr/>
          <p:nvPr/>
        </p:nvSpPr>
        <p:spPr>
          <a:xfrm>
            <a:off x="2275027"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RENEW</a:t>
            </a:r>
            <a:endParaRPr lang="en-US" sz="750" dirty="0"/>
          </a:p>
        </p:txBody>
      </p:sp>
      <p:sp>
        <p:nvSpPr>
          <p:cNvPr id="11" name="Text 9"/>
          <p:cNvSpPr/>
          <p:nvPr/>
        </p:nvSpPr>
        <p:spPr>
          <a:xfrm>
            <a:off x="2275027"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Aesthetics</a:t>
            </a:r>
            <a:endParaRPr lang="en-US" sz="1200" dirty="0"/>
          </a:p>
        </p:txBody>
      </p:sp>
      <p:sp>
        <p:nvSpPr>
          <p:cNvPr id="12" name="Text 10"/>
          <p:cNvSpPr/>
          <p:nvPr/>
        </p:nvSpPr>
        <p:spPr>
          <a:xfrm>
            <a:off x="2275027"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Neuromodulators and filler, RF microneedling, laser resurfacing.</a:t>
            </a:r>
            <a:endParaRPr lang="en-US" sz="800" dirty="0"/>
          </a:p>
        </p:txBody>
      </p:sp>
      <p:sp>
        <p:nvSpPr>
          <p:cNvPr id="13" name="Shape 11"/>
          <p:cNvSpPr/>
          <p:nvPr/>
        </p:nvSpPr>
        <p:spPr>
          <a:xfrm>
            <a:off x="3809390" y="1965960"/>
            <a:ext cx="1525219" cy="2286000"/>
          </a:xfrm>
          <a:prstGeom prst="roundRect">
            <a:avLst>
              <a:gd name="adj" fmla="val 3597"/>
            </a:avLst>
          </a:prstGeom>
          <a:solidFill>
            <a:srgbClr val="16241C"/>
          </a:solidFill>
          <a:ln w="12700">
            <a:solidFill>
              <a:srgbClr val="2E4237"/>
            </a:solidFill>
            <a:prstDash val="solid"/>
          </a:ln>
        </p:spPr>
      </p:sp>
      <p:sp>
        <p:nvSpPr>
          <p:cNvPr id="14" name="Text 12"/>
          <p:cNvSpPr/>
          <p:nvPr/>
        </p:nvSpPr>
        <p:spPr>
          <a:xfrm>
            <a:off x="3928262"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RECOVER</a:t>
            </a:r>
            <a:endParaRPr lang="en-US" sz="750" dirty="0"/>
          </a:p>
        </p:txBody>
      </p:sp>
      <p:sp>
        <p:nvSpPr>
          <p:cNvPr id="15" name="Text 13"/>
          <p:cNvSpPr/>
          <p:nvPr/>
        </p:nvSpPr>
        <p:spPr>
          <a:xfrm>
            <a:off x="3928262"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Recovery</a:t>
            </a:r>
            <a:endParaRPr lang="en-US" sz="1200" dirty="0"/>
          </a:p>
        </p:txBody>
      </p:sp>
      <p:sp>
        <p:nvSpPr>
          <p:cNvPr id="16" name="Text 14"/>
          <p:cNvSpPr/>
          <p:nvPr/>
        </p:nvSpPr>
        <p:spPr>
          <a:xfrm>
            <a:off x="3928262"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Hyperbaric oxygen, Ammortal chambers, robotic massage, compression, red light.</a:t>
            </a:r>
            <a:endParaRPr lang="en-US" sz="800" dirty="0"/>
          </a:p>
        </p:txBody>
      </p:sp>
      <p:sp>
        <p:nvSpPr>
          <p:cNvPr id="17" name="Shape 15"/>
          <p:cNvSpPr/>
          <p:nvPr/>
        </p:nvSpPr>
        <p:spPr>
          <a:xfrm>
            <a:off x="5462626" y="1965960"/>
            <a:ext cx="1525219" cy="2286000"/>
          </a:xfrm>
          <a:prstGeom prst="roundRect">
            <a:avLst>
              <a:gd name="adj" fmla="val 3597"/>
            </a:avLst>
          </a:prstGeom>
          <a:solidFill>
            <a:srgbClr val="16241C"/>
          </a:solidFill>
          <a:ln w="12700">
            <a:solidFill>
              <a:srgbClr val="2E4237"/>
            </a:solidFill>
            <a:prstDash val="solid"/>
          </a:ln>
        </p:spPr>
      </p:sp>
      <p:sp>
        <p:nvSpPr>
          <p:cNvPr id="18" name="Text 16"/>
          <p:cNvSpPr/>
          <p:nvPr/>
        </p:nvSpPr>
        <p:spPr>
          <a:xfrm>
            <a:off x="5581498"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RESET</a:t>
            </a:r>
            <a:endParaRPr lang="en-US" sz="750" dirty="0"/>
          </a:p>
        </p:txBody>
      </p:sp>
      <p:sp>
        <p:nvSpPr>
          <p:cNvPr id="19" name="Text 17"/>
          <p:cNvSpPr/>
          <p:nvPr/>
        </p:nvSpPr>
        <p:spPr>
          <a:xfrm>
            <a:off x="5581498"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Diagnostics</a:t>
            </a:r>
            <a:endParaRPr lang="en-US" sz="1200" dirty="0"/>
          </a:p>
        </p:txBody>
      </p:sp>
      <p:sp>
        <p:nvSpPr>
          <p:cNvPr id="20" name="Text 18"/>
          <p:cNvSpPr/>
          <p:nvPr/>
        </p:nvSpPr>
        <p:spPr>
          <a:xfrm>
            <a:off x="5581498"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Advanced biometrics, DEXA, DUTCH, DNA analysis. The baseline everything else is measured against.</a:t>
            </a:r>
            <a:endParaRPr lang="en-US" sz="800" dirty="0"/>
          </a:p>
        </p:txBody>
      </p:sp>
      <p:sp>
        <p:nvSpPr>
          <p:cNvPr id="21" name="Shape 19"/>
          <p:cNvSpPr/>
          <p:nvPr/>
        </p:nvSpPr>
        <p:spPr>
          <a:xfrm>
            <a:off x="7115861" y="1965960"/>
            <a:ext cx="1525219" cy="2286000"/>
          </a:xfrm>
          <a:prstGeom prst="roundRect">
            <a:avLst>
              <a:gd name="adj" fmla="val 3597"/>
            </a:avLst>
          </a:prstGeom>
          <a:solidFill>
            <a:srgbClr val="16241C"/>
          </a:solidFill>
          <a:ln w="12700">
            <a:solidFill>
              <a:srgbClr val="2E4237"/>
            </a:solidFill>
            <a:prstDash val="solid"/>
          </a:ln>
        </p:spPr>
      </p:sp>
      <p:sp>
        <p:nvSpPr>
          <p:cNvPr id="22" name="Text 20"/>
          <p:cNvSpPr/>
          <p:nvPr/>
        </p:nvSpPr>
        <p:spPr>
          <a:xfrm>
            <a:off x="7234733"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RECONNECT</a:t>
            </a:r>
            <a:endParaRPr lang="en-US" sz="750" dirty="0"/>
          </a:p>
        </p:txBody>
      </p:sp>
      <p:sp>
        <p:nvSpPr>
          <p:cNvPr id="23" name="Text 21"/>
          <p:cNvSpPr/>
          <p:nvPr/>
        </p:nvSpPr>
        <p:spPr>
          <a:xfrm>
            <a:off x="7234733"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The Club</a:t>
            </a:r>
            <a:endParaRPr lang="en-US" sz="1200" dirty="0"/>
          </a:p>
        </p:txBody>
      </p:sp>
      <p:sp>
        <p:nvSpPr>
          <p:cNvPr id="24" name="Text 22"/>
          <p:cNvSpPr/>
          <p:nvPr/>
        </p:nvSpPr>
        <p:spPr>
          <a:xfrm>
            <a:off x="7234733"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contrast suite, the Lounge, member events, and guest privileges. The reason your membership becomes part of your routine, not just your recovery.</a:t>
            </a:r>
            <a:endParaRPr lang="en-US" sz="800" dirty="0"/>
          </a:p>
        </p:txBody>
      </p:sp>
      <p:sp>
        <p:nvSpPr>
          <p:cNvPr id="25" name="Text 2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26" name="Text 2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list price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275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900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350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Therapeutic medications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40 members · capped</a:t>
            </a:r>
            <a:endParaRPr lang="en-US" sz="800" dirty="0"/>
          </a:p>
        </p:txBody>
      </p:sp>
      <p:sp>
        <p:nvSpPr>
          <p:cNvPr id="28" name="Text 26"/>
          <p:cNvSpPr/>
          <p:nvPr/>
        </p:nvSpPr>
        <p:spPr>
          <a:xfrm>
            <a:off x="502920" y="4352544"/>
            <a:ext cx="8138160" cy="402336"/>
          </a:xfrm>
          <a:prstGeom prst="rect">
            <a:avLst/>
          </a:prstGeom>
          <a:noFill/>
          <a:ln/>
        </p:spPr>
        <p:txBody>
          <a:bodyPr wrap="square" rtlCol="0" anchor="t"/>
          <a:lstStyle/>
          <a:p>
            <a:pPr indent="0" marL="0">
              <a:lnSpc>
                <a:spcPct val="115000"/>
              </a:lnSpc>
              <a:buNone/>
            </a:pPr>
            <a:r>
              <a:rPr lang="en-US" sz="750" dirty="0">
                <a:solidFill>
                  <a:srgbClr val="6E6A62"/>
                </a:solidFill>
                <a:latin typeface="Calibri" pitchFamily="34" charset="0"/>
                <a:ea typeface="Calibri" pitchFamily="34" charset="-122"/>
                <a:cs typeface="Calibri" pitchFamily="34" charset="-120"/>
              </a:rPr>
              <a:t>A three-month initial commitment followed by month-to-month billing. Credits roll over while membership remains active and expire upon cancellation. Freezes with seven days’ notice. Tier changes available after the initial commitment.</a:t>
            </a:r>
            <a:endParaRPr lang="en-US" sz="7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HOW THE LADDER FILLS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open clinic is the top of the funnel.</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Because anyone can book a procedure without joining, every non-member treatment is a paid introduction. The conversion path runs in one direction and each step is cheap to take.</a:t>
            </a:r>
            <a:endParaRPr lang="en-US" sz="1150" dirty="0"/>
          </a:p>
        </p:txBody>
      </p:sp>
      <p:sp>
        <p:nvSpPr>
          <p:cNvPr id="5" name="Shape 3"/>
          <p:cNvSpPr/>
          <p:nvPr/>
        </p:nvSpPr>
        <p:spPr>
          <a:xfrm>
            <a:off x="502920" y="2103120"/>
            <a:ext cx="1924812" cy="2103120"/>
          </a:xfrm>
          <a:prstGeom prst="roundRect">
            <a:avLst>
              <a:gd name="adj" fmla="val 2850"/>
            </a:avLst>
          </a:prstGeom>
          <a:solidFill>
            <a:srgbClr val="16241C"/>
          </a:solidFill>
          <a:ln w="12700">
            <a:solidFill>
              <a:srgbClr val="2E4237"/>
            </a:solidFill>
            <a:prstDash val="solid"/>
          </a:ln>
        </p:spPr>
      </p:sp>
      <p:sp>
        <p:nvSpPr>
          <p:cNvPr id="6" name="Text 4"/>
          <p:cNvSpPr/>
          <p:nvPr/>
        </p:nvSpPr>
        <p:spPr>
          <a:xfrm>
            <a:off x="630936" y="2231136"/>
            <a:ext cx="1668780" cy="182880"/>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STEP ONE</a:t>
            </a:r>
            <a:endParaRPr lang="en-US" sz="750" dirty="0"/>
          </a:p>
        </p:txBody>
      </p:sp>
      <p:sp>
        <p:nvSpPr>
          <p:cNvPr id="7" name="Text 5"/>
          <p:cNvSpPr/>
          <p:nvPr/>
        </p:nvSpPr>
        <p:spPr>
          <a:xfrm>
            <a:off x="630936" y="2432304"/>
            <a:ext cx="1668780" cy="457200"/>
          </a:xfrm>
          <a:prstGeom prst="rect">
            <a:avLst/>
          </a:prstGeom>
          <a:noFill/>
          <a:ln/>
        </p:spPr>
        <p:txBody>
          <a:bodyPr wrap="square" rtlCol="0" anchor="t"/>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Walks in</a:t>
            </a:r>
            <a:endParaRPr lang="en-US" sz="1300" dirty="0"/>
          </a:p>
        </p:txBody>
      </p:sp>
      <p:sp>
        <p:nvSpPr>
          <p:cNvPr id="8" name="Text 6"/>
          <p:cNvSpPr/>
          <p:nvPr/>
        </p:nvSpPr>
        <p:spPr>
          <a:xfrm>
            <a:off x="630936" y="2889504"/>
            <a:ext cx="1668780" cy="118872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Books a procedure or buys a day pass. Pays list price. Owes nothing further.</a:t>
            </a:r>
            <a:endParaRPr lang="en-US" sz="850" dirty="0"/>
          </a:p>
        </p:txBody>
      </p:sp>
      <p:sp>
        <p:nvSpPr>
          <p:cNvPr id="9" name="Shape 7"/>
          <p:cNvSpPr/>
          <p:nvPr/>
        </p:nvSpPr>
        <p:spPr>
          <a:xfrm>
            <a:off x="2574036" y="2103120"/>
            <a:ext cx="1924812" cy="2103120"/>
          </a:xfrm>
          <a:prstGeom prst="roundRect">
            <a:avLst>
              <a:gd name="adj" fmla="val 2850"/>
            </a:avLst>
          </a:prstGeom>
          <a:solidFill>
            <a:srgbClr val="16241C"/>
          </a:solidFill>
          <a:ln w="12700">
            <a:solidFill>
              <a:srgbClr val="2E4237"/>
            </a:solidFill>
            <a:prstDash val="solid"/>
          </a:ln>
        </p:spPr>
      </p:sp>
      <p:sp>
        <p:nvSpPr>
          <p:cNvPr id="10" name="Text 8"/>
          <p:cNvSpPr/>
          <p:nvPr/>
        </p:nvSpPr>
        <p:spPr>
          <a:xfrm>
            <a:off x="2702052" y="2231136"/>
            <a:ext cx="1668780" cy="182880"/>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STEP TWO</a:t>
            </a:r>
            <a:endParaRPr lang="en-US" sz="750" dirty="0"/>
          </a:p>
        </p:txBody>
      </p:sp>
      <p:sp>
        <p:nvSpPr>
          <p:cNvPr id="11" name="Text 9"/>
          <p:cNvSpPr/>
          <p:nvPr/>
        </p:nvSpPr>
        <p:spPr>
          <a:xfrm>
            <a:off x="2702052" y="2432304"/>
            <a:ext cx="1668780" cy="457200"/>
          </a:xfrm>
          <a:prstGeom prst="rect">
            <a:avLst/>
          </a:prstGeom>
          <a:noFill/>
          <a:ln/>
        </p:spPr>
        <p:txBody>
          <a:bodyPr wrap="square" rtlCol="0" anchor="t"/>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Becomes a Friend</a:t>
            </a:r>
            <a:endParaRPr lang="en-US" sz="1300" dirty="0"/>
          </a:p>
        </p:txBody>
      </p:sp>
      <p:sp>
        <p:nvSpPr>
          <p:cNvPr id="12" name="Text 10"/>
          <p:cNvSpPr/>
          <p:nvPr/>
        </p:nvSpPr>
        <p:spPr>
          <a:xfrm>
            <a:off x="2702052" y="2889504"/>
            <a:ext cx="1668780" cy="118872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$300 a year pays for itself on roughly two procedures. Low friction, high volume, and it captures the database.</a:t>
            </a:r>
            <a:endParaRPr lang="en-US" sz="850" dirty="0"/>
          </a:p>
        </p:txBody>
      </p:sp>
      <p:sp>
        <p:nvSpPr>
          <p:cNvPr id="13" name="Shape 11"/>
          <p:cNvSpPr/>
          <p:nvPr/>
        </p:nvSpPr>
        <p:spPr>
          <a:xfrm>
            <a:off x="4645152" y="2103120"/>
            <a:ext cx="1924812" cy="2103120"/>
          </a:xfrm>
          <a:prstGeom prst="roundRect">
            <a:avLst>
              <a:gd name="adj" fmla="val 2850"/>
            </a:avLst>
          </a:prstGeom>
          <a:solidFill>
            <a:srgbClr val="16241C"/>
          </a:solidFill>
          <a:ln w="12700">
            <a:solidFill>
              <a:srgbClr val="2E4237"/>
            </a:solidFill>
            <a:prstDash val="solid"/>
          </a:ln>
        </p:spPr>
      </p:sp>
      <p:sp>
        <p:nvSpPr>
          <p:cNvPr id="14" name="Text 12"/>
          <p:cNvSpPr/>
          <p:nvPr/>
        </p:nvSpPr>
        <p:spPr>
          <a:xfrm>
            <a:off x="4773168" y="2231136"/>
            <a:ext cx="1668780" cy="182880"/>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STEP THREE</a:t>
            </a:r>
            <a:endParaRPr lang="en-US" sz="750" dirty="0"/>
          </a:p>
        </p:txBody>
      </p:sp>
      <p:sp>
        <p:nvSpPr>
          <p:cNvPr id="15" name="Text 13"/>
          <p:cNvSpPr/>
          <p:nvPr/>
        </p:nvSpPr>
        <p:spPr>
          <a:xfrm>
            <a:off x="4773168" y="2432304"/>
            <a:ext cx="1668780" cy="457200"/>
          </a:xfrm>
          <a:prstGeom prst="rect">
            <a:avLst/>
          </a:prstGeom>
          <a:noFill/>
          <a:ln/>
        </p:spPr>
        <p:txBody>
          <a:bodyPr wrap="square" rtlCol="0" anchor="t"/>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Becomes a Resident</a:t>
            </a:r>
            <a:endParaRPr lang="en-US" sz="1300" dirty="0"/>
          </a:p>
        </p:txBody>
      </p:sp>
      <p:sp>
        <p:nvSpPr>
          <p:cNvPr id="16" name="Text 14"/>
          <p:cNvSpPr/>
          <p:nvPr/>
        </p:nvSpPr>
        <p:spPr>
          <a:xfrm>
            <a:off x="4773168" y="2889504"/>
            <a:ext cx="1668780" cy="118872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Wants the circuit and the room, not just the treatment. This is where recurring revenue begins.</a:t>
            </a:r>
            <a:endParaRPr lang="en-US" sz="850" dirty="0"/>
          </a:p>
        </p:txBody>
      </p:sp>
      <p:sp>
        <p:nvSpPr>
          <p:cNvPr id="17" name="Shape 15"/>
          <p:cNvSpPr/>
          <p:nvPr/>
        </p:nvSpPr>
        <p:spPr>
          <a:xfrm>
            <a:off x="6716268" y="2103120"/>
            <a:ext cx="1924812" cy="2103120"/>
          </a:xfrm>
          <a:prstGeom prst="roundRect">
            <a:avLst>
              <a:gd name="adj" fmla="val 2850"/>
            </a:avLst>
          </a:prstGeom>
          <a:solidFill>
            <a:srgbClr val="241C1A"/>
          </a:solidFill>
          <a:ln w="12700">
            <a:solidFill>
              <a:srgbClr val="C08D7C"/>
            </a:solidFill>
            <a:prstDash val="solid"/>
          </a:ln>
        </p:spPr>
      </p:sp>
      <p:sp>
        <p:nvSpPr>
          <p:cNvPr id="18" name="Text 16"/>
          <p:cNvSpPr/>
          <p:nvPr/>
        </p:nvSpPr>
        <p:spPr>
          <a:xfrm>
            <a:off x="6844284" y="2231136"/>
            <a:ext cx="1668780"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STEP FOUR</a:t>
            </a:r>
            <a:endParaRPr lang="en-US" sz="750" dirty="0"/>
          </a:p>
        </p:txBody>
      </p:sp>
      <p:sp>
        <p:nvSpPr>
          <p:cNvPr id="19" name="Text 17"/>
          <p:cNvSpPr/>
          <p:nvPr/>
        </p:nvSpPr>
        <p:spPr>
          <a:xfrm>
            <a:off x="6844284" y="2432304"/>
            <a:ext cx="1668780" cy="457200"/>
          </a:xfrm>
          <a:prstGeom prst="rect">
            <a:avLst/>
          </a:prstGeom>
          <a:noFill/>
          <a:ln/>
        </p:spPr>
        <p:txBody>
          <a:bodyPr wrap="square" rtlCol="0" anchor="t"/>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Becomes Longevity</a:t>
            </a:r>
            <a:endParaRPr lang="en-US" sz="1300" dirty="0"/>
          </a:p>
        </p:txBody>
      </p:sp>
      <p:sp>
        <p:nvSpPr>
          <p:cNvPr id="20" name="Text 18"/>
          <p:cNvSpPr/>
          <p:nvPr/>
        </p:nvSpPr>
        <p:spPr>
          <a:xfrm>
            <a:off x="6844284" y="2889504"/>
            <a:ext cx="1668780" cy="118872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Physician-delivered programming. Hard capped. The highest retention and the highest lifetime value in the building.</a:t>
            </a:r>
            <a:endParaRPr lang="en-US" sz="850" dirty="0"/>
          </a:p>
        </p:txBody>
      </p:sp>
      <p:sp>
        <p:nvSpPr>
          <p:cNvPr id="21" name="Text 19"/>
          <p:cNvSpPr/>
          <p:nvPr/>
        </p:nvSpPr>
        <p:spPr>
          <a:xfrm>
            <a:off x="2409444" y="3017520"/>
            <a:ext cx="182880" cy="274320"/>
          </a:xfrm>
          <a:prstGeom prst="rect">
            <a:avLst/>
          </a:prstGeom>
          <a:noFill/>
          <a:ln/>
        </p:spPr>
        <p:txBody>
          <a:bodyPr wrap="square" rtlCol="0" anchor="ctr"/>
          <a:lstStyle/>
          <a:p>
            <a:pPr algn="ctr" indent="0" marL="0">
              <a:buNone/>
            </a:pPr>
            <a:r>
              <a:rPr lang="en-US" sz="1300" dirty="0">
                <a:solidFill>
                  <a:srgbClr val="2E4237"/>
                </a:solidFill>
                <a:latin typeface="Century Gothic" pitchFamily="34" charset="0"/>
                <a:ea typeface="Century Gothic" pitchFamily="34" charset="-122"/>
                <a:cs typeface="Century Gothic" pitchFamily="34" charset="-120"/>
              </a:rPr>
              <a:t>›</a:t>
            </a:r>
            <a:endParaRPr lang="en-US" sz="1300" dirty="0"/>
          </a:p>
        </p:txBody>
      </p:sp>
      <p:sp>
        <p:nvSpPr>
          <p:cNvPr id="22" name="Text 20"/>
          <p:cNvSpPr/>
          <p:nvPr/>
        </p:nvSpPr>
        <p:spPr>
          <a:xfrm>
            <a:off x="4480560" y="3017520"/>
            <a:ext cx="182880" cy="274320"/>
          </a:xfrm>
          <a:prstGeom prst="rect">
            <a:avLst/>
          </a:prstGeom>
          <a:noFill/>
          <a:ln/>
        </p:spPr>
        <p:txBody>
          <a:bodyPr wrap="square" rtlCol="0" anchor="ctr"/>
          <a:lstStyle/>
          <a:p>
            <a:pPr algn="ctr" indent="0" marL="0">
              <a:buNone/>
            </a:pPr>
            <a:r>
              <a:rPr lang="en-US" sz="1300" dirty="0">
                <a:solidFill>
                  <a:srgbClr val="2E4237"/>
                </a:solidFill>
                <a:latin typeface="Century Gothic" pitchFamily="34" charset="0"/>
                <a:ea typeface="Century Gothic" pitchFamily="34" charset="-122"/>
                <a:cs typeface="Century Gothic" pitchFamily="34" charset="-120"/>
              </a:rPr>
              <a:t>›</a:t>
            </a:r>
            <a:endParaRPr lang="en-US" sz="1300" dirty="0"/>
          </a:p>
        </p:txBody>
      </p:sp>
      <p:sp>
        <p:nvSpPr>
          <p:cNvPr id="23" name="Text 21"/>
          <p:cNvSpPr/>
          <p:nvPr/>
        </p:nvSpPr>
        <p:spPr>
          <a:xfrm>
            <a:off x="6551676" y="3017520"/>
            <a:ext cx="182880" cy="274320"/>
          </a:xfrm>
          <a:prstGeom prst="rect">
            <a:avLst/>
          </a:prstGeom>
          <a:noFill/>
          <a:ln/>
        </p:spPr>
        <p:txBody>
          <a:bodyPr wrap="square" rtlCol="0" anchor="ctr"/>
          <a:lstStyle/>
          <a:p>
            <a:pPr algn="ctr" indent="0" marL="0">
              <a:buNone/>
            </a:pPr>
            <a:r>
              <a:rPr lang="en-US" sz="1300" dirty="0">
                <a:solidFill>
                  <a:srgbClr val="2E4237"/>
                </a:solidFill>
                <a:latin typeface="Century Gothic" pitchFamily="34" charset="0"/>
                <a:ea typeface="Century Gothic" pitchFamily="34" charset="-122"/>
                <a:cs typeface="Century Gothic" pitchFamily="34" charset="-120"/>
              </a:rPr>
              <a:t>›</a:t>
            </a:r>
            <a:endParaRPr lang="en-US" sz="1300" dirty="0"/>
          </a:p>
        </p:txBody>
      </p:sp>
      <p:sp>
        <p:nvSpPr>
          <p:cNvPr id="24" name="Text 2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25" name="Text 2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4,925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room (seated)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 light beds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imaging (GE iDXA densitometer)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 bathrooms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Admin offices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Kitchen and breakroom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Storage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Biohazard and linen closets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Circulation and grossing factor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4,925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4,925 square feet, and how it is paid for.</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754880" y="1645920"/>
          <a:ext cx="3520440" cy="914400"/>
        </p:xfrm>
        <a:graphic>
          <a:graphicData uri="http://schemas.openxmlformats.org/drawingml/2006/table">
            <a:tbl>
              <a:tblPr/>
              <a:tblGrid>
                <a:gridCol w="260604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Redlight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DEXA scan 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Shape 3"/>
          <p:cNvSpPr/>
          <p:nvPr/>
        </p:nvSpPr>
        <p:spPr>
          <a:xfrm>
            <a:off x="502920" y="3456432"/>
            <a:ext cx="8138160" cy="1024128"/>
          </a:xfrm>
          <a:prstGeom prst="roundRect">
            <a:avLst>
              <a:gd name="adj" fmla="val 5357"/>
            </a:avLst>
          </a:prstGeom>
          <a:solidFill>
            <a:srgbClr val="16241C"/>
          </a:solidFill>
          <a:ln w="12700">
            <a:solidFill>
              <a:srgbClr val="2E4237"/>
            </a:solidFill>
            <a:prstDash val="solid"/>
          </a:ln>
        </p:spPr>
      </p:sp>
      <p:sp>
        <p:nvSpPr>
          <p:cNvPr id="8" name="Text 4"/>
          <p:cNvSpPr/>
          <p:nvPr/>
        </p:nvSpPr>
        <p:spPr>
          <a:xfrm>
            <a:off x="649224" y="3566160"/>
            <a:ext cx="7845552"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9" name="Text 5"/>
          <p:cNvSpPr/>
          <p:nvPr/>
        </p:nvSpPr>
        <p:spPr>
          <a:xfrm>
            <a:off x="649224" y="3767328"/>
            <a:ext cx="7845552" cy="6400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Wet areas drive cost, plunges, saunas and steam carry a materially higher per-SF buildout than a dry medspa, which is why the lean case trims the contrast suite before it trims treatment rooms.</a:t>
            </a:r>
            <a:endParaRPr lang="en-US" sz="9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Enough capacity for what is sold.</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3986784"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4654296" y="2240280"/>
            <a:ext cx="3986784"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4800600"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83%</a:t>
            </a:r>
            <a:endParaRPr lang="en-US" sz="2000" dirty="0"/>
          </a:p>
        </p:txBody>
      </p:sp>
      <p:sp>
        <p:nvSpPr>
          <p:cNvPr id="10" name="Text 8"/>
          <p:cNvSpPr/>
          <p:nvPr/>
        </p:nvSpPr>
        <p:spPr>
          <a:xfrm>
            <a:off x="4800600"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419 procedures against 507 practical capacity, leaving 88 slots of headroom.</a:t>
            </a:r>
            <a:endParaRPr lang="en-US" sz="900" dirty="0"/>
          </a:p>
        </p:txBody>
      </p:sp>
      <p:sp>
        <p:nvSpPr>
          <p:cNvPr id="11" name="Text 9"/>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Silicon Beach, at its densest.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Playa Vista is a master-planned innovation district on the old Hughes Aircraft site, and it has become the centre of gravity for the Westside’s technology, media, advertising and creator economy. Google, YouTube and Meta campuses sit within a walk of one another. LAX is four miles south, the studios fifteen minutes north, and the district was designed to be walked rather than driven.</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market.  (US Census Bureau, via Point2Homes)</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4" name="Text 12"/>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5" name="Text 13"/>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(1 of 2).</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Prices are exact, not banded.</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$11,480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$13,776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$31,980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$10,125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$8,303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Hair &amp; Scalp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$32,835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$23,641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Face &amp; Aesthetic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$16,660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Scar &amp; Skin Repair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Soft Tissue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Joint &amp; Cartilage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Post-procedure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Basic Hydration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$7,029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Myers Cocktail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 Hangover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$8,466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Immunity / High-Dose 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$4,407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Subtotal, continued overleaf</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1,552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$247,496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$176,665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(2 of 2).</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Beauty / Glutathione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$9,405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Athletic Performance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$6,474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NAD+ 100mg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$5,347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NAD+ 250mg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$8,778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NAD+ 500mg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$14,157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 Shot: B12 / Lipo</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Therapeutic medications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(15-unit minimum)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$13,440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Filler (0.5 ml)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$30,940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$17,850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Plus Test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$6,949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list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672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$259,625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$183,654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list price, so redemption is netted out first.</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list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$507,121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-$30,210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$347,411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$598,036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10.</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3323338"/>
            <a:ext cx="8138160" cy="10973"/>
          </a:xfrm>
          <a:prstGeom prst="rect">
            <a:avLst/>
          </a:prstGeom>
          <a:solidFill>
            <a:srgbClr val="2E4237"/>
          </a:solidFill>
          <a:ln w="12700">
            <a:solidFill>
              <a:srgbClr val="2E4237"/>
            </a:solidFill>
            <a:prstDash val="solid"/>
          </a:ln>
        </p:spPr>
      </p:sp>
      <p:sp>
        <p:nvSpPr>
          <p:cNvPr id="7" name="Shape 5"/>
          <p:cNvSpPr/>
          <p:nvPr/>
        </p:nvSpPr>
        <p:spPr>
          <a:xfrm>
            <a:off x="539090" y="3323338"/>
            <a:ext cx="153721" cy="566013"/>
          </a:xfrm>
          <a:prstGeom prst="rect">
            <a:avLst/>
          </a:prstGeom>
          <a:solidFill>
            <a:srgbClr val="2E4237"/>
          </a:solidFill>
          <a:ln w="12700">
            <a:solidFill>
              <a:srgbClr val="2E4237"/>
            </a:solidFill>
            <a:prstDash val="solid"/>
          </a:ln>
        </p:spPr>
      </p:sp>
      <p:sp>
        <p:nvSpPr>
          <p:cNvPr id="8" name="Shape 6"/>
          <p:cNvSpPr/>
          <p:nvPr/>
        </p:nvSpPr>
        <p:spPr>
          <a:xfrm>
            <a:off x="765150" y="3323338"/>
            <a:ext cx="153721" cy="566013"/>
          </a:xfrm>
          <a:prstGeom prst="rect">
            <a:avLst/>
          </a:prstGeom>
          <a:solidFill>
            <a:srgbClr val="2E4237"/>
          </a:solidFill>
          <a:ln w="12700">
            <a:solidFill>
              <a:srgbClr val="2E4237"/>
            </a:solidFill>
            <a:prstDash val="solid"/>
          </a:ln>
        </p:spPr>
      </p:sp>
      <p:sp>
        <p:nvSpPr>
          <p:cNvPr id="9" name="Shape 7"/>
          <p:cNvSpPr/>
          <p:nvPr/>
        </p:nvSpPr>
        <p:spPr>
          <a:xfrm>
            <a:off x="991210" y="3323338"/>
            <a:ext cx="153721" cy="566013"/>
          </a:xfrm>
          <a:prstGeom prst="rect">
            <a:avLst/>
          </a:prstGeom>
          <a:solidFill>
            <a:srgbClr val="2E4237"/>
          </a:solidFill>
          <a:ln w="12700">
            <a:solidFill>
              <a:srgbClr val="2E4237"/>
            </a:solidFill>
            <a:prstDash val="solid"/>
          </a:ln>
        </p:spPr>
      </p:sp>
      <p:sp>
        <p:nvSpPr>
          <p:cNvPr id="10" name="Shape 8"/>
          <p:cNvSpPr/>
          <p:nvPr/>
        </p:nvSpPr>
        <p:spPr>
          <a:xfrm>
            <a:off x="1217270" y="3323338"/>
            <a:ext cx="153721" cy="566013"/>
          </a:xfrm>
          <a:prstGeom prst="rect">
            <a:avLst/>
          </a:prstGeom>
          <a:solidFill>
            <a:srgbClr val="2E4237"/>
          </a:solidFill>
          <a:ln w="12700">
            <a:solidFill>
              <a:srgbClr val="2E4237"/>
            </a:solidFill>
            <a:prstDash val="solid"/>
          </a:ln>
        </p:spPr>
      </p:sp>
      <p:sp>
        <p:nvSpPr>
          <p:cNvPr id="11" name="Shape 9"/>
          <p:cNvSpPr/>
          <p:nvPr/>
        </p:nvSpPr>
        <p:spPr>
          <a:xfrm>
            <a:off x="1443330" y="3323338"/>
            <a:ext cx="153721" cy="566013"/>
          </a:xfrm>
          <a:prstGeom prst="rect">
            <a:avLst/>
          </a:prstGeom>
          <a:solidFill>
            <a:srgbClr val="2E4237"/>
          </a:solidFill>
          <a:ln w="12700">
            <a:solidFill>
              <a:srgbClr val="2E4237"/>
            </a:solidFill>
            <a:prstDash val="solid"/>
          </a:ln>
        </p:spPr>
      </p:sp>
      <p:sp>
        <p:nvSpPr>
          <p:cNvPr id="12" name="Shape 10"/>
          <p:cNvSpPr/>
          <p:nvPr/>
        </p:nvSpPr>
        <p:spPr>
          <a:xfrm>
            <a:off x="1669390" y="3323338"/>
            <a:ext cx="153721" cy="566013"/>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3323338"/>
            <a:ext cx="153721" cy="626870"/>
          </a:xfrm>
          <a:prstGeom prst="rect">
            <a:avLst/>
          </a:prstGeom>
          <a:solidFill>
            <a:srgbClr val="2E4237"/>
          </a:solidFill>
          <a:ln w="12700">
            <a:solidFill>
              <a:srgbClr val="2E4237"/>
            </a:solidFill>
            <a:prstDash val="solid"/>
          </a:ln>
        </p:spPr>
      </p:sp>
      <p:sp>
        <p:nvSpPr>
          <p:cNvPr id="15" name="Shape 13"/>
          <p:cNvSpPr/>
          <p:nvPr/>
        </p:nvSpPr>
        <p:spPr>
          <a:xfrm>
            <a:off x="2121510" y="3323338"/>
            <a:ext cx="153721" cy="391128"/>
          </a:xfrm>
          <a:prstGeom prst="rect">
            <a:avLst/>
          </a:prstGeom>
          <a:solidFill>
            <a:srgbClr val="2E4237"/>
          </a:solidFill>
          <a:ln w="12700">
            <a:solidFill>
              <a:srgbClr val="2E4237"/>
            </a:solidFill>
            <a:prstDash val="solid"/>
          </a:ln>
        </p:spPr>
      </p:sp>
      <p:sp>
        <p:nvSpPr>
          <p:cNvPr id="16" name="Shape 14"/>
          <p:cNvSpPr/>
          <p:nvPr/>
        </p:nvSpPr>
        <p:spPr>
          <a:xfrm>
            <a:off x="2347570" y="3323338"/>
            <a:ext cx="153721" cy="121706"/>
          </a:xfrm>
          <a:prstGeom prst="rect">
            <a:avLst/>
          </a:prstGeom>
          <a:solidFill>
            <a:srgbClr val="2E4237"/>
          </a:solidFill>
          <a:ln w="12700">
            <a:solidFill>
              <a:srgbClr val="2E4237"/>
            </a:solidFill>
            <a:prstDash val="solid"/>
          </a:ln>
        </p:spPr>
      </p:sp>
      <p:sp>
        <p:nvSpPr>
          <p:cNvPr id="17" name="Shape 15"/>
          <p:cNvSpPr/>
          <p:nvPr/>
        </p:nvSpPr>
        <p:spPr>
          <a:xfrm>
            <a:off x="2573630" y="3242974"/>
            <a:ext cx="153721" cy="80364"/>
          </a:xfrm>
          <a:prstGeom prst="rect">
            <a:avLst/>
          </a:prstGeom>
          <a:solidFill>
            <a:srgbClr val="C08D7C"/>
          </a:solidFill>
          <a:ln w="12700">
            <a:solidFill>
              <a:srgbClr val="C08D7C"/>
            </a:solidFill>
            <a:prstDash val="solid"/>
          </a:ln>
        </p:spPr>
      </p:sp>
      <p:sp>
        <p:nvSpPr>
          <p:cNvPr id="18" name="Shape 16"/>
          <p:cNvSpPr/>
          <p:nvPr/>
        </p:nvSpPr>
        <p:spPr>
          <a:xfrm>
            <a:off x="2799690" y="3040912"/>
            <a:ext cx="153721" cy="282426"/>
          </a:xfrm>
          <a:prstGeom prst="rect">
            <a:avLst/>
          </a:prstGeom>
          <a:solidFill>
            <a:srgbClr val="C08D7C"/>
          </a:solidFill>
          <a:ln w="12700">
            <a:solidFill>
              <a:srgbClr val="C08D7C"/>
            </a:solidFill>
            <a:prstDash val="solid"/>
          </a:ln>
        </p:spPr>
      </p:sp>
      <p:sp>
        <p:nvSpPr>
          <p:cNvPr id="19" name="Shape 17"/>
          <p:cNvSpPr/>
          <p:nvPr/>
        </p:nvSpPr>
        <p:spPr>
          <a:xfrm>
            <a:off x="3025750" y="2838850"/>
            <a:ext cx="153721" cy="484488"/>
          </a:xfrm>
          <a:prstGeom prst="rect">
            <a:avLst/>
          </a:prstGeom>
          <a:solidFill>
            <a:srgbClr val="C08D7C"/>
          </a:solidFill>
          <a:ln w="12700">
            <a:solidFill>
              <a:srgbClr val="C08D7C"/>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636780"/>
            <a:ext cx="153721" cy="686559"/>
          </a:xfrm>
          <a:prstGeom prst="rect">
            <a:avLst/>
          </a:prstGeom>
          <a:solidFill>
            <a:srgbClr val="C08D7C"/>
          </a:solidFill>
          <a:ln w="12700">
            <a:solidFill>
              <a:srgbClr val="C08D7C"/>
            </a:solidFill>
            <a:prstDash val="solid"/>
          </a:ln>
        </p:spPr>
      </p:sp>
      <p:sp>
        <p:nvSpPr>
          <p:cNvPr id="22" name="Shape 20"/>
          <p:cNvSpPr/>
          <p:nvPr/>
        </p:nvSpPr>
        <p:spPr>
          <a:xfrm>
            <a:off x="3477870" y="2502069"/>
            <a:ext cx="153721" cy="821269"/>
          </a:xfrm>
          <a:prstGeom prst="rect">
            <a:avLst/>
          </a:prstGeom>
          <a:solidFill>
            <a:srgbClr val="C08D7C"/>
          </a:solidFill>
          <a:ln w="12700">
            <a:solidFill>
              <a:srgbClr val="C08D7C"/>
            </a:solidFill>
            <a:prstDash val="solid"/>
          </a:ln>
        </p:spPr>
      </p:sp>
      <p:sp>
        <p:nvSpPr>
          <p:cNvPr id="23" name="Shape 21"/>
          <p:cNvSpPr/>
          <p:nvPr/>
        </p:nvSpPr>
        <p:spPr>
          <a:xfrm>
            <a:off x="3703930" y="2367358"/>
            <a:ext cx="153721" cy="955980"/>
          </a:xfrm>
          <a:prstGeom prst="rect">
            <a:avLst/>
          </a:prstGeom>
          <a:solidFill>
            <a:srgbClr val="C08D7C"/>
          </a:solidFill>
          <a:ln w="12700">
            <a:solidFill>
              <a:srgbClr val="C08D7C"/>
            </a:solidFill>
            <a:prstDash val="solid"/>
          </a:ln>
        </p:spPr>
      </p:sp>
      <p:sp>
        <p:nvSpPr>
          <p:cNvPr id="24" name="Shape 22"/>
          <p:cNvSpPr/>
          <p:nvPr/>
        </p:nvSpPr>
        <p:spPr>
          <a:xfrm>
            <a:off x="3929990" y="2232648"/>
            <a:ext cx="153721" cy="1090691"/>
          </a:xfrm>
          <a:prstGeom prst="rect">
            <a:avLst/>
          </a:prstGeom>
          <a:solidFill>
            <a:srgbClr val="C08D7C"/>
          </a:solidFill>
          <a:ln w="12700">
            <a:solidFill>
              <a:srgbClr val="C08D7C"/>
            </a:solidFill>
            <a:prstDash val="solid"/>
          </a:ln>
        </p:spPr>
      </p:sp>
      <p:sp>
        <p:nvSpPr>
          <p:cNvPr id="25" name="Shape 23"/>
          <p:cNvSpPr/>
          <p:nvPr/>
        </p:nvSpPr>
        <p:spPr>
          <a:xfrm>
            <a:off x="4156050" y="2097937"/>
            <a:ext cx="153721" cy="1225402"/>
          </a:xfrm>
          <a:prstGeom prst="rect">
            <a:avLst/>
          </a:prstGeom>
          <a:solidFill>
            <a:srgbClr val="C08D7C"/>
          </a:solidFill>
          <a:ln w="12700">
            <a:solidFill>
              <a:srgbClr val="C08D7C"/>
            </a:solidFill>
            <a:prstDash val="solid"/>
          </a:ln>
        </p:spPr>
      </p:sp>
      <p:sp>
        <p:nvSpPr>
          <p:cNvPr id="26" name="Shape 24"/>
          <p:cNvSpPr/>
          <p:nvPr/>
        </p:nvSpPr>
        <p:spPr>
          <a:xfrm>
            <a:off x="4382110" y="2045420"/>
            <a:ext cx="153721" cy="1277918"/>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992903"/>
            <a:ext cx="153721" cy="1330435"/>
          </a:xfrm>
          <a:prstGeom prst="rect">
            <a:avLst/>
          </a:prstGeom>
          <a:solidFill>
            <a:srgbClr val="C08D7C"/>
          </a:solidFill>
          <a:ln w="12700">
            <a:solidFill>
              <a:srgbClr val="C08D7C"/>
            </a:solidFill>
            <a:prstDash val="solid"/>
          </a:ln>
        </p:spPr>
      </p:sp>
      <p:sp>
        <p:nvSpPr>
          <p:cNvPr id="29" name="Shape 27"/>
          <p:cNvSpPr/>
          <p:nvPr/>
        </p:nvSpPr>
        <p:spPr>
          <a:xfrm>
            <a:off x="4834230" y="1940386"/>
            <a:ext cx="153721" cy="1382952"/>
          </a:xfrm>
          <a:prstGeom prst="rect">
            <a:avLst/>
          </a:prstGeom>
          <a:solidFill>
            <a:srgbClr val="C08D7C"/>
          </a:solidFill>
          <a:ln w="12700">
            <a:solidFill>
              <a:srgbClr val="C08D7C"/>
            </a:solidFill>
            <a:prstDash val="solid"/>
          </a:ln>
        </p:spPr>
      </p:sp>
      <p:sp>
        <p:nvSpPr>
          <p:cNvPr id="30" name="Shape 28"/>
          <p:cNvSpPr/>
          <p:nvPr/>
        </p:nvSpPr>
        <p:spPr>
          <a:xfrm>
            <a:off x="5060290" y="1887869"/>
            <a:ext cx="153721" cy="1435469"/>
          </a:xfrm>
          <a:prstGeom prst="rect">
            <a:avLst/>
          </a:prstGeom>
          <a:solidFill>
            <a:srgbClr val="C08D7C"/>
          </a:solidFill>
          <a:ln w="12700">
            <a:solidFill>
              <a:srgbClr val="C08D7C"/>
            </a:solidFill>
            <a:prstDash val="solid"/>
          </a:ln>
        </p:spPr>
      </p:sp>
      <p:sp>
        <p:nvSpPr>
          <p:cNvPr id="31" name="Shape 29"/>
          <p:cNvSpPr/>
          <p:nvPr/>
        </p:nvSpPr>
        <p:spPr>
          <a:xfrm>
            <a:off x="5286350" y="1835352"/>
            <a:ext cx="153721" cy="1487986"/>
          </a:xfrm>
          <a:prstGeom prst="rect">
            <a:avLst/>
          </a:prstGeom>
          <a:solidFill>
            <a:srgbClr val="C08D7C"/>
          </a:solidFill>
          <a:ln w="12700">
            <a:solidFill>
              <a:srgbClr val="C08D7C"/>
            </a:solidFill>
            <a:prstDash val="solid"/>
          </a:ln>
        </p:spPr>
      </p:sp>
      <p:sp>
        <p:nvSpPr>
          <p:cNvPr id="32" name="Shape 30"/>
          <p:cNvSpPr/>
          <p:nvPr/>
        </p:nvSpPr>
        <p:spPr>
          <a:xfrm>
            <a:off x="5512410" y="1800341"/>
            <a:ext cx="153721" cy="1522997"/>
          </a:xfrm>
          <a:prstGeom prst="rect">
            <a:avLst/>
          </a:prstGeom>
          <a:solidFill>
            <a:srgbClr val="C08D7C"/>
          </a:solidFill>
          <a:ln w="12700">
            <a:solidFill>
              <a:srgbClr val="C08D7C"/>
            </a:solidFill>
            <a:prstDash val="solid"/>
          </a:ln>
        </p:spPr>
      </p:sp>
      <p:sp>
        <p:nvSpPr>
          <p:cNvPr id="33" name="Shape 31"/>
          <p:cNvSpPr/>
          <p:nvPr/>
        </p:nvSpPr>
        <p:spPr>
          <a:xfrm>
            <a:off x="5738470" y="1765330"/>
            <a:ext cx="153721" cy="1558009"/>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730319"/>
            <a:ext cx="153721" cy="1593020"/>
          </a:xfrm>
          <a:prstGeom prst="rect">
            <a:avLst/>
          </a:prstGeom>
          <a:solidFill>
            <a:srgbClr val="C08D7C"/>
          </a:solidFill>
          <a:ln w="12700">
            <a:solidFill>
              <a:srgbClr val="C08D7C"/>
            </a:solidFill>
            <a:prstDash val="solid"/>
          </a:ln>
        </p:spPr>
      </p:sp>
      <p:sp>
        <p:nvSpPr>
          <p:cNvPr id="36" name="Shape 34"/>
          <p:cNvSpPr/>
          <p:nvPr/>
        </p:nvSpPr>
        <p:spPr>
          <a:xfrm>
            <a:off x="6190590" y="1695307"/>
            <a:ext cx="153721" cy="1628031"/>
          </a:xfrm>
          <a:prstGeom prst="rect">
            <a:avLst/>
          </a:prstGeom>
          <a:solidFill>
            <a:srgbClr val="C08D7C"/>
          </a:solidFill>
          <a:ln w="12700">
            <a:solidFill>
              <a:srgbClr val="C08D7C"/>
            </a:solidFill>
            <a:prstDash val="solid"/>
          </a:ln>
        </p:spPr>
      </p:sp>
      <p:sp>
        <p:nvSpPr>
          <p:cNvPr id="37" name="Shape 35"/>
          <p:cNvSpPr/>
          <p:nvPr/>
        </p:nvSpPr>
        <p:spPr>
          <a:xfrm>
            <a:off x="6416650" y="1677802"/>
            <a:ext cx="153721" cy="1645537"/>
          </a:xfrm>
          <a:prstGeom prst="rect">
            <a:avLst/>
          </a:prstGeom>
          <a:solidFill>
            <a:srgbClr val="C08D7C"/>
          </a:solidFill>
          <a:ln w="12700">
            <a:solidFill>
              <a:srgbClr val="C08D7C"/>
            </a:solidFill>
            <a:prstDash val="solid"/>
          </a:ln>
        </p:spPr>
      </p:sp>
      <p:sp>
        <p:nvSpPr>
          <p:cNvPr id="38" name="Shape 36"/>
          <p:cNvSpPr/>
          <p:nvPr/>
        </p:nvSpPr>
        <p:spPr>
          <a:xfrm>
            <a:off x="6642710" y="1642791"/>
            <a:ext cx="153721" cy="1680548"/>
          </a:xfrm>
          <a:prstGeom prst="rect">
            <a:avLst/>
          </a:prstGeom>
          <a:solidFill>
            <a:srgbClr val="C08D7C"/>
          </a:solidFill>
          <a:ln w="12700">
            <a:solidFill>
              <a:srgbClr val="C08D7C"/>
            </a:solidFill>
            <a:prstDash val="solid"/>
          </a:ln>
        </p:spPr>
      </p:sp>
      <p:sp>
        <p:nvSpPr>
          <p:cNvPr id="39" name="Shape 37"/>
          <p:cNvSpPr/>
          <p:nvPr/>
        </p:nvSpPr>
        <p:spPr>
          <a:xfrm>
            <a:off x="6868770" y="1625285"/>
            <a:ext cx="153721" cy="1698054"/>
          </a:xfrm>
          <a:prstGeom prst="rect">
            <a:avLst/>
          </a:prstGeom>
          <a:solidFill>
            <a:srgbClr val="C08D7C"/>
          </a:solidFill>
          <a:ln w="12700">
            <a:solidFill>
              <a:srgbClr val="C08D7C"/>
            </a:solidFill>
            <a:prstDash val="solid"/>
          </a:ln>
        </p:spPr>
      </p:sp>
      <p:sp>
        <p:nvSpPr>
          <p:cNvPr id="40" name="Shape 38"/>
          <p:cNvSpPr/>
          <p:nvPr/>
        </p:nvSpPr>
        <p:spPr>
          <a:xfrm>
            <a:off x="7094830" y="1607779"/>
            <a:ext cx="153721" cy="1715559"/>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90274"/>
            <a:ext cx="153721" cy="1733065"/>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750570"/>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750570"/>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750570"/>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750570"/>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750570"/>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$224,801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$-80,500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-$212,252 at month 10, against a $1,105,800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$598,036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-$146,803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$432,473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(4,925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-$27,088</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-$16,555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and compliance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-$207,673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$224,801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38%</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$1.24M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$430,586</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$311,381</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$103,708</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2.23x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$2.70M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$598,036</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$432,473</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$224,801</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4.83x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$4.15M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$765,486</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$553,566</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$345,893</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7.43x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$1.5M private against a $3.25M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$4.75M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$1,500,000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32%</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$3,250,000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4,925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4.83x.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$4.75M goes.</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$212,252 at month 10, not to a round number.</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(4,925 SF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$1,231,250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$165,950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GE iDXA bone densitometer,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$430,000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$1,105,800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$4,750,000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$1,500,000  (32%)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$3,250,000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$25,729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$46,560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$1,105,800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840480" cy="914400"/>
        </p:xfrm>
        <a:graphic>
          <a:graphicData uri="http://schemas.openxmlformats.org/drawingml/2006/table">
            <a:tbl>
              <a:tblPr/>
              <a:tblGrid>
                <a:gridCol w="731520"/>
                <a:gridCol w="1188720"/>
                <a:gridCol w="114300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-$473,662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$231,564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-2.05x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$1,897,430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$433,734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4.37x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$2,625,676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$558,720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4.70x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$2,697,611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$558,714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4.83x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4.83x at 9.5%   ·   4.65x at 10.5%   ·   4.49x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$1,105,800 reserve inside use of funds is sized against a modeled cash trough of $212,252 at month 10.</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4.37x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4.83x at 9.5%, 4.65x at 10.5%, 4.49x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Therapeutic medications,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43200"/>
                <a:gridCol w="5394960"/>
              </a:tblGrid>
              <a:tr h="36576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Risk</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Mitigation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fills slower than modeled.</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 redeem more than their fees cover.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key clinical seat turns over during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asset is the facility, not any one clinician. The club layer, recovery floor and infusion suite run on materially less scarce staffing than the injectable and prescribing lines, so a temporary gap narrows the offering without closing the building. A licensed, equipped facility can credential a replacement. Clinical compensation carries retention terms through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Rates move against us before close.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national brand opens nearby.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defensible asset is the licensed facility, not the sauna. Adding injectables, infusions and physician oversight is not a product decision for a recovery studio: it means becoming a licensed medical facility, with the staffing, supervision, malpractice and accreditation that implies.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Wet-area construction overruns.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60120"/>
          </a:xfrm>
          <a:prstGeom prst="rect">
            <a:avLst/>
          </a:prstGeom>
          <a:noFill/>
          <a:ln/>
        </p:spPr>
        <p:txBody>
          <a:bodyPr wrap="square" rtlCol="0" anchor="t"/>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Few rooms are licensed to treat you in one.</a:t>
            </a:r>
            <a:endParaRPr lang="en-US" sz="2400" dirty="0"/>
          </a:p>
        </p:txBody>
      </p:sp>
      <p:sp>
        <p:nvSpPr>
          <p:cNvPr id="5" name="Text 3"/>
          <p:cNvSpPr/>
          <p:nvPr/>
        </p:nvSpPr>
        <p:spPr>
          <a:xfrm>
            <a:off x="502920" y="274320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Ample · $1.5M private case  ·  $4.75M project  ·  4,925 SF  ·  4.83x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every overhead line broken into its components, every capital line into what it buys, and the staffing plan named role by role.</a:t>
            </a:r>
            <a:endParaRPr lang="en-US" sz="1200" dirty="0"/>
          </a:p>
        </p:txBody>
      </p:sp>
      <p:sp>
        <p:nvSpPr>
          <p:cNvPr id="7" name="Text 5"/>
          <p:cNvSpPr/>
          <p:nvPr/>
        </p:nvSpPr>
        <p:spPr>
          <a:xfrm>
            <a:off x="502920" y="3291840"/>
            <a:ext cx="6673291" cy="868680"/>
          </a:xfrm>
          <a:prstGeom prst="rect">
            <a:avLst/>
          </a:prstGeom>
          <a:noFill/>
          <a:ln/>
        </p:spPr>
        <p:txBody>
          <a:bodyPr wrap="square" rtlCol="0" anchor="t"/>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come from the same model that produces the rest of the deck, and each build-up is checked at build time to sum to the total it explains. Every figure resting on judgment rather than a quote is named in the provenance pages. The full written methodology, with sources, ships alongside this deck as ASSUMPTIONS.md and as methodology.html on the site.</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$207,673 a month. Rent is 4,925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 (1 unit)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(1 unit)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Second red light bed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1375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Other leased equipment</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equipment financed (~$190,000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4180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$16,555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$85,920/month.</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named roster of nine posts priced off hourly rates at 160 hours a month, carried as fully loaded. Coverage against a 14-hour, 7-day week has not yet been tested.</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Officers (2 @ $150,000/yr)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 $85/hr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$13,600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 $100/hr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 (IV, regenerative, recovery): $55/hr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$8,800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LVN: $30/hr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 / technician: $25/hr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Administrator: $45/hr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$7,200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 $22/hr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umbrella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AND COMPLIANCE</a:t>
            </a:r>
            <a:endParaRPr lang="en-US" sz="75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 (bi-annual, amortised)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$165,563 a month against $598,036 of revenue, a blended 72.3% margin.</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60–72%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Draw kits, separation tubes and centrifuge consumables, needles and sharps, topical anaesthetic. Cost per case is close to fixed, so the margin spread across the six lines is a pricing decision rather than a cost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56–78%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IV bags and tubing, vitamins, glutathione and NAD+ compound, pharmacy cost on prescribed therapeutics. The widest band in the book: NAD+ carries the compound cost and the hydration drips carry almost none.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RF microneedling tips, laser consumables, topicals. Filler is the thinnest because product cost dominates a single syringe.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65–77%</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 DEXA sits at the top because the scanner is owned and the marginal cost of a scan is small.</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(towels, laundry, water and amenities) are carried separately at $8 a visit across 2,345 monthly visits, or $18,760.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 ($159,500 list),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(1 unit),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(4,925 SF @ $250/SF)</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$1,231,250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waterproofing failures and ventilation rework are the classic overrun.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 Excludes bone densitometry, which is itemised on its own line below.</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 is financed, so the capital cost is the deposit alone.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GE iDXA bone densitometer,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GE Lunar iDXA bone densitometer, bought outright rather than leased, plus the 125 SF room it occupies.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$430,000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$237,000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and debt service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$1,105,800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$4,750,000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(1 of 3).</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Each figure below is an estimate, an inherited assumption or a single vendor quote.</a:t>
            </a:r>
            <a:endParaRPr lang="en-US" sz="1150" dirty="0"/>
          </a:p>
        </p:txBody>
      </p:sp>
      <p:sp>
        <p:nvSpPr>
          <p:cNvPr id="5" name="Text 3"/>
          <p:cNvSpPr/>
          <p:nvPr/>
        </p:nvSpPr>
        <p:spPr>
          <a:xfrm>
            <a:off x="502920" y="157276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RENT (4,925 SF NNN)</a:t>
            </a:r>
            <a:endParaRPr lang="en-US" sz="800" dirty="0"/>
          </a:p>
        </p:txBody>
      </p:sp>
      <p:sp>
        <p:nvSpPr>
          <p:cNvPr id="6" name="Text 4"/>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7" name="Text 5"/>
          <p:cNvSpPr/>
          <p:nvPr/>
        </p:nvSpPr>
        <p:spPr>
          <a:xfrm>
            <a:off x="502920" y="211592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EQUIPMENT LEASES</a:t>
            </a:r>
            <a:endParaRPr lang="en-US" sz="800" dirty="0"/>
          </a:p>
        </p:txBody>
      </p:sp>
      <p:sp>
        <p:nvSpPr>
          <p:cNvPr id="8" name="Text 6"/>
          <p:cNvSpPr/>
          <p:nvPr/>
        </p:nvSpPr>
        <p:spPr>
          <a:xfrm>
            <a:off x="502920" y="2280514"/>
            <a:ext cx="8138160" cy="482803"/>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00" dirty="0"/>
          </a:p>
        </p:txBody>
      </p:sp>
      <p:sp>
        <p:nvSpPr>
          <p:cNvPr id="9" name="Text 7"/>
          <p:cNvSpPr/>
          <p:nvPr/>
        </p:nvSpPr>
        <p:spPr>
          <a:xfrm>
            <a:off x="502920" y="2900477"/>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ADMIN AND MANAGEMENT</a:t>
            </a:r>
            <a:endParaRPr lang="en-US" sz="800" dirty="0"/>
          </a:p>
        </p:txBody>
      </p:sp>
      <p:sp>
        <p:nvSpPr>
          <p:cNvPr id="10" name="Text 8"/>
          <p:cNvSpPr/>
          <p:nvPr/>
        </p:nvSpPr>
        <p:spPr>
          <a:xfrm>
            <a:off x="502920" y="3065069"/>
            <a:ext cx="8138160" cy="120701"/>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Merchant processing is the largest component and scales with card revenue at roughly 2.6%. Everything else is a fixed vendor cost.</a:t>
            </a:r>
            <a:endParaRPr lang="en-US" sz="800" dirty="0"/>
          </a:p>
        </p:txBody>
      </p:sp>
      <p:sp>
        <p:nvSpPr>
          <p:cNvPr id="11" name="Text 9"/>
          <p:cNvSpPr/>
          <p:nvPr/>
        </p:nvSpPr>
        <p:spPr>
          <a:xfrm>
            <a:off x="502920" y="3322930"/>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800" dirty="0"/>
          </a:p>
        </p:txBody>
      </p:sp>
      <p:sp>
        <p:nvSpPr>
          <p:cNvPr id="12" name="Text 10"/>
          <p:cNvSpPr/>
          <p:nvPr/>
        </p:nvSpPr>
        <p:spPr>
          <a:xfrm>
            <a:off x="502920" y="3487522"/>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3" name="Text 11"/>
          <p:cNvSpPr/>
          <p:nvPr/>
        </p:nvSpPr>
        <p:spPr>
          <a:xfrm>
            <a:off x="502920" y="386608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MALPRACTICE AND LIABILITY</a:t>
            </a:r>
            <a:endParaRPr lang="en-US" sz="800" dirty="0"/>
          </a:p>
        </p:txBody>
      </p:sp>
      <p:sp>
        <p:nvSpPr>
          <p:cNvPr id="14" name="Text 12"/>
          <p:cNvSpPr/>
          <p:nvPr/>
        </p:nvSpPr>
        <p:spPr>
          <a:xfrm>
            <a:off x="502920" y="4030675"/>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(2 of 3).</a:t>
            </a:r>
            <a:endParaRPr lang="en-US" sz="2600" dirty="0"/>
          </a:p>
        </p:txBody>
      </p:sp>
      <p:sp>
        <p:nvSpPr>
          <p:cNvPr id="4" name="Text 2"/>
          <p:cNvSpPr/>
          <p:nvPr/>
        </p:nvSpPr>
        <p:spPr>
          <a:xfrm>
            <a:off x="502920" y="129844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800" dirty="0"/>
          </a:p>
        </p:txBody>
      </p:sp>
      <p:sp>
        <p:nvSpPr>
          <p:cNvPr id="5" name="Text 3"/>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Wet areas dominate the utility line: saunas, plunges and their dehumidification run continuously and are materially more energy intensive than a dry medspa of the same footprint.</a:t>
            </a:r>
            <a:endParaRPr lang="en-US" sz="800" dirty="0"/>
          </a:p>
        </p:txBody>
      </p:sp>
      <p:sp>
        <p:nvSpPr>
          <p:cNvPr id="6" name="Text 4"/>
          <p:cNvSpPr/>
          <p:nvPr/>
        </p:nvSpPr>
        <p:spPr>
          <a:xfrm>
            <a:off x="502920" y="184160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LICENSING AND COMPLIANCE</a:t>
            </a:r>
            <a:endParaRPr lang="en-US" sz="800" dirty="0"/>
          </a:p>
        </p:txBody>
      </p:sp>
      <p:sp>
        <p:nvSpPr>
          <p:cNvPr id="7" name="Text 5"/>
          <p:cNvSpPr/>
          <p:nvPr/>
        </p:nvSpPr>
        <p:spPr>
          <a:xfrm>
            <a:off x="502920" y="2006194"/>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Routine regulatory carrying cost. The surgical case adds accreditation maintenance and a standing quality and performance improvement programme, both of which the accrediting body requires between surveys.</a:t>
            </a:r>
            <a:endParaRPr lang="en-US" sz="800" dirty="0"/>
          </a:p>
        </p:txBody>
      </p:sp>
      <p:sp>
        <p:nvSpPr>
          <p:cNvPr id="8" name="Text 6"/>
          <p:cNvSpPr/>
          <p:nvPr/>
        </p:nvSpPr>
        <p:spPr>
          <a:xfrm>
            <a:off x="502920" y="2384755"/>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BUILDOUT AND TENANT IMPROVEMENTS (4,925 SF @ $250/SF)</a:t>
            </a:r>
            <a:endParaRPr lang="en-US" sz="800" dirty="0"/>
          </a:p>
        </p:txBody>
      </p:sp>
      <p:sp>
        <p:nvSpPr>
          <p:cNvPr id="9" name="Text 7"/>
          <p:cNvSpPr/>
          <p:nvPr/>
        </p:nvSpPr>
        <p:spPr>
          <a:xfrm>
            <a:off x="502920" y="2549347"/>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0" name="Text 8"/>
          <p:cNvSpPr/>
          <p:nvPr/>
        </p:nvSpPr>
        <p:spPr>
          <a:xfrm>
            <a:off x="502920" y="2927909"/>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MEDICAL AND AESTHETIC EQUIPMENT (PURCHASED)</a:t>
            </a:r>
            <a:endParaRPr lang="en-US" sz="800" dirty="0"/>
          </a:p>
        </p:txBody>
      </p:sp>
      <p:sp>
        <p:nvSpPr>
          <p:cNvPr id="11" name="Text 9"/>
          <p:cNvSpPr/>
          <p:nvPr/>
        </p:nvSpPr>
        <p:spPr>
          <a:xfrm>
            <a:off x="502920" y="3092501"/>
            <a:ext cx="8138160" cy="3621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12" name="Text 10"/>
          <p:cNvSpPr/>
          <p:nvPr/>
        </p:nvSpPr>
        <p:spPr>
          <a:xfrm>
            <a:off x="502920" y="359176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RECOVERY TECHNOLOGY: HBOT PURCHASED, AMMORTAL DEPOSIT</a:t>
            </a:r>
            <a:endParaRPr lang="en-US" sz="800" dirty="0"/>
          </a:p>
        </p:txBody>
      </p:sp>
      <p:sp>
        <p:nvSpPr>
          <p:cNvPr id="13" name="Text 11"/>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37</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(3 of 3).</a:t>
            </a:r>
            <a:endParaRPr lang="en-US" sz="2600" dirty="0"/>
          </a:p>
        </p:txBody>
      </p:sp>
      <p:sp>
        <p:nvSpPr>
          <p:cNvPr id="4" name="Text 2"/>
          <p:cNvSpPr/>
          <p:nvPr/>
        </p:nvSpPr>
        <p:spPr>
          <a:xfrm>
            <a:off x="502920" y="129844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GE IDXA BONE DENSITOMETER, PURCHASED</a:t>
            </a:r>
            <a:endParaRPr lang="en-US" sz="800" dirty="0"/>
          </a:p>
        </p:txBody>
      </p:sp>
      <p:sp>
        <p:nvSpPr>
          <p:cNvPr id="5" name="Text 3"/>
          <p:cNvSpPr/>
          <p:nvPr/>
        </p:nvSpPr>
        <p:spPr>
          <a:xfrm>
            <a:off x="502920" y="1463040"/>
            <a:ext cx="8138160" cy="482803"/>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6" name="Text 4"/>
          <p:cNvSpPr/>
          <p:nvPr/>
        </p:nvSpPr>
        <p:spPr>
          <a:xfrm>
            <a:off x="502920" y="208300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FF&amp;E, LOUNGE, MILLWORK, RETAIL</a:t>
            </a:r>
            <a:endParaRPr lang="en-US" sz="800" dirty="0"/>
          </a:p>
        </p:txBody>
      </p:sp>
      <p:sp>
        <p:nvSpPr>
          <p:cNvPr id="7" name="Text 5"/>
          <p:cNvSpPr/>
          <p:nvPr/>
        </p:nvSpPr>
        <p:spPr>
          <a:xfrm>
            <a:off x="502920" y="2247595"/>
            <a:ext cx="8138160" cy="120701"/>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Hospitality-grade rather than clinical-grade, because the lounge is the product. Per square foot this is the line most exposed to taste and specification drift.</a:t>
            </a:r>
            <a:endParaRPr lang="en-US" sz="800" dirty="0"/>
          </a:p>
        </p:txBody>
      </p:sp>
      <p:sp>
        <p:nvSpPr>
          <p:cNvPr id="8" name="Text 6"/>
          <p:cNvSpPr/>
          <p:nvPr/>
        </p:nvSpPr>
        <p:spPr>
          <a:xfrm>
            <a:off x="502920" y="2505456"/>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PRE-OPENING: LICENSING, LEGAL, INSURANCE, HIRING</a:t>
            </a:r>
            <a:endParaRPr lang="en-US" sz="800" dirty="0"/>
          </a:p>
        </p:txBody>
      </p:sp>
      <p:sp>
        <p:nvSpPr>
          <p:cNvPr id="9" name="Text 7"/>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surgical case additionally carries the written transfer agreement with a nearby acute-care facility, which the accrediting body expects. It is priced inside this line rather than broken out.</a:t>
            </a:r>
            <a:endParaRPr lang="en-US" sz="800" dirty="0"/>
          </a:p>
        </p:txBody>
      </p:sp>
      <p:sp>
        <p:nvSpPr>
          <p:cNvPr id="10" name="Text 8"/>
          <p:cNvSpPr/>
          <p:nvPr/>
        </p:nvSpPr>
        <p:spPr>
          <a:xfrm>
            <a:off x="502920" y="3048610"/>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BRAND, LAUNCH, FOUNDING MEMBER CAMPAIGN</a:t>
            </a:r>
            <a:endParaRPr lang="en-US" sz="800" dirty="0"/>
          </a:p>
        </p:txBody>
      </p:sp>
      <p:sp>
        <p:nvSpPr>
          <p:cNvPr id="11" name="Text 9"/>
          <p:cNvSpPr/>
          <p:nvPr/>
        </p:nvSpPr>
        <p:spPr>
          <a:xfrm>
            <a:off x="502920" y="3213202"/>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Sized against the founding member target: the campaign has to convert enough pre-opening memberships to matter, and those proceeds are modelled as offsetting construction-period burn.</a:t>
            </a:r>
            <a:endParaRPr lang="en-US" sz="800" dirty="0"/>
          </a:p>
        </p:txBody>
      </p:sp>
      <p:sp>
        <p:nvSpPr>
          <p:cNvPr id="12" name="Text 10"/>
          <p:cNvSpPr/>
          <p:nvPr/>
        </p:nvSpPr>
        <p:spPr>
          <a:xfrm>
            <a:off x="502920" y="359176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WORKING CAPITAL AND DEBT SERVICE RESERVE</a:t>
            </a:r>
            <a:endParaRPr lang="en-US" sz="800" dirty="0"/>
          </a:p>
        </p:txBody>
      </p:sp>
      <p:sp>
        <p:nvSpPr>
          <p:cNvPr id="13" name="Text 11"/>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38</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$27,088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$224,801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$2,697,611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4.83x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$29,550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$222,338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$2,668,061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$32,013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$219,876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$2,638,511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4.72x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$34,475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$217,413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$2,608,961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4.67x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Coverage against the 1.25x underwriting convention.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39</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Investor and SBA Brief</dc:subject>
  <dc:creator>LK Wellness</dc:creator>
  <cp:lastModifiedBy>LK Wellness</cp:lastModifiedBy>
  <cp:revision>1</cp:revision>
  <dcterms:created xsi:type="dcterms:W3CDTF">2026-08-20T02:33:30Z</dcterms:created>
  <dcterms:modified xsi:type="dcterms:W3CDTF">2026-08-20T02:33:30Z</dcterms:modified>
</cp:coreProperties>
</file>
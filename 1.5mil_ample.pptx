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5,800 SF   ·   Est. 2026   ·   Ample · $1.5M private case, $5.0M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Facilities on the Westside combining licensed medical care with a genuine social club.</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Two proven models. Neither one is complete.</a:t>
            </a:r>
            <a:endParaRPr lang="en-US" sz="2600" dirty="0"/>
          </a:p>
        </p:txBody>
      </p:sp>
      <p:sp>
        <p:nvSpPr>
          <p:cNvPr id="4" name="Shape 2"/>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5" name="Text 3"/>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6" name="Text 4"/>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Open booking works. Anyone can book a remedy; members get credits, member pricing and guest passes. What they lack is a real ladder of affiliation.</a:t>
            </a:r>
            <a:endParaRPr lang="en-US" sz="900" dirty="0"/>
          </a:p>
        </p:txBody>
      </p:sp>
      <p:sp>
        <p:nvSpPr>
          <p:cNvPr id="7" name="Shape 5"/>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8" name="Text 6"/>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9" name="Text 7"/>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The ladder works. Soho Friends is a published annual tier buying discounts and event invitations but no club access. What they lack is medicine.</a:t>
            </a:r>
            <a:endParaRPr lang="en-US" sz="900" dirty="0"/>
          </a:p>
        </p:txBody>
      </p:sp>
      <p:sp>
        <p:nvSpPr>
          <p:cNvPr id="10" name="Shape 8"/>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1" name="Text 9"/>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GAP</a:t>
            </a:r>
            <a:endParaRPr lang="en-US" sz="850" dirty="0"/>
          </a:p>
        </p:txBody>
      </p:sp>
      <p:sp>
        <p:nvSpPr>
          <p:cNvPr id="12" name="Text 10"/>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Nobody has put a licensed medical clinic inside a social club and left the medicine open to everyone.</a:t>
            </a:r>
            <a:endParaRPr lang="en-US" sz="1450" dirty="0"/>
          </a:p>
        </p:txBody>
      </p:sp>
      <p:sp>
        <p:nvSpPr>
          <p:cNvPr id="13" name="Text 11"/>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Gating clinical care behind a membership is bad business and a bad look. Gating the room where people actually want to spend time is precisely what a club is. L&amp;K separates the two, and that separation is the entire model.</a:t>
            </a:r>
            <a:endParaRPr lang="en-US" sz="10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463040"/>
          </a:xfrm>
          <a:prstGeom prst="roundRect">
            <a:avLst>
              <a:gd name="adj" fmla="val 3750"/>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310128"/>
            <a:ext cx="7735824"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39312"/>
            <a:ext cx="7735824" cy="731520"/>
          </a:xfrm>
          <a:prstGeom prst="rect">
            <a:avLst/>
          </a:prstGeom>
          <a:noFill/>
          <a:ln/>
        </p:spPr>
        <p:txBody>
          <a:bodyPr wrap="square" rtlCol="0" anchor="ctr"/>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PRP Injections  ·  Compression / NeuFit  ·  Hormone / Peptide / GLP  ·  IV Therapy (NAD+ / Drips)  ·  Botox &amp; Fillers  ·  Laser Platform  ·  Advanced Biometrics  ·  Morpheus8 RF Microneedling  ·  DNA Analysis  ·  Emsculpt  ·  DUTCH Testing  ·  CoolSculpting  ·  DEXA Scan</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rack rate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Hormone and peptide program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5,800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Staff, MEP, storage, circulation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7" name="Text 3"/>
          <p:cNvSpPr/>
          <p:nvPr/>
        </p:nvSpPr>
        <p:spPr>
          <a:xfrm>
            <a:off x="4754880" y="3931920"/>
            <a:ext cx="3520440" cy="7315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Equipment strategy: Purchased where payback justifies it. Wet areas drive cost — plunges, saunas and steam carry a materially higher per-SF buildout than a dry medspa, which is why the lean case trims the contrast suite before it trims treatment rooms.</a:t>
            </a:r>
            <a:endParaRPr lang="en-US" sz="85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building can serve the memberships being sold.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3986784"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4654296" y="2240280"/>
            <a:ext cx="3986784"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4800600"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55%</a:t>
            </a:r>
            <a:endParaRPr lang="en-US" sz="2000" dirty="0"/>
          </a:p>
        </p:txBody>
      </p:sp>
      <p:sp>
        <p:nvSpPr>
          <p:cNvPr id="10" name="Text 8"/>
          <p:cNvSpPr/>
          <p:nvPr/>
        </p:nvSpPr>
        <p:spPr>
          <a:xfrm>
            <a:off x="4800600"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280 procedures against 507 practical capacity, leaving 227 slots of headroom.</a:t>
            </a:r>
            <a:endParaRPr lang="en-US" sz="900" dirty="0"/>
          </a:p>
        </p:txBody>
      </p:sp>
      <p:sp>
        <p:nvSpPr>
          <p:cNvPr id="11" name="Text 9"/>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2"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3"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CATCHMENT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Playa Vista is the right box on the map.</a:t>
            </a:r>
            <a:endParaRPr lang="en-US" sz="2600" dirty="0"/>
          </a:p>
        </p:txBody>
      </p:sp>
      <p:sp>
        <p:nvSpPr>
          <p:cNvPr id="4" name="Shape 2"/>
          <p:cNvSpPr/>
          <p:nvPr/>
        </p:nvSpPr>
        <p:spPr>
          <a:xfrm>
            <a:off x="502920" y="1463040"/>
            <a:ext cx="2602992" cy="1828800"/>
          </a:xfrm>
          <a:prstGeom prst="roundRect">
            <a:avLst>
              <a:gd name="adj" fmla="val 3000"/>
            </a:avLst>
          </a:prstGeom>
          <a:solidFill>
            <a:srgbClr val="16241C"/>
          </a:solidFill>
          <a:ln w="12700">
            <a:solidFill>
              <a:srgbClr val="2E4237"/>
            </a:solidFill>
            <a:prstDash val="solid"/>
          </a:ln>
        </p:spPr>
      </p:sp>
      <p:sp>
        <p:nvSpPr>
          <p:cNvPr id="5" name="Text 3"/>
          <p:cNvSpPr/>
          <p:nvPr/>
        </p:nvSpPr>
        <p:spPr>
          <a:xfrm>
            <a:off x="649224"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6" name="Text 4"/>
          <p:cNvSpPr/>
          <p:nvPr/>
        </p:nvSpPr>
        <p:spPr>
          <a:xfrm>
            <a:off x="649224"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catchment.  (US Census Bureau, via Point2Homes)</a:t>
            </a:r>
            <a:endParaRPr lang="en-US" sz="900" dirty="0"/>
          </a:p>
        </p:txBody>
      </p:sp>
      <p:sp>
        <p:nvSpPr>
          <p:cNvPr id="7" name="Shape 5"/>
          <p:cNvSpPr/>
          <p:nvPr/>
        </p:nvSpPr>
        <p:spPr>
          <a:xfrm>
            <a:off x="3270504" y="1463040"/>
            <a:ext cx="2602992" cy="1828800"/>
          </a:xfrm>
          <a:prstGeom prst="roundRect">
            <a:avLst>
              <a:gd name="adj" fmla="val 3000"/>
            </a:avLst>
          </a:prstGeom>
          <a:solidFill>
            <a:srgbClr val="16241C"/>
          </a:solidFill>
          <a:ln w="12700">
            <a:solidFill>
              <a:srgbClr val="2E4237"/>
            </a:solidFill>
            <a:prstDash val="solid"/>
          </a:ln>
        </p:spPr>
      </p:sp>
      <p:sp>
        <p:nvSpPr>
          <p:cNvPr id="8" name="Text 6"/>
          <p:cNvSpPr/>
          <p:nvPr/>
        </p:nvSpPr>
        <p:spPr>
          <a:xfrm>
            <a:off x="3416808"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9" name="Text 7"/>
          <p:cNvSpPr/>
          <p:nvPr/>
        </p:nvSpPr>
        <p:spPr>
          <a:xfrm>
            <a:off x="3416808"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0" name="Shape 8"/>
          <p:cNvSpPr/>
          <p:nvPr/>
        </p:nvSpPr>
        <p:spPr>
          <a:xfrm>
            <a:off x="6038088" y="1463040"/>
            <a:ext cx="2602992" cy="1828800"/>
          </a:xfrm>
          <a:prstGeom prst="roundRect">
            <a:avLst>
              <a:gd name="adj" fmla="val 3000"/>
            </a:avLst>
          </a:prstGeom>
          <a:solidFill>
            <a:srgbClr val="16241C"/>
          </a:solidFill>
          <a:ln w="12700">
            <a:solidFill>
              <a:srgbClr val="2E4237"/>
            </a:solidFill>
            <a:prstDash val="solid"/>
          </a:ln>
        </p:spPr>
      </p:sp>
      <p:sp>
        <p:nvSpPr>
          <p:cNvPr id="11" name="Text 9"/>
          <p:cNvSpPr/>
          <p:nvPr/>
        </p:nvSpPr>
        <p:spPr>
          <a:xfrm>
            <a:off x="6184392"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2" name="Text 10"/>
          <p:cNvSpPr/>
          <p:nvPr/>
        </p:nvSpPr>
        <p:spPr>
          <a:xfrm>
            <a:off x="6184392"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3" name="Text 11"/>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4" name="Text 12"/>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Seventeen wellness lines, every one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 is the midpoint of a stated band.</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Injections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 NeuFit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Hormone / Peptide / GLP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(NAD+ / Drips)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&amp; Fillers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Morpheus8 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Emsculpt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$29,250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Testing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CoolSculpting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1,055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$419,230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rack rate, so redemption is netted out first.</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rack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$419,230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-$23,178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$266,552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$517,177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13.</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2563127"/>
            <a:ext cx="8138160" cy="10973"/>
          </a:xfrm>
          <a:prstGeom prst="rect">
            <a:avLst/>
          </a:prstGeom>
          <a:solidFill>
            <a:srgbClr val="2E4237"/>
          </a:solidFill>
          <a:ln w="12700">
            <a:solidFill>
              <a:srgbClr val="2E4237"/>
            </a:solidFill>
            <a:prstDash val="solid"/>
          </a:ln>
        </p:spPr>
      </p:sp>
      <p:sp>
        <p:nvSpPr>
          <p:cNvPr id="7" name="Shape 5"/>
          <p:cNvSpPr/>
          <p:nvPr/>
        </p:nvSpPr>
        <p:spPr>
          <a:xfrm>
            <a:off x="539090" y="2563127"/>
            <a:ext cx="153721" cy="977223"/>
          </a:xfrm>
          <a:prstGeom prst="rect">
            <a:avLst/>
          </a:prstGeom>
          <a:solidFill>
            <a:srgbClr val="2E4237"/>
          </a:solidFill>
          <a:ln w="12700">
            <a:solidFill>
              <a:srgbClr val="2E4237"/>
            </a:solidFill>
            <a:prstDash val="solid"/>
          </a:ln>
        </p:spPr>
      </p:sp>
      <p:sp>
        <p:nvSpPr>
          <p:cNvPr id="8" name="Shape 6"/>
          <p:cNvSpPr/>
          <p:nvPr/>
        </p:nvSpPr>
        <p:spPr>
          <a:xfrm>
            <a:off x="765150" y="2563127"/>
            <a:ext cx="153721" cy="977223"/>
          </a:xfrm>
          <a:prstGeom prst="rect">
            <a:avLst/>
          </a:prstGeom>
          <a:solidFill>
            <a:srgbClr val="2E4237"/>
          </a:solidFill>
          <a:ln w="12700">
            <a:solidFill>
              <a:srgbClr val="2E4237"/>
            </a:solidFill>
            <a:prstDash val="solid"/>
          </a:ln>
        </p:spPr>
      </p:sp>
      <p:sp>
        <p:nvSpPr>
          <p:cNvPr id="9" name="Shape 7"/>
          <p:cNvSpPr/>
          <p:nvPr/>
        </p:nvSpPr>
        <p:spPr>
          <a:xfrm>
            <a:off x="991210" y="2563127"/>
            <a:ext cx="153721" cy="977223"/>
          </a:xfrm>
          <a:prstGeom prst="rect">
            <a:avLst/>
          </a:prstGeom>
          <a:solidFill>
            <a:srgbClr val="2E4237"/>
          </a:solidFill>
          <a:ln w="12700">
            <a:solidFill>
              <a:srgbClr val="2E4237"/>
            </a:solidFill>
            <a:prstDash val="solid"/>
          </a:ln>
        </p:spPr>
      </p:sp>
      <p:sp>
        <p:nvSpPr>
          <p:cNvPr id="10" name="Shape 8"/>
          <p:cNvSpPr/>
          <p:nvPr/>
        </p:nvSpPr>
        <p:spPr>
          <a:xfrm>
            <a:off x="1217270" y="2563127"/>
            <a:ext cx="153721" cy="977223"/>
          </a:xfrm>
          <a:prstGeom prst="rect">
            <a:avLst/>
          </a:prstGeom>
          <a:solidFill>
            <a:srgbClr val="2E4237"/>
          </a:solidFill>
          <a:ln w="12700">
            <a:solidFill>
              <a:srgbClr val="2E4237"/>
            </a:solidFill>
            <a:prstDash val="solid"/>
          </a:ln>
        </p:spPr>
      </p:sp>
      <p:sp>
        <p:nvSpPr>
          <p:cNvPr id="11" name="Shape 9"/>
          <p:cNvSpPr/>
          <p:nvPr/>
        </p:nvSpPr>
        <p:spPr>
          <a:xfrm>
            <a:off x="1443330" y="2563127"/>
            <a:ext cx="153721" cy="977223"/>
          </a:xfrm>
          <a:prstGeom prst="rect">
            <a:avLst/>
          </a:prstGeom>
          <a:solidFill>
            <a:srgbClr val="2E4237"/>
          </a:solidFill>
          <a:ln w="12700">
            <a:solidFill>
              <a:srgbClr val="2E4237"/>
            </a:solidFill>
            <a:prstDash val="solid"/>
          </a:ln>
        </p:spPr>
      </p:sp>
      <p:sp>
        <p:nvSpPr>
          <p:cNvPr id="12" name="Shape 10"/>
          <p:cNvSpPr/>
          <p:nvPr/>
        </p:nvSpPr>
        <p:spPr>
          <a:xfrm>
            <a:off x="1669390" y="2563127"/>
            <a:ext cx="153721" cy="977223"/>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2563127"/>
            <a:ext cx="153721" cy="1387081"/>
          </a:xfrm>
          <a:prstGeom prst="rect">
            <a:avLst/>
          </a:prstGeom>
          <a:solidFill>
            <a:srgbClr val="2E4237"/>
          </a:solidFill>
          <a:ln w="12700">
            <a:solidFill>
              <a:srgbClr val="2E4237"/>
            </a:solidFill>
            <a:prstDash val="solid"/>
          </a:ln>
        </p:spPr>
      </p:sp>
      <p:sp>
        <p:nvSpPr>
          <p:cNvPr id="15" name="Shape 13"/>
          <p:cNvSpPr/>
          <p:nvPr/>
        </p:nvSpPr>
        <p:spPr>
          <a:xfrm>
            <a:off x="2121510" y="2563127"/>
            <a:ext cx="153721" cy="1122313"/>
          </a:xfrm>
          <a:prstGeom prst="rect">
            <a:avLst/>
          </a:prstGeom>
          <a:solidFill>
            <a:srgbClr val="2E4237"/>
          </a:solidFill>
          <a:ln w="12700">
            <a:solidFill>
              <a:srgbClr val="2E4237"/>
            </a:solidFill>
            <a:prstDash val="solid"/>
          </a:ln>
        </p:spPr>
      </p:sp>
      <p:sp>
        <p:nvSpPr>
          <p:cNvPr id="16" name="Shape 14"/>
          <p:cNvSpPr/>
          <p:nvPr/>
        </p:nvSpPr>
        <p:spPr>
          <a:xfrm>
            <a:off x="2347570" y="2563127"/>
            <a:ext cx="153721" cy="819716"/>
          </a:xfrm>
          <a:prstGeom prst="rect">
            <a:avLst/>
          </a:prstGeom>
          <a:solidFill>
            <a:srgbClr val="2E4237"/>
          </a:solidFill>
          <a:ln w="12700">
            <a:solidFill>
              <a:srgbClr val="2E4237"/>
            </a:solidFill>
            <a:prstDash val="solid"/>
          </a:ln>
        </p:spPr>
      </p:sp>
      <p:sp>
        <p:nvSpPr>
          <p:cNvPr id="17" name="Shape 15"/>
          <p:cNvSpPr/>
          <p:nvPr/>
        </p:nvSpPr>
        <p:spPr>
          <a:xfrm>
            <a:off x="2573630" y="2563127"/>
            <a:ext cx="153721" cy="592778"/>
          </a:xfrm>
          <a:prstGeom prst="rect">
            <a:avLst/>
          </a:prstGeom>
          <a:solidFill>
            <a:srgbClr val="2E4237"/>
          </a:solidFill>
          <a:ln w="12700">
            <a:solidFill>
              <a:srgbClr val="2E4237"/>
            </a:solidFill>
            <a:prstDash val="solid"/>
          </a:ln>
        </p:spPr>
      </p:sp>
      <p:sp>
        <p:nvSpPr>
          <p:cNvPr id="18" name="Shape 16"/>
          <p:cNvSpPr/>
          <p:nvPr/>
        </p:nvSpPr>
        <p:spPr>
          <a:xfrm>
            <a:off x="2799690" y="2563127"/>
            <a:ext cx="153721" cy="365831"/>
          </a:xfrm>
          <a:prstGeom prst="rect">
            <a:avLst/>
          </a:prstGeom>
          <a:solidFill>
            <a:srgbClr val="2E4237"/>
          </a:solidFill>
          <a:ln w="12700">
            <a:solidFill>
              <a:srgbClr val="2E4237"/>
            </a:solidFill>
            <a:prstDash val="solid"/>
          </a:ln>
        </p:spPr>
      </p:sp>
      <p:sp>
        <p:nvSpPr>
          <p:cNvPr id="19" name="Shape 17"/>
          <p:cNvSpPr/>
          <p:nvPr/>
        </p:nvSpPr>
        <p:spPr>
          <a:xfrm>
            <a:off x="3025750" y="2563127"/>
            <a:ext cx="153721" cy="138883"/>
          </a:xfrm>
          <a:prstGeom prst="rect">
            <a:avLst/>
          </a:prstGeom>
          <a:solidFill>
            <a:srgbClr val="2E4237"/>
          </a:solidFill>
          <a:ln w="12700">
            <a:solidFill>
              <a:srgbClr val="2E4237"/>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475062"/>
            <a:ext cx="153721" cy="88065"/>
          </a:xfrm>
          <a:prstGeom prst="rect">
            <a:avLst/>
          </a:prstGeom>
          <a:solidFill>
            <a:srgbClr val="C08D7C"/>
          </a:solidFill>
          <a:ln w="12700">
            <a:solidFill>
              <a:srgbClr val="C08D7C"/>
            </a:solidFill>
            <a:prstDash val="solid"/>
          </a:ln>
        </p:spPr>
      </p:sp>
      <p:sp>
        <p:nvSpPr>
          <p:cNvPr id="22" name="Shape 20"/>
          <p:cNvSpPr/>
          <p:nvPr/>
        </p:nvSpPr>
        <p:spPr>
          <a:xfrm>
            <a:off x="3477870" y="2323773"/>
            <a:ext cx="153721" cy="239354"/>
          </a:xfrm>
          <a:prstGeom prst="rect">
            <a:avLst/>
          </a:prstGeom>
          <a:solidFill>
            <a:srgbClr val="C08D7C"/>
          </a:solidFill>
          <a:ln w="12700">
            <a:solidFill>
              <a:srgbClr val="C08D7C"/>
            </a:solidFill>
            <a:prstDash val="solid"/>
          </a:ln>
        </p:spPr>
      </p:sp>
      <p:sp>
        <p:nvSpPr>
          <p:cNvPr id="23" name="Shape 21"/>
          <p:cNvSpPr/>
          <p:nvPr/>
        </p:nvSpPr>
        <p:spPr>
          <a:xfrm>
            <a:off x="3703930" y="2172475"/>
            <a:ext cx="153721" cy="390652"/>
          </a:xfrm>
          <a:prstGeom prst="rect">
            <a:avLst/>
          </a:prstGeom>
          <a:solidFill>
            <a:srgbClr val="C08D7C"/>
          </a:solidFill>
          <a:ln w="12700">
            <a:solidFill>
              <a:srgbClr val="C08D7C"/>
            </a:solidFill>
            <a:prstDash val="solid"/>
          </a:ln>
        </p:spPr>
      </p:sp>
      <p:sp>
        <p:nvSpPr>
          <p:cNvPr id="24" name="Shape 22"/>
          <p:cNvSpPr/>
          <p:nvPr/>
        </p:nvSpPr>
        <p:spPr>
          <a:xfrm>
            <a:off x="3929990" y="2021176"/>
            <a:ext cx="153721" cy="541951"/>
          </a:xfrm>
          <a:prstGeom prst="rect">
            <a:avLst/>
          </a:prstGeom>
          <a:solidFill>
            <a:srgbClr val="C08D7C"/>
          </a:solidFill>
          <a:ln w="12700">
            <a:solidFill>
              <a:srgbClr val="C08D7C"/>
            </a:solidFill>
            <a:prstDash val="solid"/>
          </a:ln>
        </p:spPr>
      </p:sp>
      <p:sp>
        <p:nvSpPr>
          <p:cNvPr id="25" name="Shape 23"/>
          <p:cNvSpPr/>
          <p:nvPr/>
        </p:nvSpPr>
        <p:spPr>
          <a:xfrm>
            <a:off x="4156050" y="1869878"/>
            <a:ext cx="153721" cy="693249"/>
          </a:xfrm>
          <a:prstGeom prst="rect">
            <a:avLst/>
          </a:prstGeom>
          <a:solidFill>
            <a:srgbClr val="C08D7C"/>
          </a:solidFill>
          <a:ln w="12700">
            <a:solidFill>
              <a:srgbClr val="C08D7C"/>
            </a:solidFill>
            <a:prstDash val="solid"/>
          </a:ln>
        </p:spPr>
      </p:sp>
      <p:sp>
        <p:nvSpPr>
          <p:cNvPr id="26" name="Shape 24"/>
          <p:cNvSpPr/>
          <p:nvPr/>
        </p:nvSpPr>
        <p:spPr>
          <a:xfrm>
            <a:off x="4382110" y="1840171"/>
            <a:ext cx="153721" cy="722956"/>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810454"/>
            <a:ext cx="153721" cy="752673"/>
          </a:xfrm>
          <a:prstGeom prst="rect">
            <a:avLst/>
          </a:prstGeom>
          <a:solidFill>
            <a:srgbClr val="C08D7C"/>
          </a:solidFill>
          <a:ln w="12700">
            <a:solidFill>
              <a:srgbClr val="C08D7C"/>
            </a:solidFill>
            <a:prstDash val="solid"/>
          </a:ln>
        </p:spPr>
      </p:sp>
      <p:sp>
        <p:nvSpPr>
          <p:cNvPr id="29" name="Shape 27"/>
          <p:cNvSpPr/>
          <p:nvPr/>
        </p:nvSpPr>
        <p:spPr>
          <a:xfrm>
            <a:off x="4834230" y="1780747"/>
            <a:ext cx="153721" cy="782380"/>
          </a:xfrm>
          <a:prstGeom prst="rect">
            <a:avLst/>
          </a:prstGeom>
          <a:solidFill>
            <a:srgbClr val="C08D7C"/>
          </a:solidFill>
          <a:ln w="12700">
            <a:solidFill>
              <a:srgbClr val="C08D7C"/>
            </a:solidFill>
            <a:prstDash val="solid"/>
          </a:ln>
        </p:spPr>
      </p:sp>
      <p:sp>
        <p:nvSpPr>
          <p:cNvPr id="30" name="Shape 28"/>
          <p:cNvSpPr/>
          <p:nvPr/>
        </p:nvSpPr>
        <p:spPr>
          <a:xfrm>
            <a:off x="5060290" y="1751040"/>
            <a:ext cx="153721" cy="812087"/>
          </a:xfrm>
          <a:prstGeom prst="rect">
            <a:avLst/>
          </a:prstGeom>
          <a:solidFill>
            <a:srgbClr val="C08D7C"/>
          </a:solidFill>
          <a:ln w="12700">
            <a:solidFill>
              <a:srgbClr val="C08D7C"/>
            </a:solidFill>
            <a:prstDash val="solid"/>
          </a:ln>
        </p:spPr>
      </p:sp>
      <p:sp>
        <p:nvSpPr>
          <p:cNvPr id="31" name="Shape 29"/>
          <p:cNvSpPr/>
          <p:nvPr/>
        </p:nvSpPr>
        <p:spPr>
          <a:xfrm>
            <a:off x="5286350" y="1721323"/>
            <a:ext cx="153721" cy="841804"/>
          </a:xfrm>
          <a:prstGeom prst="rect">
            <a:avLst/>
          </a:prstGeom>
          <a:solidFill>
            <a:srgbClr val="C08D7C"/>
          </a:solidFill>
          <a:ln w="12700">
            <a:solidFill>
              <a:srgbClr val="C08D7C"/>
            </a:solidFill>
            <a:prstDash val="solid"/>
          </a:ln>
        </p:spPr>
      </p:sp>
      <p:sp>
        <p:nvSpPr>
          <p:cNvPr id="32" name="Shape 30"/>
          <p:cNvSpPr/>
          <p:nvPr/>
        </p:nvSpPr>
        <p:spPr>
          <a:xfrm>
            <a:off x="5512410" y="1701515"/>
            <a:ext cx="153721" cy="861612"/>
          </a:xfrm>
          <a:prstGeom prst="rect">
            <a:avLst/>
          </a:prstGeom>
          <a:solidFill>
            <a:srgbClr val="C08D7C"/>
          </a:solidFill>
          <a:ln w="12700">
            <a:solidFill>
              <a:srgbClr val="C08D7C"/>
            </a:solidFill>
            <a:prstDash val="solid"/>
          </a:ln>
        </p:spPr>
      </p:sp>
      <p:sp>
        <p:nvSpPr>
          <p:cNvPr id="33" name="Shape 31"/>
          <p:cNvSpPr/>
          <p:nvPr/>
        </p:nvSpPr>
        <p:spPr>
          <a:xfrm>
            <a:off x="5738470" y="1681717"/>
            <a:ext cx="153721" cy="881410"/>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661909"/>
            <a:ext cx="153721" cy="901218"/>
          </a:xfrm>
          <a:prstGeom prst="rect">
            <a:avLst/>
          </a:prstGeom>
          <a:solidFill>
            <a:srgbClr val="C08D7C"/>
          </a:solidFill>
          <a:ln w="12700">
            <a:solidFill>
              <a:srgbClr val="C08D7C"/>
            </a:solidFill>
            <a:prstDash val="solid"/>
          </a:ln>
        </p:spPr>
      </p:sp>
      <p:sp>
        <p:nvSpPr>
          <p:cNvPr id="36" name="Shape 34"/>
          <p:cNvSpPr/>
          <p:nvPr/>
        </p:nvSpPr>
        <p:spPr>
          <a:xfrm>
            <a:off x="6190590" y="1642101"/>
            <a:ext cx="153721" cy="921026"/>
          </a:xfrm>
          <a:prstGeom prst="rect">
            <a:avLst/>
          </a:prstGeom>
          <a:solidFill>
            <a:srgbClr val="C08D7C"/>
          </a:solidFill>
          <a:ln w="12700">
            <a:solidFill>
              <a:srgbClr val="C08D7C"/>
            </a:solidFill>
            <a:prstDash val="solid"/>
          </a:ln>
        </p:spPr>
      </p:sp>
      <p:sp>
        <p:nvSpPr>
          <p:cNvPr id="37" name="Shape 35"/>
          <p:cNvSpPr/>
          <p:nvPr/>
        </p:nvSpPr>
        <p:spPr>
          <a:xfrm>
            <a:off x="6416650" y="1632192"/>
            <a:ext cx="153721" cy="930935"/>
          </a:xfrm>
          <a:prstGeom prst="rect">
            <a:avLst/>
          </a:prstGeom>
          <a:solidFill>
            <a:srgbClr val="C08D7C"/>
          </a:solidFill>
          <a:ln w="12700">
            <a:solidFill>
              <a:srgbClr val="C08D7C"/>
            </a:solidFill>
            <a:prstDash val="solid"/>
          </a:ln>
        </p:spPr>
      </p:sp>
      <p:sp>
        <p:nvSpPr>
          <p:cNvPr id="38" name="Shape 36"/>
          <p:cNvSpPr/>
          <p:nvPr/>
        </p:nvSpPr>
        <p:spPr>
          <a:xfrm>
            <a:off x="6642710" y="1612384"/>
            <a:ext cx="153721" cy="950743"/>
          </a:xfrm>
          <a:prstGeom prst="rect">
            <a:avLst/>
          </a:prstGeom>
          <a:solidFill>
            <a:srgbClr val="C08D7C"/>
          </a:solidFill>
          <a:ln w="12700">
            <a:solidFill>
              <a:srgbClr val="C08D7C"/>
            </a:solidFill>
            <a:prstDash val="solid"/>
          </a:ln>
        </p:spPr>
      </p:sp>
      <p:sp>
        <p:nvSpPr>
          <p:cNvPr id="39" name="Shape 37"/>
          <p:cNvSpPr/>
          <p:nvPr/>
        </p:nvSpPr>
        <p:spPr>
          <a:xfrm>
            <a:off x="6868770" y="1602485"/>
            <a:ext cx="153721" cy="960642"/>
          </a:xfrm>
          <a:prstGeom prst="rect">
            <a:avLst/>
          </a:prstGeom>
          <a:solidFill>
            <a:srgbClr val="C08D7C"/>
          </a:solidFill>
          <a:ln w="12700">
            <a:solidFill>
              <a:srgbClr val="C08D7C"/>
            </a:solidFill>
            <a:prstDash val="solid"/>
          </a:ln>
        </p:spPr>
      </p:sp>
      <p:sp>
        <p:nvSpPr>
          <p:cNvPr id="40" name="Shape 38"/>
          <p:cNvSpPr/>
          <p:nvPr/>
        </p:nvSpPr>
        <p:spPr>
          <a:xfrm>
            <a:off x="7094830" y="1592576"/>
            <a:ext cx="153721" cy="970551"/>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82677"/>
            <a:ext cx="153721" cy="980450"/>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990359"/>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990359"/>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990359"/>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990359"/>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990359"/>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$100,346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$-140,543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-$774,223 at month 14, against a $1,146,000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$517,177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-$115,171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$383,246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(5,800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-$31,900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-$135,000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-$28,000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and compliance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-$282,900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$100,346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19%</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we are wrong, 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$-0.08M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$372,367</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$275,937</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$-6,963</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-0.14x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$1.20M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$517,177</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$383,246</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$100,346</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2.00x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$2.49M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$661,986</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$490,554</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$207,654</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4.14x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$1.5M private against a $3.5M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$5.0M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$1,500,000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30%</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$3,500,000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5,800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2.00x.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$5.0M goes.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$774,223 at month 14, not to a round number.</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(5,800 SF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$182,000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$430,000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$237,000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$1,146,000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$5,000,000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$1,500,000  (30%)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$27,708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$50,141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$1,146,000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977640" cy="914400"/>
        </p:xfrm>
        <a:graphic>
          <a:graphicData uri="http://schemas.openxmlformats.org/drawingml/2006/table">
            <a:tbl>
              <a:tblPr/>
              <a:tblGrid>
                <a:gridCol w="777240"/>
                <a:gridCol w="1234440"/>
                <a:gridCol w="118872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-$1,042,606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$249,372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-4.18x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$770,884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$467,094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1.65x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$1,172,038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$601,692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1.95x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$1,204,146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$601,692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2.00x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2.00x at 9.5%   ·   1.93x at 10.5%   ·   1.86x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$1,146,000 reserve inside use of funds is sized against a modeled cash trough of $774,223 at month 14.</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1.65x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2.00x at 9.5%, 1.93x at 10.5%, 1.86x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Hormone, peptide,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43200"/>
                <a:gridCol w="5394960"/>
              </a:tblGrid>
              <a:tr h="36576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Risk</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Mitigation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Membership fills slower than modeled.</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 redeem more than their fees cover.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key clinical seat turns over during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club layer, recovery floor and IV lounge run on materially less scarce staffing than the injectable and physician-led lines, so a temporary gap narrows the offering without closing the building. Clinical compensation carries retention terms through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Rates move against us before close.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national brand opens nearby.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defensible asset is the licensed medical practice, not the sauna. A recovery studio cannot add injectables, hormones and physician oversight without becoming a medical practice.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Wet-area construction overruns.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14400"/>
          </a:xfrm>
          <a:prstGeom prst="rect">
            <a:avLst/>
          </a:prstGeom>
          <a:noFill/>
          <a:ln/>
        </p:spPr>
        <p:txBody>
          <a:bodyPr wrap="square" rtlCol="0" anchor="ctr"/>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Nobody has built the room for it.</a:t>
            </a:r>
            <a:endParaRPr lang="en-US" sz="2400" dirty="0"/>
          </a:p>
        </p:txBody>
      </p:sp>
      <p:sp>
        <p:nvSpPr>
          <p:cNvPr id="5" name="Text 3"/>
          <p:cNvSpPr/>
          <p:nvPr/>
        </p:nvSpPr>
        <p:spPr>
          <a:xfrm>
            <a:off x="502920" y="269748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Ample · $1.5M private case  ·  $5.0M project  ·  5,800 SF  ·  2.00x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Text 1"/>
          <p:cNvSpPr/>
          <p:nvPr/>
        </p:nvSpPr>
        <p:spPr>
          <a:xfrm>
            <a:off x="502920" y="1417320"/>
            <a:ext cx="8138160" cy="219456"/>
          </a:xfrm>
          <a:prstGeom prst="rect">
            <a:avLst/>
          </a:prstGeom>
          <a:noFill/>
          <a:ln/>
        </p:spPr>
        <p:txBody>
          <a:bodyPr wrap="square" rtlCol="0" anchor="ctr"/>
          <a:lstStyle/>
          <a:p>
            <a:pPr indent="0" marL="0">
              <a:buNone/>
            </a:pPr>
            <a:r>
              <a:rPr lang="en-US" sz="900" spc="340" kern="0" dirty="0">
                <a:solidFill>
                  <a:srgbClr val="C08D7C"/>
                </a:solidFill>
                <a:latin typeface="Century Gothic" pitchFamily="34" charset="0"/>
                <a:ea typeface="Century Gothic" pitchFamily="34" charset="-122"/>
                <a:cs typeface="Century Gothic" pitchFamily="34" charset="-120"/>
              </a:rPr>
              <a:t>APPENDIX</a:t>
            </a:r>
            <a:endParaRPr lang="en-US" sz="900" dirty="0"/>
          </a:p>
        </p:txBody>
      </p:sp>
      <p:sp>
        <p:nvSpPr>
          <p:cNvPr id="4" name="Text 2"/>
          <p:cNvSpPr/>
          <p:nvPr/>
        </p:nvSpPr>
        <p:spPr>
          <a:xfrm>
            <a:off x="502920" y="1691640"/>
            <a:ext cx="8138160" cy="548640"/>
          </a:xfrm>
          <a:prstGeom prst="rect">
            <a:avLst/>
          </a:prstGeom>
          <a:noFill/>
          <a:ln/>
        </p:spPr>
        <p:txBody>
          <a:bodyPr wrap="square" rtlCol="0" anchor="ctr"/>
          <a:lstStyle/>
          <a:p>
            <a:pPr indent="0" marL="0">
              <a:buNone/>
            </a:pPr>
            <a:r>
              <a:rPr lang="en-US" sz="3000" dirty="0">
                <a:solidFill>
                  <a:srgbClr val="EDE6DA"/>
                </a:solidFill>
                <a:latin typeface="Century Gothic" pitchFamily="34" charset="0"/>
                <a:ea typeface="Century Gothic" pitchFamily="34" charset="-122"/>
                <a:cs typeface="Century Gothic" pitchFamily="34" charset="-120"/>
              </a:rPr>
              <a:t>How these numbers were built.</a:t>
            </a:r>
            <a:endParaRPr lang="en-US" sz="3000" dirty="0"/>
          </a:p>
        </p:txBody>
      </p:sp>
      <p:sp>
        <p:nvSpPr>
          <p:cNvPr id="5" name="Shape 3"/>
          <p:cNvSpPr/>
          <p:nvPr/>
        </p:nvSpPr>
        <p:spPr>
          <a:xfrm>
            <a:off x="502920" y="2359152"/>
            <a:ext cx="822960" cy="36576"/>
          </a:xfrm>
          <a:prstGeom prst="rect">
            <a:avLst/>
          </a:prstGeom>
          <a:solidFill>
            <a:srgbClr val="C08D7C"/>
          </a:solidFill>
          <a:ln w="12700">
            <a:solidFill>
              <a:srgbClr val="C08D7C"/>
            </a:solidFill>
            <a:prstDash val="solid"/>
          </a:ln>
        </p:spPr>
      </p:sp>
      <p:sp>
        <p:nvSpPr>
          <p:cNvPr id="6" name="Text 4"/>
          <p:cNvSpPr/>
          <p:nvPr/>
        </p:nvSpPr>
        <p:spPr>
          <a:xfrm>
            <a:off x="502920" y="2606040"/>
            <a:ext cx="6673291" cy="640080"/>
          </a:xfrm>
          <a:prstGeom prst="rect">
            <a:avLst/>
          </a:prstGeom>
          <a:noFill/>
          <a:ln/>
        </p:spPr>
        <p:txBody>
          <a:bodyPr wrap="square" rtlCol="0" anchor="ctr"/>
          <a:lstStyle/>
          <a:p>
            <a:pPr indent="0" marL="0">
              <a:lnSpc>
                <a:spcPct val="125000"/>
              </a:lnSpc>
              <a:buNone/>
            </a:pPr>
            <a:r>
              <a:rPr lang="en-US" sz="1200" dirty="0">
                <a:solidFill>
                  <a:srgbClr val="A8A296"/>
                </a:solidFill>
                <a:latin typeface="Calibri" pitchFamily="34" charset="0"/>
                <a:ea typeface="Calibri" pitchFamily="34" charset="-122"/>
                <a:cs typeface="Calibri" pitchFamily="34" charset="-120"/>
              </a:rPr>
              <a:t>Everything in this brief resolves to a stabilized P&amp;L and a use-of-funds table. The slides that follow itemise both — every overhead line broken into its components, every capital line into what it buys, and the staffing plan named role by role.</a:t>
            </a:r>
            <a:endParaRPr lang="en-US" sz="1200" dirty="0"/>
          </a:p>
        </p:txBody>
      </p:sp>
      <p:sp>
        <p:nvSpPr>
          <p:cNvPr id="7" name="Text 5"/>
          <p:cNvSpPr/>
          <p:nvPr/>
        </p:nvSpPr>
        <p:spPr>
          <a:xfrm>
            <a:off x="502920" y="3310128"/>
            <a:ext cx="6673291" cy="731520"/>
          </a:xfrm>
          <a:prstGeom prst="rect">
            <a:avLst/>
          </a:prstGeom>
          <a:noFill/>
          <a:ln/>
        </p:spPr>
        <p:txBody>
          <a:bodyPr wrap="square" rtlCol="0" anchor="ctr"/>
          <a:lstStyle/>
          <a:p>
            <a:pPr indent="0" marL="0">
              <a:lnSpc>
                <a:spcPct val="125000"/>
              </a:lnSpc>
              <a:buNone/>
            </a:pPr>
            <a:r>
              <a:rPr lang="en-US" sz="1050" dirty="0">
                <a:solidFill>
                  <a:srgbClr val="6E6A62"/>
                </a:solidFill>
                <a:latin typeface="Calibri" pitchFamily="34" charset="0"/>
                <a:ea typeface="Calibri" pitchFamily="34" charset="-122"/>
                <a:cs typeface="Calibri" pitchFamily="34" charset="-120"/>
              </a:rPr>
              <a:t>These figures are generated from the same financial model that produces the rest of the deck, so the appendix cannot disagree with the pages in front of it. Each build-up is checked at build time to sum to the total it explains. The final page shows what happens to debt service coverage if the largest assumption — rent — turns out to be wrong.</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Rent, equipment and administration.</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Fixed overhead totals $282,900 a month. Rent is 5,800 SF at $5.50/SF/month NNN.</a:t>
            </a:r>
            <a:endParaRPr lang="en-US" sz="1150" dirty="0"/>
          </a:p>
        </p:txBody>
      </p:sp>
      <p:sp>
        <p:nvSpPr>
          <p:cNvPr id="5" name="Text 3"/>
          <p:cNvSpPr/>
          <p:nvPr/>
        </p:nvSpPr>
        <p:spPr>
          <a:xfrm>
            <a:off x="502920"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EQUIPMENT LEASES</a:t>
            </a:r>
            <a:endParaRPr lang="en-US" sz="7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Ammortal chambers (2 units)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6500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Aescape robotic massage (2 units) subscription</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Balance of clinical equipment financed (~$295,000 @ 2.2%/mo)</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6500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$24,000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4"/>
          <p:cNvSpPr/>
          <p:nvPr/>
        </p:nvSpPr>
        <p:spPr>
          <a:xfrm>
            <a:off x="4672584"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ADMIN AND MANAGEMENT</a:t>
            </a:r>
            <a:endParaRPr lang="en-US" sz="750" dirty="0"/>
          </a:p>
        </p:txBody>
      </p:sp>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4672584"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Bookkeeping and accounting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Legal and compliance retainer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IT and managed services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Business insurance (GL, property, cyber)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Merchant processing and banking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Recruiting, training, miscellaneous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$28,000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9" name="Text 5"/>
          <p:cNvSpPr/>
          <p:nvPr/>
        </p:nvSpPr>
        <p:spPr>
          <a:xfrm>
            <a:off x="502920" y="3886200"/>
            <a:ext cx="8138160" cy="59436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Ammortal is financed as a single facility covering both chambers: $320,000 of equipment, $32,000 down, $6,500 a month. Aescape cannot be purchased — it is $5,500 a month per unit, plus $10 for every completed massage, which is a variable cost and sits in cost of goods on that service line rather than here.</a:t>
            </a:r>
            <a:endParaRPr lang="en-US" sz="8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Clinical and club staff — $135,000/month.</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club runs 14 hours a day, 7 days a week — 98 hours — so one continuously staffed post is 2.45 FTE, not 1. All figures are fully loaded: base plus payroll tax, workers compensation and benefits.</a:t>
            </a:r>
            <a:endParaRPr lang="en-US" sz="11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120640"/>
                <a:gridCol w="1097280"/>
                <a:gridCol w="192024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Role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FTE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 loaded</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Founder &amp; Operator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Director (MD/DO)</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Aesthetics Injector (NP or PA)</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$14,500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Longevity Clinical Lead (NP or PA)</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Registered Nurses — IV, regenerative, recovery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$19,000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assistants / technicians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$16,500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Club General Manager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Front desk / concierge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$11,875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Club hosts / floor attendants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$11,250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Membership &amp; events coordinator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Facilities / housekeeping</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$7,375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$135,000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Marketing and insurance.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7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Paid digital and social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Content, photography, video</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Events and community programming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Agency / fractional marketing lead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Referral and partnership incentives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$30,000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MALPRACTICE AND LIABILITY</a:t>
            </a:r>
            <a:endParaRPr lang="en-US" sz="750" dirty="0"/>
          </a:p>
        </p:txBody>
      </p:sp>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Director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 injector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Longevity clinical lead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Nursing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Entity policy and umbrella</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3840480"/>
            <a:ext cx="8138160" cy="5029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5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Utilities and compliance.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7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Utilities (electric, gas, water)</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 platform and booking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EMR / charting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Phone, internet, security monitoring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Laundry and linen service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Music, AV, miscellaneous systems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LICENSING AND COMPLIANCE</a:t>
            </a:r>
            <a:endParaRPr lang="en-US" sz="750" dirty="0"/>
          </a:p>
        </p:txBody>
      </p:sp>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licenses and DEA</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Business licenses and permits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CLIA waiver / lab</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Compliance and policy management</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Continuing education and training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Biohazard and sharps disposal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COST OF GOODS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the margins pay for.</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Cost of goods runs $133,931 a month against $517,177 of revenue, a blended 74.1% margin.</a:t>
            </a:r>
            <a:endParaRPr lang="en-US" sz="11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822960"/>
                <a:gridCol w="557784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Category</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Margin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What the cost side is</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80–85%</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Consumables, filters and water treatment, linens, device servicing contracts. Almost no per-session variable cost, which is why these margins are the highest in the building.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Regenerative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72–78%</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PRP kits and centrifuge consumables, IV bags, vitamins and NAD+, peptides and pharmacy cost, tubing and sharps.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Neuromodulator and filler units at acquisition cost, laser tips and consumables, RF and cryo applicators, topicals. The lowest wellness margins because product cost dominates.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62–70%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Reference lab send-out fees, DEXA consumables, DNA and DUTCH collection kits, interpretation time.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 facility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78–80%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Disposables, implants, drugs and linens, instrument reprocessing. Clinical staff sits in fixed overhead and the surgeon takes no share of the facility fee, which is why these exceed the treatment-room lines.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 full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73–76%</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As above, plus graft handling and technician time on hair restoration and laser consumables on ablative resurfacing.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069080"/>
            <a:ext cx="8138160" cy="365760"/>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Circuit consumables — towels, laundry, water and amenities — are carried separately at $8 a visit across 2,345 monthly visits, or $18,760.</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itemised capital lines.</a:t>
            </a:r>
            <a:endParaRPr lang="en-US" sz="2600" dirty="0"/>
          </a:p>
        </p:txBody>
      </p:sp>
      <p:sp>
        <p:nvSpPr>
          <p:cNvPr id="4" name="Text 2"/>
          <p:cNvSpPr/>
          <p:nvPr/>
        </p:nvSpPr>
        <p:spPr>
          <a:xfrm>
            <a:off x="502920"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WET AREAS</a:t>
            </a:r>
            <a:endParaRPr lang="en-US" sz="7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Saunas (2), cedar, heaters, controls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Cold plunges (2), chillers, filtration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Steam room and generator</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Waterproofing, drainage, floor slopes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Dedicated ventilation and dehumidification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Tile, benching, finishes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RECOVERY TECHNOLOGY</a:t>
            </a:r>
            <a:endParaRPr lang="en-US" sz="75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4672584"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 chamber, purchased</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chambers (2 units, $160,000 each), 10% finance deposit</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32000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 (2 units), subscription only</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$182,000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a:t>
            </a:r>
            <a:endParaRPr lang="en-US" sz="26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Buildout and tenant improvements (5,800 SF @ $250/SF)</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Square footage × $250/SF for clinic and club space.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 areas: 2 saunas, 2 plunges, steam, drainage…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Itemised below. Wet construction is the highest-variance line in the whole buildout — waterproofing…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and aesthetic equipment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medical and aesthetic package.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technology: HBOT purchased, Ammortal deposit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$182,000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Only the hyperbaric chamber is bought outright. The Ammortal chambers are financed, so the capital cost is…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FF&amp;E, lounge, millwork, retail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$430,000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Furniture, lounge fit-out, millwork and retail fixtures.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Pre-opening: licensing, legal, insurance, hiring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Licensing, legal, insurance binders, recruiting and pre-opening payroll.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Brand, launch, founding member campaign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$237,000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Identity, site, photography, launch campaign and the founding member drive.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Working capital and debt service reserve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$1,146,000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Sized against the modelled cash trough, not set to a round number.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 project cost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$5,000,000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rent is wrong, what happens.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Rent is the largest single assumption in the model and the easiest to check. Everything else is held constant.</a:t>
            </a:r>
            <a:endParaRPr lang="en-US" sz="11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Rent $/SF/month NNN</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 rent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/mo</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Annual</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$5.50  (modelled)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$31,900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$100,346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$1,204,146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$34,800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$97,446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$1,169,346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$94,546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$1,134,546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1.89x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$91,646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$1,099,746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1.83x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361188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Coverage against the 1.25x underwriting convention. The modelled rate is the more aggressive of the figures shown; a broker letter or signed lease would replace this assumption with a fact.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32</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 Investor and SBA Brief</dc:subject>
  <dc:creator>LK Wellness</dc:creator>
  <cp:lastModifiedBy>LK Wellness</cp:lastModifiedBy>
  <cp:revision>1</cp:revision>
  <dcterms:created xsi:type="dcterms:W3CDTF">2026-08-12T10:01:02Z</dcterms:created>
  <dcterms:modified xsi:type="dcterms:W3CDTF">2026-08-12T10:01:02Z</dcterms:modified>
</cp:coreProperties>
</file>